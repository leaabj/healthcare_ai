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4C5C"/>
                </a:solidFill>
                <a:latin typeface="Arial"/>
              </a:defRPr>
            </a:pPr>
            <a:r>
              <a:rPr sz="1400" b="0" i="0" u="none" strike="noStrike">
                <a:solidFill>
                  <a:srgbClr val="0F4C5C"/>
                </a:solidFill>
                <a:latin typeface="Arial"/>
              </a:rPr>
              <a:t>Share of each age group (%)</a:t>
            </a:r>
          </a:p>
        </c:rich>
      </c:tx>
      <c:layout/>
      <c:overlay val="0"/>
    </c:title>
    <c:autoTitleDeleted val="0"/>
    <c:plotArea>
      <c:layout/>
      <c:barChart>
        <c:barDir val="col"/>
        <c:grouping val="clustered"/>
        <c:varyColors val="0"/>
        <c:ser>
          <c:idx val="0"/>
          <c:order val="0"/>
          <c:tx>
            <c:strRef>
              <c:f>Sheet1!$B$1</c:f>
              <c:strCache>
                <c:ptCount val="1"/>
                <c:pt idx="0">
                  <c:v>Put on the call list</c:v>
                </c:pt>
              </c:strCache>
            </c:strRef>
          </c:tx>
          <c:spPr>
            <a:solidFill>
              <a:srgbClr val="D9480F"/>
            </a:solidFill>
            <a:effectLst/>
          </c:spPr>
          <c:invertIfNegative val="0"/>
          <c:dLbls>
            <c:numFmt formatCode="0&quot;%&quot;" sourceLinked="0"/>
            <c:txPr>
              <a:bodyPr/>
              <a:lstStyle/>
              <a:p>
                <a:pPr>
                  <a:defRPr b="0" i="0" strike="noStrike" sz="1200" u="none">
                    <a:solidFill>
                      <a:srgbClr val="1F2933"/>
                    </a:solidFill>
                    <a:latin typeface="Arial"/>
                  </a:defRPr>
                </a:pPr>
              </a:p>
            </c:txPr>
            <c:dLblPos val="outEnd"/>
            <c:showLegendKey val="0"/>
            <c:showVal val="1"/>
            <c:showCatName val="0"/>
            <c:showSerName val="0"/>
            <c:showPercent val="0"/>
            <c:showBubbleSize val="0"/>
            <c:showLeaderLines val="0"/>
          </c:dLbls>
          <c:cat>
            <c:multiLvlStrRef>
              <c:f>Sheet1!$A$2:$A$7</c:f>
              <c:multiLvlStrCache>
                <c:ptCount val="6"/>
                <c:lvl>
                  <c:pt idx="0">
                    <c:v>40–49</c:v>
                  </c:pt>
                  <c:pt idx="1">
                    <c:v>50–59</c:v>
                  </c:pt>
                  <c:pt idx="2">
                    <c:v>60–69</c:v>
                  </c:pt>
                  <c:pt idx="3">
                    <c:v>70–79</c:v>
                  </c:pt>
                  <c:pt idx="4">
                    <c:v>80–89</c:v>
                  </c:pt>
                  <c:pt idx="5">
                    <c:v>90+</c:v>
                  </c:pt>
                </c:lvl>
              </c:multiLvlStrCache>
            </c:multiLvlStrRef>
          </c:cat>
          <c:val>
            <c:numRef>
              <c:f>Sheet1!$B$2:$B$7</c:f>
              <c:numCache>
                <c:formatCode>General</c:formatCode>
                <c:ptCount val="6"/>
                <c:pt idx="0">
                  <c:v>21.8</c:v>
                </c:pt>
                <c:pt idx="1">
                  <c:v>11.7</c:v>
                </c:pt>
                <c:pt idx="2">
                  <c:v>19</c:v>
                </c:pt>
                <c:pt idx="3">
                  <c:v>17.4</c:v>
                </c:pt>
                <c:pt idx="4">
                  <c:v>32.8</c:v>
                </c:pt>
                <c:pt idx="5">
                  <c:v>45.7</c:v>
                </c:pt>
              </c:numCache>
            </c:numRef>
          </c:val>
        </c:ser>
        <c:ser>
          <c:idx val="1"/>
          <c:order val="1"/>
          <c:tx>
            <c:strRef>
              <c:f>Sheet1!$C$1</c:f>
              <c:strCache>
                <c:ptCount val="1"/>
                <c:pt idx="0">
                  <c:v>Actually came back</c:v>
                </c:pt>
              </c:strCache>
            </c:strRef>
          </c:tx>
          <c:spPr>
            <a:solidFill>
              <a:srgbClr val="0F4C5C"/>
            </a:solidFill>
            <a:effectLst/>
          </c:spPr>
          <c:invertIfNegative val="0"/>
          <c:dLbls>
            <c:numFmt formatCode="0&quot;%&quot;" sourceLinked="0"/>
            <c:txPr>
              <a:bodyPr/>
              <a:lstStyle/>
              <a:p>
                <a:pPr>
                  <a:defRPr b="0" i="0" strike="noStrike" sz="1200" u="none">
                    <a:solidFill>
                      <a:srgbClr val="1F2933"/>
                    </a:solidFill>
                    <a:latin typeface="Arial"/>
                  </a:defRPr>
                </a:pPr>
              </a:p>
            </c:txPr>
            <c:dLblPos val="outEnd"/>
            <c:showLegendKey val="0"/>
            <c:showVal val="1"/>
            <c:showCatName val="0"/>
            <c:showSerName val="0"/>
            <c:showPercent val="0"/>
            <c:showBubbleSize val="0"/>
            <c:showLeaderLines val="0"/>
          </c:dLbls>
          <c:cat>
            <c:multiLvlStrRef>
              <c:f>Sheet1!$A$2:$A$7</c:f>
              <c:multiLvlStrCache>
                <c:ptCount val="6"/>
                <c:lvl>
                  <c:pt idx="0">
                    <c:v>40–49</c:v>
                  </c:pt>
                  <c:pt idx="1">
                    <c:v>50–59</c:v>
                  </c:pt>
                  <c:pt idx="2">
                    <c:v>60–69</c:v>
                  </c:pt>
                  <c:pt idx="3">
                    <c:v>70–79</c:v>
                  </c:pt>
                  <c:pt idx="4">
                    <c:v>80–89</c:v>
                  </c:pt>
                  <c:pt idx="5">
                    <c:v>90+</c:v>
                  </c:pt>
                </c:lvl>
              </c:multiLvlStrCache>
            </c:multiLvlStrRef>
          </c:cat>
          <c:val>
            <c:numRef>
              <c:f>Sheet1!$C$2:$C$7</c:f>
              <c:numCache>
                <c:formatCode>General</c:formatCode>
                <c:ptCount val="6"/>
                <c:pt idx="0">
                  <c:v>15.3</c:v>
                </c:pt>
                <c:pt idx="1">
                  <c:v>8.9</c:v>
                </c:pt>
                <c:pt idx="2">
                  <c:v>11.8</c:v>
                </c:pt>
                <c:pt idx="3">
                  <c:v>9.9</c:v>
                </c:pt>
                <c:pt idx="4">
                  <c:v>10.5</c:v>
                </c:pt>
                <c:pt idx="5">
                  <c:v>8.6</c:v>
                </c:pt>
              </c:numCache>
            </c:numRef>
          </c:val>
        </c:ser>
        <c:dLbls>
          <c:numFmt formatCode="0&quot;%&quot;" sourceLinked="0"/>
          <c:txPr>
            <a:bodyPr/>
            <a:lstStyle/>
            <a:p>
              <a:pPr>
                <a:defRPr b="0" i="0" strike="noStrike" sz="1200" u="none">
                  <a:solidFill>
                    <a:srgbClr val="1F2933"/>
                  </a:solidFill>
                  <a:latin typeface="Arial"/>
                </a:defRPr>
              </a:pPr>
            </a:p>
          </c:txPr>
          <c:dLblPos val="outEnd"/>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56636D"/>
                    </a:solidFill>
                    <a:latin typeface="Arial"/>
                  </a:defRPr>
                </a:pPr>
                <a:r>
                  <a:rPr sz="1200" b="0" i="0" u="none" strike="noStrike">
                    <a:solidFill>
                      <a:srgbClr val="56636D"/>
                    </a:solidFill>
                    <a:latin typeface="Arial"/>
                  </a:rPr>
                  <a:t>Age group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max val="5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3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 are a nurse and 1,000 patients with diabetes go home this month. You have time to phone about 200 of them. Who do you call? We built a score to answer that, and then used Microsoft's Responsible AI dashboard to check where it goes wrong and what a hospital should do with it. No background needed: we will explain every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one in ten patients with diabetes is back in hospital within a month. That is bad for them and expensive for the hospital. A short phone call after discharge can catch some of it early: a medicine mix-up, blood sugar out of control, a follow-up appointment that was never booked. But there is time for about 200 calls per 1,000 patients, about 20 minutes each. So the question is: from what is already in the chart on the day they leave, who should be called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tool is a simple statistical score. It reads 17 things already written in the chart at discharge, like age, previous hospital stays, number of diagnoses and the HbA1c blood test, and turns them into a risk between 0 and 100 percent. Everyone above 11.6 percent goes on the call list: roughly the riskiest one in five, which matches the 200 calls. The list is only a suggestion; a nurse still decides. Two words to remember. HbA1c is the diabetes report card: a blood test for average sugar over the last few months. And previous stays means hospital stays in the year before. The grey names are what the dashboard calls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dashboard screen: the confusion matrix. It is just four boxes. Rows: did the patient really come back? Columns: did we put them on the list? [1] Top right: 84 patients were called and did come back. Those are the calls that matter. [2] Below it: 311 were called but were fine, a call for nothing. [3] Top left: 138 came back and were never called. Those are the misses. [4] And 1,466 were correctly left alone. So one call in five reaches someone who comes back, twice as good as picking at random. But six in ten of the people who come back are never called, and on brand-new patients it looked the same. Honest summary: the list tells you who to call first, not who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itself is one web page with six panels. It does not build the score; it interrogates it. Where does the score make mistakes? Does it work equally well for different groups of patients? What does it look at? What would flip a decision? And is something a cause or just a coincidence? One setting mattered: the dashboard assumes a 50 percent cut-off. Almost nobody reaches that here, so it would show an empty call list. We set every panel to our real 11.6 percent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 score look at? Each bar is one item from the chart; the taller the bar, the more the score reacts to it. [1] One bar towers over everything: previous hospital stays. It counts twice as much as the next item. [2] Then come diagnoses, insulin changes and age. [3] Gender and race have small bars, which is good, but small is not zero, so we also checked groups separately. The other small bars hardly matter, so we will not read every name. Remember the first bar: most of what follows comes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error tree hunts for groups of patients where our decisions are often wrong. [1] Start at the top: that circle is everyone. 449 over 1,999 means 449 wrong decisions, either a call for nothing or a miss: 22 percent. [2] From there the tool splits patients with yes-or-no questions it picked by itself, and it asks about previous stays three times in a row. [3] Read the circles by colour and fill: the redder the circle, the more often we are wrong in that group; the fuller it is, the more of all our mistakes sit there. [4] Follow it down to the darkest circle: patients with 2 to 6 previous stays. 178 wrong out of 267: 67 percent, three times the average, and 40 percent of all our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are we wrong there? The model overview table compares groups of patients, one per row, and three columns matter. [1] Selection rate: how many of the group we call. [2] False positive rate: of those who were fine, how many we called anyway. [3] False negative rate: of those who came back, how many we missed. Now look at the orange row. Patients with 2 to 6 previous stays get a call 86 percent of the time, against 20 percent overall, and three out of four of those calls are for nothing. The score cannot tell which regulars will come back; it just thinks: been here before, will be back. So for regulars, a nurse should decide after reading why they were admitted, and the next version of the score should know the reason for admission.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table, now split by age. Careful: the rows are sorted by size, not by age. [1] People aged 80 to 89 are called 33 percent of the time and over-90s 46 percent, while people in their fifties are called 12 percent of the time. [2] Among the 80 to 89 year-olds who were fine, one in three got a call anyway; in the fifties, one in ten. [3] The misses do not climb with age the way the calls do: at every age we miss between about half and two-thirds of those who come back. So age mainly decides who gets the extra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same thing as a picture. Orange: how many we call. Teal: how many actually came back. From 50 to 79 the bars are close: 16 percent called, 10 percent back. Over 80, the orange bar doubles to 35 percent, but the teal bar stays at 10. So only one call in eight to an over-80 reaches someone who returns. Why? The score adds a little risk for very old age and for every extra diagnosis, and old patients have more diagnoses written down. What we would tell the hospital: keep one rule for everyone, because a special age rule needs an ethics review, but have a clinician look at the over-80 names first. For a frail 88-year-old, an unnecessary call is a burden, not a favour.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the what-if tool. Each dot is a patient. [1] Left to right is risk, and we stretched the scale so that 0.5 is exactly our call line: right of it, you are on the list. [2] Up and down is the number of previous stays. See the staircase? Nobody with three or more previous stays is left of the line, and almost nobody with zero is right of it. [3] Now pick one patient, number 248, who sits right on the line, [4] and press this button. It asks: what is the smallest change to his chart that flips the decision? We only let it change what the ward writes down during the stay, the HbA1c result and the diabetes medicines. Age and history stayed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answer for patient 248. A man in his seventies, never admitted before, insulin lowered during the stay, no HbA1c test. Risk 11.8 percent: just on the list. Same man, one change: the HbA1c test was done and came back above 8. Risk 9.6 percent: off the list. What really happened? He was back in hospital within 30 days. And he is not alone: for 36 percent of patients, changing only these paperwork items moves them across the line. So the list partly measures how things were written down. The message: never change a test or a medicine to move a score, and record these things the same way on every ward. You may wonder why a high sugar result would lower the risk. That is our next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causal panel asks a different question: does doing something change the outcome? We asked about the HbA1c test. [1] Each column compares patients with one test result to similar patients who were never tested; similar means the same age, previous stays, diagnoses and so on. [2] The dot is the best estimate: minus 0.03 means three fewer readmissions per 100 patients. [3] The whiskers show how unsure we are. If they cross the zero line, like the first two columns, we cannot tell the effect apart from nothing. Only one column sits clearly below zero: results above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also lists these numbers in a table; here they are in plain words. Patients whose HbA1c was measured and above 8 came back about three times less per hundred than similar untested patients, and a p-value of 0.004 says that is unlikely to be luck. For normal results and 7 to 8 we cannot tell. Why would worse sugar mean fewer returns? Two stories. Cause: a high result makes doctors fix the diabetes treatment before the patient leaves. Coincidence: wards that bother to test also plan discharges more carefully. This data cannot tell them apart. A striking detail: 83 percent of stays had no HbA1c test at all, and this is also why a recorded high result lowered patient 248's score. For the hospital: keep testing and acting on high results, because it is cheap and good practice, but do not promise fewer readmissions until a proper study checks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causal screen, and it is a warning. The dashboard offers a recommended treatment. [1] Its rule says patients with a previous stay should get an HbA1c above 7. But a test result is not a treatment; you cannot prescribe a lab value. [2] The bars show how readmissions would change if everyone had that result. Readmission is bad, so the long bar to the left is actually the best news. [3] But the tool assumes bigger is better, so the plan it recommends, and calls a gain, would raise readmissions. We checked the library's code to confirm this. The lesson: the tool does not know that readmission is bad, so always check which direction counts as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finding is the most important. Back to the groups table, and look at the orange row: patients never admitted before. [1] Of the first-timers who came back, we missed 97 percent, 107 out of 110, [2] because only 2 percent of first-timers make the list at all. [3] Compare the patients with previous stays: of those who came back, we missed 28 percent. And here is the problem: half of everyone who came back had never been in hospital before, so the score is almost blind to half of the problem. The message: use the list for the known frequent patients, keep normal discharge care for everyone, and never read "not on the list" as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it concrete, meet patient 21: a woman in her sixties with nine diagnoses, four days in hospital, never admitted before. Her score was 7.5 percent, under the line, so no call, and she was back within 30 days. The dashboard can explain one patient at a time: bars above zero pushed her risk up, bars below zero pushed it down. [1] Her nine diagnoses pushed it up, [2] but "no previous stays" pushed it down even harder. Her chart simply did not look risky.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 we tell the hospital? Do: use the list to decide who to call first; have a nurse review the regulars and the over-80s; keep normal discharge care for everyone; and check every month that the list stays around 200 per 1,000 and that at least 15 percent of the people called do come back. Today it is one in five, so dropping below 15 percent is the early warning. Don't: change care to move a score, treat "not on the list" as safe, make age rules without an ethics review, or follow the dashboard's recommended treatment. Next: add the reason for admission, test the score on this year's patients, and run a proper trial, because nothing we did shows that the calls actually prevent readmissions.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sentence: the score is a good memory of who has been here before, but it is not a crystal ball. Use it to put the calls in order, and keep people in charge of the decisions. Thank you.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txBox="1"/>
          <p:nvPr/>
        </p:nvSpPr>
        <p:spPr>
          <a:xfrm>
            <a:off x="822960" y="1234440"/>
            <a:ext cx="10515600" cy="365760"/>
          </a:xfrm>
          <a:prstGeom prst="rect">
            <a:avLst/>
          </a:prstGeom>
          <a:noFill/>
          <a:ln/>
        </p:spPr>
        <p:txBody>
          <a:bodyPr wrap="square" lIns="0" tIns="0" rIns="0" bIns="0" rtlCol="0" anchor="t"/>
          <a:lstStyle/>
          <a:p>
            <a:pPr indent="0" marL="0">
              <a:buNone/>
            </a:pPr>
            <a:r>
              <a:rPr lang="en-US" sz="1400" b="1" spc="100" kern="0" dirty="0">
                <a:solidFill>
                  <a:srgbClr val="BFE3DF"/>
                </a:solidFill>
                <a:latin typeface="Arial" pitchFamily="34" charset="0"/>
                <a:ea typeface="Arial" pitchFamily="34" charset="-122"/>
                <a:cs typeface="Arial" pitchFamily="34" charset="-120"/>
              </a:rPr>
              <a:t>AI FOR HEALTHCARE  ·  RESPONSIBLE AI PART</a:t>
            </a:r>
            <a:endParaRPr lang="en-US" sz="1400" dirty="0"/>
          </a:p>
        </p:txBody>
      </p:sp>
      <p:sp>
        <p:nvSpPr>
          <p:cNvPr id="3" name="Text 1"/>
          <p:cNvSpPr txBox="1"/>
          <p:nvPr/>
        </p:nvSpPr>
        <p:spPr>
          <a:xfrm>
            <a:off x="822960" y="1737360"/>
            <a:ext cx="10515600" cy="155448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Who should the nurse call after discharge?</a:t>
            </a:r>
            <a:endParaRPr lang="en-US" sz="4400" dirty="0"/>
          </a:p>
        </p:txBody>
      </p:sp>
      <p:sp>
        <p:nvSpPr>
          <p:cNvPr id="4" name="Text 2"/>
          <p:cNvSpPr txBox="1"/>
          <p:nvPr/>
        </p:nvSpPr>
        <p:spPr>
          <a:xfrm>
            <a:off x="822960" y="3429000"/>
            <a:ext cx="9601200" cy="914400"/>
          </a:xfrm>
          <a:prstGeom prst="rect">
            <a:avLst/>
          </a:prstGeom>
          <a:noFill/>
          <a:ln/>
        </p:spPr>
        <p:txBody>
          <a:bodyPr wrap="square" lIns="0" tIns="0" rIns="0" bIns="0" rtlCol="0" anchor="t"/>
          <a:lstStyle/>
          <a:p>
            <a:pPr indent="0" marL="0">
              <a:buNone/>
            </a:pPr>
            <a:r>
              <a:rPr lang="en-US" sz="2000" dirty="0">
                <a:solidFill>
                  <a:srgbClr val="E6F2F1"/>
                </a:solidFill>
                <a:latin typeface="Arial" pitchFamily="34" charset="0"/>
                <a:ea typeface="Arial" pitchFamily="34" charset="-122"/>
                <a:cs typeface="Arial" pitchFamily="34" charset="-120"/>
              </a:rPr>
              <a:t>A readmission risk score for patients with diabetes, and what Microsoft's Responsible AI dashboard showed us about it</a:t>
            </a:r>
            <a:endParaRPr lang="en-US" sz="2000" dirty="0"/>
          </a:p>
        </p:txBody>
      </p:sp>
      <p:sp>
        <p:nvSpPr>
          <p:cNvPr id="5" name="Text 3"/>
          <p:cNvSpPr txBox="1"/>
          <p:nvPr/>
        </p:nvSpPr>
        <p:spPr>
          <a:xfrm>
            <a:off x="822960" y="5806440"/>
            <a:ext cx="10058400" cy="365760"/>
          </a:xfrm>
          <a:prstGeom prst="rect">
            <a:avLst/>
          </a:prstGeom>
          <a:noFill/>
          <a:ln/>
        </p:spPr>
        <p:txBody>
          <a:bodyPr wrap="square" lIns="0" tIns="0" rIns="0" bIns="0" rtlCol="0" anchor="t"/>
          <a:lstStyle/>
          <a:p>
            <a:pPr indent="0" marL="0">
              <a:buNone/>
            </a:pPr>
            <a:r>
              <a:rPr lang="en-US" sz="1300" dirty="0">
                <a:solidFill>
                  <a:srgbClr val="BFE3DF"/>
                </a:solidFill>
                <a:latin typeface="Arial" pitchFamily="34" charset="0"/>
                <a:ea typeface="Arial" pitchFamily="34" charset="-122"/>
                <a:cs typeface="Arial" pitchFamily="34" charset="-120"/>
              </a:rPr>
              <a:t>Data: 73,000 hospital stays of patients with diabetes, 130 US hospitals, 1999–2008</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THE PROBLEM</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Too many patients with diabetes come back too soon</a:t>
            </a:r>
            <a:endParaRPr lang="en-US" sz="2700" dirty="0"/>
          </a:p>
        </p:txBody>
      </p:sp>
      <p:sp>
        <p:nvSpPr>
          <p:cNvPr id="4" name="Shape 2"/>
          <p:cNvSpPr/>
          <p:nvPr/>
        </p:nvSpPr>
        <p:spPr>
          <a:xfrm>
            <a:off x="548640" y="1463040"/>
            <a:ext cx="3566160" cy="2514600"/>
          </a:xfrm>
          <a:prstGeom prst="roundRect">
            <a:avLst>
              <a:gd name="adj" fmla="val 3636"/>
            </a:avLst>
          </a:prstGeom>
          <a:solidFill>
            <a:srgbClr val="E6F2F1"/>
          </a:solidFill>
          <a:ln w="12700">
            <a:solidFill>
              <a:srgbClr val="E6F2F1"/>
            </a:solidFill>
            <a:prstDash val="solid"/>
          </a:ln>
        </p:spPr>
      </p:sp>
      <p:sp>
        <p:nvSpPr>
          <p:cNvPr id="5" name="Text 3"/>
          <p:cNvSpPr txBox="1"/>
          <p:nvPr/>
        </p:nvSpPr>
        <p:spPr>
          <a:xfrm>
            <a:off x="822960" y="1645920"/>
            <a:ext cx="3017520" cy="960120"/>
          </a:xfrm>
          <a:prstGeom prst="rect">
            <a:avLst/>
          </a:prstGeom>
          <a:noFill/>
          <a:ln/>
        </p:spPr>
        <p:txBody>
          <a:bodyPr wrap="square" lIns="0" tIns="0" rIns="0" bIns="0" rtlCol="0" anchor="ctr"/>
          <a:lstStyle/>
          <a:p>
            <a:pPr indent="0" marL="0">
              <a:buNone/>
            </a:pPr>
            <a:r>
              <a:rPr lang="en-US" sz="5000" b="1" dirty="0">
                <a:solidFill>
                  <a:srgbClr val="0F4C5C"/>
                </a:solidFill>
                <a:latin typeface="Arial" pitchFamily="34" charset="0"/>
                <a:ea typeface="Arial" pitchFamily="34" charset="-122"/>
                <a:cs typeface="Arial" pitchFamily="34" charset="-120"/>
              </a:rPr>
              <a:t>1 in 10</a:t>
            </a:r>
            <a:endParaRPr lang="en-US" sz="5000" dirty="0"/>
          </a:p>
        </p:txBody>
      </p:sp>
      <p:sp>
        <p:nvSpPr>
          <p:cNvPr id="6" name="Text 4"/>
          <p:cNvSpPr txBox="1"/>
          <p:nvPr/>
        </p:nvSpPr>
        <p:spPr>
          <a:xfrm>
            <a:off x="822960" y="2697480"/>
            <a:ext cx="3017520" cy="1188720"/>
          </a:xfrm>
          <a:prstGeom prst="rect">
            <a:avLst/>
          </a:prstGeom>
          <a:noFill/>
          <a:ln/>
        </p:spPr>
        <p:txBody>
          <a:bodyPr wrap="square" lIns="0" tIns="0" rIns="0" bIns="0" rtlCol="0" anchor="t"/>
          <a:lstStyle/>
          <a:p>
            <a:pPr indent="0" marL="0">
              <a:buNone/>
            </a:pPr>
            <a:r>
              <a:rPr lang="en-US" sz="1550" dirty="0">
                <a:solidFill>
                  <a:srgbClr val="1F2933"/>
                </a:solidFill>
                <a:latin typeface="Arial" pitchFamily="34" charset="0"/>
                <a:ea typeface="Arial" pitchFamily="34" charset="-122"/>
                <a:cs typeface="Arial" pitchFamily="34" charset="-120"/>
              </a:rPr>
              <a:t>patients with diabetes are back in a hospital bed within 30 days of going home</a:t>
            </a:r>
            <a:endParaRPr lang="en-US" sz="1550" dirty="0"/>
          </a:p>
        </p:txBody>
      </p:sp>
      <p:sp>
        <p:nvSpPr>
          <p:cNvPr id="7" name="Shape 5"/>
          <p:cNvSpPr/>
          <p:nvPr/>
        </p:nvSpPr>
        <p:spPr>
          <a:xfrm>
            <a:off x="4297680" y="1463040"/>
            <a:ext cx="3566160" cy="2514600"/>
          </a:xfrm>
          <a:prstGeom prst="roundRect">
            <a:avLst>
              <a:gd name="adj" fmla="val 3636"/>
            </a:avLst>
          </a:prstGeom>
          <a:solidFill>
            <a:srgbClr val="E6F2F1"/>
          </a:solidFill>
          <a:ln w="12700">
            <a:solidFill>
              <a:srgbClr val="E6F2F1"/>
            </a:solidFill>
            <a:prstDash val="solid"/>
          </a:ln>
        </p:spPr>
      </p:sp>
      <p:sp>
        <p:nvSpPr>
          <p:cNvPr id="8" name="Text 6"/>
          <p:cNvSpPr txBox="1"/>
          <p:nvPr/>
        </p:nvSpPr>
        <p:spPr>
          <a:xfrm>
            <a:off x="4572000" y="1645920"/>
            <a:ext cx="3017520" cy="960120"/>
          </a:xfrm>
          <a:prstGeom prst="rect">
            <a:avLst/>
          </a:prstGeom>
          <a:noFill/>
          <a:ln/>
        </p:spPr>
        <p:txBody>
          <a:bodyPr wrap="square" lIns="0" tIns="0" rIns="0" bIns="0" rtlCol="0" anchor="ctr"/>
          <a:lstStyle/>
          <a:p>
            <a:pPr indent="0" marL="0">
              <a:buNone/>
            </a:pPr>
            <a:r>
              <a:rPr lang="en-US" sz="5000" b="1" dirty="0">
                <a:solidFill>
                  <a:srgbClr val="D9480F"/>
                </a:solidFill>
                <a:latin typeface="Arial" pitchFamily="34" charset="0"/>
                <a:ea typeface="Arial" pitchFamily="34" charset="-122"/>
                <a:cs typeface="Arial" pitchFamily="34" charset="-120"/>
              </a:rPr>
              <a:t>~200</a:t>
            </a:r>
            <a:endParaRPr lang="en-US" sz="5000" dirty="0"/>
          </a:p>
        </p:txBody>
      </p:sp>
      <p:sp>
        <p:nvSpPr>
          <p:cNvPr id="9" name="Text 7"/>
          <p:cNvSpPr txBox="1"/>
          <p:nvPr/>
        </p:nvSpPr>
        <p:spPr>
          <a:xfrm>
            <a:off x="4572000" y="2697480"/>
            <a:ext cx="3017520" cy="1188720"/>
          </a:xfrm>
          <a:prstGeom prst="rect">
            <a:avLst/>
          </a:prstGeom>
          <a:noFill/>
          <a:ln/>
        </p:spPr>
        <p:txBody>
          <a:bodyPr wrap="square" lIns="0" tIns="0" rIns="0" bIns="0" rtlCol="0" anchor="t"/>
          <a:lstStyle/>
          <a:p>
            <a:pPr indent="0" marL="0">
              <a:buNone/>
            </a:pPr>
            <a:r>
              <a:rPr lang="en-US" sz="1550" dirty="0">
                <a:solidFill>
                  <a:srgbClr val="1F2933"/>
                </a:solidFill>
                <a:latin typeface="Arial" pitchFamily="34" charset="0"/>
                <a:ea typeface="Arial" pitchFamily="34" charset="-122"/>
                <a:cs typeface="Arial" pitchFamily="34" charset="-120"/>
              </a:rPr>
              <a:t>follow-up calls nurses can realistically make per 1,000 patients sent home (about 20 minutes each)</a:t>
            </a:r>
            <a:endParaRPr lang="en-US" sz="1550" dirty="0"/>
          </a:p>
        </p:txBody>
      </p:sp>
      <p:sp>
        <p:nvSpPr>
          <p:cNvPr id="10" name="Shape 8"/>
          <p:cNvSpPr/>
          <p:nvPr/>
        </p:nvSpPr>
        <p:spPr>
          <a:xfrm>
            <a:off x="8046720" y="1463040"/>
            <a:ext cx="3566160" cy="2514600"/>
          </a:xfrm>
          <a:prstGeom prst="roundRect">
            <a:avLst>
              <a:gd name="adj" fmla="val 3636"/>
            </a:avLst>
          </a:prstGeom>
          <a:solidFill>
            <a:srgbClr val="E6F2F1"/>
          </a:solidFill>
          <a:ln w="12700">
            <a:solidFill>
              <a:srgbClr val="E6F2F1"/>
            </a:solidFill>
            <a:prstDash val="solid"/>
          </a:ln>
        </p:spPr>
      </p:sp>
      <p:sp>
        <p:nvSpPr>
          <p:cNvPr id="11" name="Text 9"/>
          <p:cNvSpPr txBox="1"/>
          <p:nvPr/>
        </p:nvSpPr>
        <p:spPr>
          <a:xfrm>
            <a:off x="8321040" y="1645920"/>
            <a:ext cx="3017520" cy="960120"/>
          </a:xfrm>
          <a:prstGeom prst="rect">
            <a:avLst/>
          </a:prstGeom>
          <a:noFill/>
          <a:ln/>
        </p:spPr>
        <p:txBody>
          <a:bodyPr wrap="square" lIns="0" tIns="0" rIns="0" bIns="0" rtlCol="0" anchor="ctr"/>
          <a:lstStyle/>
          <a:p>
            <a:pPr indent="0" marL="0">
              <a:buNone/>
            </a:pPr>
            <a:r>
              <a:rPr lang="en-US" sz="5000" b="1" dirty="0">
                <a:solidFill>
                  <a:srgbClr val="0F4C5C"/>
                </a:solidFill>
                <a:latin typeface="Arial" pitchFamily="34" charset="0"/>
                <a:ea typeface="Arial" pitchFamily="34" charset="-122"/>
                <a:cs typeface="Arial" pitchFamily="34" charset="-120"/>
              </a:rPr>
              <a:t>73,000</a:t>
            </a:r>
            <a:endParaRPr lang="en-US" sz="5000" dirty="0"/>
          </a:p>
        </p:txBody>
      </p:sp>
      <p:sp>
        <p:nvSpPr>
          <p:cNvPr id="12" name="Text 10"/>
          <p:cNvSpPr txBox="1"/>
          <p:nvPr/>
        </p:nvSpPr>
        <p:spPr>
          <a:xfrm>
            <a:off x="8321040" y="2697480"/>
            <a:ext cx="3017520" cy="1188720"/>
          </a:xfrm>
          <a:prstGeom prst="rect">
            <a:avLst/>
          </a:prstGeom>
          <a:noFill/>
          <a:ln/>
        </p:spPr>
        <p:txBody>
          <a:bodyPr wrap="square" lIns="0" tIns="0" rIns="0" bIns="0" rtlCol="0" anchor="t"/>
          <a:lstStyle/>
          <a:p>
            <a:pPr indent="0" marL="0">
              <a:buNone/>
            </a:pPr>
            <a:r>
              <a:rPr lang="en-US" sz="1550" dirty="0">
                <a:solidFill>
                  <a:srgbClr val="1F2933"/>
                </a:solidFill>
                <a:latin typeface="Arial" pitchFamily="34" charset="0"/>
                <a:ea typeface="Arial" pitchFamily="34" charset="-122"/>
                <a:cs typeface="Arial" pitchFamily="34" charset="-120"/>
              </a:rPr>
              <a:t>hospital stays in our data, from 130 US hospitals</a:t>
            </a:r>
            <a:endParaRPr lang="en-US" sz="1550" dirty="0"/>
          </a:p>
        </p:txBody>
      </p:sp>
      <p:sp>
        <p:nvSpPr>
          <p:cNvPr id="13" name="Text 11"/>
          <p:cNvSpPr txBox="1"/>
          <p:nvPr/>
        </p:nvSpPr>
        <p:spPr>
          <a:xfrm>
            <a:off x="548640" y="4251960"/>
            <a:ext cx="11094415" cy="685800"/>
          </a:xfrm>
          <a:prstGeom prst="rect">
            <a:avLst/>
          </a:prstGeom>
          <a:noFill/>
          <a:ln/>
        </p:spPr>
        <p:txBody>
          <a:bodyPr wrap="square" lIns="0" tIns="0" rIns="0" bIns="0" rtlCol="0" anchor="t"/>
          <a:lstStyle/>
          <a:p>
            <a:pPr indent="0" marL="0">
              <a:buNone/>
            </a:pPr>
            <a:r>
              <a:rPr lang="en-US" sz="1600" b="1" dirty="0">
                <a:solidFill>
                  <a:srgbClr val="1F2933"/>
                </a:solidFill>
                <a:latin typeface="Arial" pitchFamily="34" charset="0"/>
                <a:ea typeface="Arial" pitchFamily="34" charset="-122"/>
                <a:cs typeface="Arial" pitchFamily="34" charset="-120"/>
              </a:rPr>
              <a:t>Why a phone call? </a:t>
            </a:r>
            <a:pPr indent="0" marL="0">
              <a:buNone/>
            </a:pPr>
            <a:r>
              <a:rPr lang="en-US" sz="1600" dirty="0">
                <a:solidFill>
                  <a:srgbClr val="1F2933"/>
                </a:solidFill>
                <a:latin typeface="Arial" pitchFamily="34" charset="0"/>
                <a:ea typeface="Arial" pitchFamily="34" charset="-122"/>
                <a:cs typeface="Arial" pitchFamily="34" charset="-120"/>
              </a:rPr>
              <a:t>A short call after discharge can catch problems early: a medicine mix-up, blood sugar out of control, a follow-up appointment that was never booked.</a:t>
            </a:r>
            <a:endParaRPr lang="en-US" sz="1600" dirty="0"/>
          </a:p>
        </p:txBody>
      </p:sp>
      <p:sp>
        <p:nvSpPr>
          <p:cNvPr id="14" name="Shape 12"/>
          <p:cNvSpPr/>
          <p:nvPr/>
        </p:nvSpPr>
        <p:spPr>
          <a:xfrm>
            <a:off x="548640" y="5120640"/>
            <a:ext cx="11094415" cy="1097280"/>
          </a:xfrm>
          <a:prstGeom prst="roundRect">
            <a:avLst>
              <a:gd name="adj" fmla="val 8333"/>
            </a:avLst>
          </a:prstGeom>
          <a:solidFill>
            <a:srgbClr val="0F4C5C"/>
          </a:solidFill>
          <a:ln w="12700">
            <a:solidFill>
              <a:srgbClr val="0F4C5C"/>
            </a:solidFill>
            <a:prstDash val="solid"/>
          </a:ln>
        </p:spPr>
      </p:sp>
      <p:sp>
        <p:nvSpPr>
          <p:cNvPr id="15" name="Text 13"/>
          <p:cNvSpPr txBox="1"/>
          <p:nvPr/>
        </p:nvSpPr>
        <p:spPr>
          <a:xfrm>
            <a:off x="868680" y="5120640"/>
            <a:ext cx="10454335" cy="1097280"/>
          </a:xfrm>
          <a:prstGeom prst="rect">
            <a:avLst/>
          </a:prstGeom>
          <a:noFill/>
          <a:ln/>
        </p:spPr>
        <p:txBody>
          <a:bodyPr wrap="square" lIns="0" tIns="0" rIns="0" bIns="0" rtlCol="0" anchor="ctr"/>
          <a:lstStyle/>
          <a:p>
            <a:pPr indent="0" marL="0">
              <a:buNone/>
            </a:pPr>
            <a:r>
              <a:rPr lang="en-US" sz="2100" b="1" dirty="0">
                <a:solidFill>
                  <a:srgbClr val="BFE3DF"/>
                </a:solidFill>
                <a:latin typeface="Arial" pitchFamily="34" charset="0"/>
                <a:ea typeface="Arial" pitchFamily="34" charset="-122"/>
                <a:cs typeface="Arial" pitchFamily="34" charset="-120"/>
              </a:rPr>
              <a:t>Our question: </a:t>
            </a:r>
            <a:pPr indent="0" marL="0">
              <a:buNone/>
            </a:pPr>
            <a:r>
              <a:rPr lang="en-US" sz="2100" dirty="0">
                <a:solidFill>
                  <a:srgbClr val="FFFFFF"/>
                </a:solidFill>
                <a:latin typeface="Arial" pitchFamily="34" charset="0"/>
                <a:ea typeface="Arial" pitchFamily="34" charset="-122"/>
                <a:cs typeface="Arial" pitchFamily="34" charset="-120"/>
              </a:rPr>
              <a:t>using only what is already in the chart on the day of discharge, who should the nurses call first?</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OUR TOOL</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A risk score built from the discharge chart</a:t>
            </a:r>
            <a:endParaRPr lang="en-US" sz="2700" dirty="0"/>
          </a:p>
        </p:txBody>
      </p:sp>
      <p:sp>
        <p:nvSpPr>
          <p:cNvPr id="4" name="Shape 2"/>
          <p:cNvSpPr/>
          <p:nvPr/>
        </p:nvSpPr>
        <p:spPr>
          <a:xfrm>
            <a:off x="548640" y="1417320"/>
            <a:ext cx="5760720" cy="1207008"/>
          </a:xfrm>
          <a:prstGeom prst="roundRect">
            <a:avLst>
              <a:gd name="adj" fmla="val 6061"/>
            </a:avLst>
          </a:prstGeom>
          <a:solidFill>
            <a:srgbClr val="F4F6F8"/>
          </a:solidFill>
          <a:ln w="12700">
            <a:solidFill>
              <a:srgbClr val="C9D3DA"/>
            </a:solidFill>
            <a:prstDash val="solid"/>
          </a:ln>
        </p:spPr>
      </p:sp>
      <p:sp>
        <p:nvSpPr>
          <p:cNvPr id="5" name="Text 3"/>
          <p:cNvSpPr txBox="1"/>
          <p:nvPr/>
        </p:nvSpPr>
        <p:spPr>
          <a:xfrm>
            <a:off x="777240" y="1527048"/>
            <a:ext cx="5303520" cy="329184"/>
          </a:xfrm>
          <a:prstGeom prst="rect">
            <a:avLst/>
          </a:prstGeom>
          <a:noFill/>
          <a:ln/>
        </p:spPr>
        <p:txBody>
          <a:bodyPr wrap="square" lIns="0" tIns="0" rIns="0" bIns="0" rtlCol="0" anchor="t"/>
          <a:lstStyle/>
          <a:p>
            <a:pPr indent="0" marL="0">
              <a:buNone/>
            </a:pPr>
            <a:r>
              <a:rPr lang="en-US" sz="1600" b="1" dirty="0">
                <a:solidFill>
                  <a:srgbClr val="0F4C5C"/>
                </a:solidFill>
                <a:latin typeface="Arial" pitchFamily="34" charset="0"/>
                <a:ea typeface="Arial" pitchFamily="34" charset="-122"/>
                <a:cs typeface="Arial" pitchFamily="34" charset="-120"/>
              </a:rPr>
              <a:t>1  Read the chart</a:t>
            </a:r>
            <a:endParaRPr lang="en-US" sz="1600" dirty="0"/>
          </a:p>
        </p:txBody>
      </p:sp>
      <p:sp>
        <p:nvSpPr>
          <p:cNvPr id="6" name="Text 4"/>
          <p:cNvSpPr txBox="1"/>
          <p:nvPr/>
        </p:nvSpPr>
        <p:spPr>
          <a:xfrm>
            <a:off x="777240" y="1874520"/>
            <a:ext cx="5303520" cy="731520"/>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17 items already written down at discharge: age, sex, previous hospital stays, number of diagnoses and medicines, days in hospital, the HbA1c blood test, insulin changes.</a:t>
            </a:r>
            <a:endParaRPr lang="en-US" sz="1350" dirty="0"/>
          </a:p>
        </p:txBody>
      </p:sp>
      <p:sp>
        <p:nvSpPr>
          <p:cNvPr id="7" name="Shape 5"/>
          <p:cNvSpPr/>
          <p:nvPr/>
        </p:nvSpPr>
        <p:spPr>
          <a:xfrm>
            <a:off x="548640" y="2788920"/>
            <a:ext cx="5760720" cy="1207008"/>
          </a:xfrm>
          <a:prstGeom prst="roundRect">
            <a:avLst>
              <a:gd name="adj" fmla="val 6061"/>
            </a:avLst>
          </a:prstGeom>
          <a:solidFill>
            <a:srgbClr val="F4F6F8"/>
          </a:solidFill>
          <a:ln w="12700">
            <a:solidFill>
              <a:srgbClr val="C9D3DA"/>
            </a:solidFill>
            <a:prstDash val="solid"/>
          </a:ln>
        </p:spPr>
      </p:sp>
      <p:sp>
        <p:nvSpPr>
          <p:cNvPr id="8" name="Text 6"/>
          <p:cNvSpPr txBox="1"/>
          <p:nvPr/>
        </p:nvSpPr>
        <p:spPr>
          <a:xfrm>
            <a:off x="777240" y="2898648"/>
            <a:ext cx="5303520" cy="329184"/>
          </a:xfrm>
          <a:prstGeom prst="rect">
            <a:avLst/>
          </a:prstGeom>
          <a:noFill/>
          <a:ln/>
        </p:spPr>
        <p:txBody>
          <a:bodyPr wrap="square" lIns="0" tIns="0" rIns="0" bIns="0" rtlCol="0" anchor="t"/>
          <a:lstStyle/>
          <a:p>
            <a:pPr indent="0" marL="0">
              <a:buNone/>
            </a:pPr>
            <a:r>
              <a:rPr lang="en-US" sz="1600" b="1" dirty="0">
                <a:solidFill>
                  <a:srgbClr val="0F4C5C"/>
                </a:solidFill>
                <a:latin typeface="Arial" pitchFamily="34" charset="0"/>
                <a:ea typeface="Arial" pitchFamily="34" charset="-122"/>
                <a:cs typeface="Arial" pitchFamily="34" charset="-120"/>
              </a:rPr>
              <a:t>2  Give a risk</a:t>
            </a:r>
            <a:endParaRPr lang="en-US" sz="1600" dirty="0"/>
          </a:p>
        </p:txBody>
      </p:sp>
      <p:sp>
        <p:nvSpPr>
          <p:cNvPr id="9" name="Text 7"/>
          <p:cNvSpPr txBox="1"/>
          <p:nvPr/>
        </p:nvSpPr>
        <p:spPr>
          <a:xfrm>
            <a:off x="777240" y="3246120"/>
            <a:ext cx="5303520" cy="731520"/>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A number from 0% to 100%: the chance this patient is back in hospital within 30 days.</a:t>
            </a:r>
            <a:endParaRPr lang="en-US" sz="1350" dirty="0"/>
          </a:p>
        </p:txBody>
      </p:sp>
      <p:sp>
        <p:nvSpPr>
          <p:cNvPr id="10" name="Shape 8"/>
          <p:cNvSpPr/>
          <p:nvPr/>
        </p:nvSpPr>
        <p:spPr>
          <a:xfrm>
            <a:off x="548640" y="4160520"/>
            <a:ext cx="5760720" cy="1207008"/>
          </a:xfrm>
          <a:prstGeom prst="roundRect">
            <a:avLst>
              <a:gd name="adj" fmla="val 6061"/>
            </a:avLst>
          </a:prstGeom>
          <a:solidFill>
            <a:srgbClr val="F4F6F8"/>
          </a:solidFill>
          <a:ln w="12700">
            <a:solidFill>
              <a:srgbClr val="C9D3DA"/>
            </a:solidFill>
            <a:prstDash val="solid"/>
          </a:ln>
        </p:spPr>
      </p:sp>
      <p:sp>
        <p:nvSpPr>
          <p:cNvPr id="11" name="Text 9"/>
          <p:cNvSpPr txBox="1"/>
          <p:nvPr/>
        </p:nvSpPr>
        <p:spPr>
          <a:xfrm>
            <a:off x="777240" y="4270248"/>
            <a:ext cx="5303520" cy="329184"/>
          </a:xfrm>
          <a:prstGeom prst="rect">
            <a:avLst/>
          </a:prstGeom>
          <a:noFill/>
          <a:ln/>
        </p:spPr>
        <p:txBody>
          <a:bodyPr wrap="square" lIns="0" tIns="0" rIns="0" bIns="0" rtlCol="0" anchor="t"/>
          <a:lstStyle/>
          <a:p>
            <a:pPr indent="0" marL="0">
              <a:buNone/>
            </a:pPr>
            <a:r>
              <a:rPr lang="en-US" sz="1600" b="1" dirty="0">
                <a:solidFill>
                  <a:srgbClr val="0F4C5C"/>
                </a:solidFill>
                <a:latin typeface="Arial" pitchFamily="34" charset="0"/>
                <a:ea typeface="Arial" pitchFamily="34" charset="-122"/>
                <a:cs typeface="Arial" pitchFamily="34" charset="-120"/>
              </a:rPr>
              <a:t>3  Make the call list</a:t>
            </a:r>
            <a:endParaRPr lang="en-US" sz="1600" dirty="0"/>
          </a:p>
        </p:txBody>
      </p:sp>
      <p:sp>
        <p:nvSpPr>
          <p:cNvPr id="12" name="Text 10"/>
          <p:cNvSpPr txBox="1"/>
          <p:nvPr/>
        </p:nvSpPr>
        <p:spPr>
          <a:xfrm>
            <a:off x="777240" y="4617720"/>
            <a:ext cx="5303520" cy="731520"/>
          </a:xfrm>
          <a:prstGeom prst="rect">
            <a:avLst/>
          </a:prstGeom>
          <a:noFill/>
          <a:ln/>
        </p:spPr>
        <p:txBody>
          <a:bodyPr wrap="square" lIns="0" tIns="0" rIns="0" bIns="0" rtlCol="0" anchor="t"/>
          <a:lstStyle/>
          <a:p>
            <a:pPr indent="0" marL="0">
              <a:buNone/>
            </a:pPr>
            <a:r>
              <a:rPr lang="en-US" sz="1350" dirty="0">
                <a:solidFill>
                  <a:srgbClr val="1F2933"/>
                </a:solidFill>
                <a:latin typeface="Arial" pitchFamily="34" charset="0"/>
                <a:ea typeface="Arial" pitchFamily="34" charset="-122"/>
                <a:cs typeface="Arial" pitchFamily="34" charset="-120"/>
              </a:rPr>
              <a:t>Everyone above 11.6% goes on the list. That is about the riskiest 1 in 5 patients, which matches the ~200 calls per 1,000.</a:t>
            </a:r>
            <a:endParaRPr lang="en-US" sz="1350" dirty="0"/>
          </a:p>
        </p:txBody>
      </p:sp>
      <p:sp>
        <p:nvSpPr>
          <p:cNvPr id="13" name="Text 11"/>
          <p:cNvSpPr txBox="1"/>
          <p:nvPr/>
        </p:nvSpPr>
        <p:spPr>
          <a:xfrm>
            <a:off x="548640" y="5623560"/>
            <a:ext cx="5760720" cy="640080"/>
          </a:xfrm>
          <a:prstGeom prst="rect">
            <a:avLst/>
          </a:prstGeom>
          <a:noFill/>
          <a:ln/>
        </p:spPr>
        <p:txBody>
          <a:bodyPr wrap="square" lIns="0" tIns="0" rIns="0" bIns="0" rtlCol="0" anchor="t"/>
          <a:lstStyle/>
          <a:p>
            <a:pPr indent="0" marL="0">
              <a:buNone/>
            </a:pPr>
            <a:r>
              <a:rPr lang="en-US" sz="1500" b="1" dirty="0">
                <a:solidFill>
                  <a:srgbClr val="D9480F"/>
                </a:solidFill>
                <a:latin typeface="Arial" pitchFamily="34" charset="0"/>
                <a:ea typeface="Arial" pitchFamily="34" charset="-122"/>
                <a:cs typeface="Arial" pitchFamily="34" charset="-120"/>
              </a:rPr>
              <a:t>The list is only a suggestion. </a:t>
            </a:r>
            <a:pPr indent="0" marL="0">
              <a:buNone/>
            </a:pPr>
            <a:r>
              <a:rPr lang="en-US" sz="1500" dirty="0">
                <a:solidFill>
                  <a:srgbClr val="1F2933"/>
                </a:solidFill>
                <a:latin typeface="Arial" pitchFamily="34" charset="0"/>
                <a:ea typeface="Arial" pitchFamily="34" charset="-122"/>
                <a:cs typeface="Arial" pitchFamily="34" charset="-120"/>
              </a:rPr>
              <a:t>A nurse or doctor still decides who is actually called.</a:t>
            </a:r>
            <a:endParaRPr lang="en-US" sz="1500" dirty="0"/>
          </a:p>
        </p:txBody>
      </p:sp>
      <p:sp>
        <p:nvSpPr>
          <p:cNvPr id="14" name="Shape 12"/>
          <p:cNvSpPr/>
          <p:nvPr/>
        </p:nvSpPr>
        <p:spPr>
          <a:xfrm>
            <a:off x="6583680" y="1417320"/>
            <a:ext cx="5056632" cy="4846320"/>
          </a:xfrm>
          <a:prstGeom prst="roundRect">
            <a:avLst>
              <a:gd name="adj" fmla="val 1509"/>
            </a:avLst>
          </a:prstGeom>
          <a:solidFill>
            <a:srgbClr val="E6F2F1"/>
          </a:solidFill>
          <a:ln w="12700">
            <a:solidFill>
              <a:srgbClr val="E6F2F1"/>
            </a:solidFill>
            <a:prstDash val="solid"/>
          </a:ln>
        </p:spPr>
      </p:sp>
      <p:sp>
        <p:nvSpPr>
          <p:cNvPr id="15" name="Text 13"/>
          <p:cNvSpPr txBox="1"/>
          <p:nvPr/>
        </p:nvSpPr>
        <p:spPr>
          <a:xfrm>
            <a:off x="6812280" y="1554480"/>
            <a:ext cx="4663440" cy="329184"/>
          </a:xfrm>
          <a:prstGeom prst="rect">
            <a:avLst/>
          </a:prstGeom>
          <a:noFill/>
          <a:ln/>
        </p:spPr>
        <p:txBody>
          <a:bodyPr wrap="square" lIns="0" tIns="0" rIns="0" bIns="0" rtlCol="0" anchor="t"/>
          <a:lstStyle/>
          <a:p>
            <a:pPr indent="0" marL="0">
              <a:buNone/>
            </a:pPr>
            <a:r>
              <a:rPr lang="en-US" sz="1600" b="1" dirty="0">
                <a:solidFill>
                  <a:srgbClr val="0F4C5C"/>
                </a:solidFill>
                <a:latin typeface="Arial" pitchFamily="34" charset="0"/>
                <a:ea typeface="Arial" pitchFamily="34" charset="-122"/>
                <a:cs typeface="Arial" pitchFamily="34" charset="-120"/>
              </a:rPr>
              <a:t>Words you will hear today</a:t>
            </a:r>
            <a:endParaRPr lang="en-US" sz="1600" dirty="0"/>
          </a:p>
        </p:txBody>
      </p:sp>
      <p:sp>
        <p:nvSpPr>
          <p:cNvPr id="16" name="Text 14"/>
          <p:cNvSpPr txBox="1"/>
          <p:nvPr/>
        </p:nvSpPr>
        <p:spPr>
          <a:xfrm>
            <a:off x="6812280" y="1874520"/>
            <a:ext cx="4663440" cy="274320"/>
          </a:xfrm>
          <a:prstGeom prst="rect">
            <a:avLst/>
          </a:prstGeom>
          <a:noFill/>
          <a:ln/>
        </p:spPr>
        <p:txBody>
          <a:bodyPr wrap="square" lIns="0" tIns="0" rIns="0" bIns="0" rtlCol="0" anchor="t"/>
          <a:lstStyle/>
          <a:p>
            <a:pPr indent="0" marL="0">
              <a:buNone/>
            </a:pPr>
            <a:r>
              <a:rPr lang="en-US" sz="1200" dirty="0">
                <a:solidFill>
                  <a:srgbClr val="56636D"/>
                </a:solidFill>
                <a:latin typeface="Arial" pitchFamily="34" charset="0"/>
                <a:ea typeface="Arial" pitchFamily="34" charset="-122"/>
                <a:cs typeface="Arial" pitchFamily="34" charset="-120"/>
              </a:rPr>
              <a:t>(grey = the name the dashboard uses)</a:t>
            </a:r>
            <a:endParaRPr lang="en-US" sz="1200" dirty="0"/>
          </a:p>
        </p:txBody>
      </p:sp>
      <p:sp>
        <p:nvSpPr>
          <p:cNvPr id="17" name="Text 15"/>
          <p:cNvSpPr txBox="1"/>
          <p:nvPr/>
        </p:nvSpPr>
        <p:spPr>
          <a:xfrm>
            <a:off x="6812280" y="2240280"/>
            <a:ext cx="4663440" cy="3931920"/>
          </a:xfrm>
          <a:prstGeom prst="rect">
            <a:avLst/>
          </a:prstGeom>
          <a:noFill/>
          <a:ln/>
        </p:spPr>
        <p:txBody>
          <a:bodyPr wrap="square" lIns="0" tIns="0" rIns="0" bIns="0" rtlCol="0" anchor="t"/>
          <a:lstStyle/>
          <a:p>
            <a:pPr indent="0" marL="0">
              <a:spcAft>
                <a:spcPts val="900"/>
              </a:spcAft>
              <a:buNone/>
            </a:pPr>
            <a:r>
              <a:rPr lang="en-US" sz="1400" b="1" dirty="0">
                <a:solidFill>
                  <a:srgbClr val="0F4C5C"/>
                </a:solidFill>
                <a:latin typeface="Arial" pitchFamily="34" charset="0"/>
                <a:ea typeface="Arial" pitchFamily="34" charset="-122"/>
                <a:cs typeface="Arial" pitchFamily="34" charset="-120"/>
              </a:rPr>
              <a:t>Readmission: </a:t>
            </a:r>
            <a:pPr indent="0" marL="0">
              <a:spcAft>
                <a:spcPts val="900"/>
              </a:spcAft>
              <a:buNone/>
            </a:pPr>
            <a:r>
              <a:rPr lang="en-US" sz="1400" dirty="0">
                <a:solidFill>
                  <a:srgbClr val="1F2933"/>
                </a:solidFill>
                <a:latin typeface="Arial" pitchFamily="34" charset="0"/>
                <a:ea typeface="Arial" pitchFamily="34" charset="-122"/>
                <a:cs typeface="Arial" pitchFamily="34" charset="-120"/>
              </a:rPr>
              <a:t>back in hospital as an inpatient within 30 days of going home.</a:t>
            </a:r>
            <a:endParaRPr lang="en-US" sz="1400" dirty="0"/>
          </a:p>
          <a:p>
            <a:pPr indent="0" marL="0">
              <a:spcAft>
                <a:spcPts val="900"/>
              </a:spcAft>
              <a:buNone/>
            </a:pPr>
            <a:r>
              <a:rPr lang="en-US" sz="1400" b="1" dirty="0">
                <a:solidFill>
                  <a:srgbClr val="0F4C5C"/>
                </a:solidFill>
                <a:latin typeface="Arial" pitchFamily="34" charset="0"/>
                <a:ea typeface="Arial" pitchFamily="34" charset="-122"/>
                <a:cs typeface="Arial" pitchFamily="34" charset="-120"/>
              </a:rPr>
              <a:t>Previous stays: </a:t>
            </a:r>
            <a:pPr indent="0" marL="0">
              <a:spcAft>
                <a:spcPts val="900"/>
              </a:spcAft>
              <a:buNone/>
            </a:pPr>
            <a:r>
              <a:rPr lang="en-US" sz="1400" dirty="0">
                <a:solidFill>
                  <a:srgbClr val="1F2933"/>
                </a:solidFill>
                <a:latin typeface="Arial" pitchFamily="34" charset="0"/>
                <a:ea typeface="Arial" pitchFamily="34" charset="-122"/>
                <a:cs typeface="Arial" pitchFamily="34" charset="-120"/>
              </a:rPr>
              <a:t>hospital stays in the year before this one. </a:t>
            </a:r>
            <a:pPr indent="0" marL="0">
              <a:spcAft>
                <a:spcPts val="900"/>
              </a:spcAft>
              <a:buNone/>
            </a:pPr>
            <a:r>
              <a:rPr lang="en-US" sz="1400" dirty="0">
                <a:solidFill>
                  <a:srgbClr val="56636D"/>
                </a:solidFill>
                <a:latin typeface="Arial" pitchFamily="34" charset="0"/>
                <a:ea typeface="Arial" pitchFamily="34" charset="-122"/>
                <a:cs typeface="Arial" pitchFamily="34" charset="-120"/>
              </a:rPr>
              <a:t>number_inpatient</a:t>
            </a:r>
            <a:endParaRPr lang="en-US" sz="1400" dirty="0"/>
          </a:p>
          <a:p>
            <a:pPr indent="0" marL="0">
              <a:spcAft>
                <a:spcPts val="900"/>
              </a:spcAft>
              <a:buNone/>
            </a:pPr>
            <a:r>
              <a:rPr lang="en-US" sz="1400" b="1" dirty="0">
                <a:solidFill>
                  <a:srgbClr val="0F4C5C"/>
                </a:solidFill>
                <a:latin typeface="Arial" pitchFamily="34" charset="0"/>
                <a:ea typeface="Arial" pitchFamily="34" charset="-122"/>
                <a:cs typeface="Arial" pitchFamily="34" charset="-120"/>
              </a:rPr>
              <a:t>Diagnoses: </a:t>
            </a:r>
            <a:pPr indent="0" marL="0">
              <a:spcAft>
                <a:spcPts val="900"/>
              </a:spcAft>
              <a:buNone/>
            </a:pPr>
            <a:r>
              <a:rPr lang="en-US" sz="1400" dirty="0">
                <a:solidFill>
                  <a:srgbClr val="1F2933"/>
                </a:solidFill>
                <a:latin typeface="Arial" pitchFamily="34" charset="0"/>
                <a:ea typeface="Arial" pitchFamily="34" charset="-122"/>
                <a:cs typeface="Arial" pitchFamily="34" charset="-120"/>
              </a:rPr>
              <a:t>how many medical problems are written in the chart. </a:t>
            </a:r>
            <a:pPr indent="0" marL="0">
              <a:spcAft>
                <a:spcPts val="900"/>
              </a:spcAft>
              <a:buNone/>
            </a:pPr>
            <a:r>
              <a:rPr lang="en-US" sz="1400" dirty="0">
                <a:solidFill>
                  <a:srgbClr val="56636D"/>
                </a:solidFill>
                <a:latin typeface="Arial" pitchFamily="34" charset="0"/>
                <a:ea typeface="Arial" pitchFamily="34" charset="-122"/>
                <a:cs typeface="Arial" pitchFamily="34" charset="-120"/>
              </a:rPr>
              <a:t>number_diagnoses</a:t>
            </a:r>
            <a:endParaRPr lang="en-US" sz="1400" dirty="0"/>
          </a:p>
          <a:p>
            <a:pPr indent="0" marL="0">
              <a:spcAft>
                <a:spcPts val="900"/>
              </a:spcAft>
              <a:buNone/>
            </a:pPr>
            <a:r>
              <a:rPr lang="en-US" sz="1400" b="1" dirty="0">
                <a:solidFill>
                  <a:srgbClr val="0F4C5C"/>
                </a:solidFill>
                <a:latin typeface="Arial" pitchFamily="34" charset="0"/>
                <a:ea typeface="Arial" pitchFamily="34" charset="-122"/>
                <a:cs typeface="Arial" pitchFamily="34" charset="-120"/>
              </a:rPr>
              <a:t>HbA1c: </a:t>
            </a:r>
            <a:pPr indent="0" marL="0">
              <a:spcAft>
                <a:spcPts val="900"/>
              </a:spcAft>
              <a:buNone/>
            </a:pPr>
            <a:r>
              <a:rPr lang="en-US" sz="1400" dirty="0">
                <a:solidFill>
                  <a:srgbClr val="1F2933"/>
                </a:solidFill>
                <a:latin typeface="Arial" pitchFamily="34" charset="0"/>
                <a:ea typeface="Arial" pitchFamily="34" charset="-122"/>
                <a:cs typeface="Arial" pitchFamily="34" charset="-120"/>
              </a:rPr>
              <a:t>a blood test showing average blood sugar over the last 2–3 months, the "diabetes report card". Recorded as not measured, normal, above 7 or above 8. Higher = worse control. </a:t>
            </a:r>
            <a:pPr indent="0" marL="0">
              <a:spcAft>
                <a:spcPts val="900"/>
              </a:spcAft>
              <a:buNone/>
            </a:pPr>
            <a:r>
              <a:rPr lang="en-US" sz="1400" dirty="0">
                <a:solidFill>
                  <a:srgbClr val="56636D"/>
                </a:solidFill>
                <a:latin typeface="Arial" pitchFamily="34" charset="0"/>
                <a:ea typeface="Arial" pitchFamily="34" charset="-122"/>
                <a:cs typeface="Arial" pitchFamily="34" charset="-120"/>
              </a:rPr>
              <a:t>A1Cresult</a:t>
            </a:r>
            <a:endParaRPr lang="en-US" sz="1400" dirty="0"/>
          </a:p>
          <a:p>
            <a:pPr indent="0" marL="0">
              <a:spcAft>
                <a:spcPts val="900"/>
              </a:spcAft>
              <a:buNone/>
            </a:pPr>
            <a:r>
              <a:rPr lang="en-US" sz="1400" b="1" dirty="0">
                <a:solidFill>
                  <a:srgbClr val="0F4C5C"/>
                </a:solidFill>
                <a:latin typeface="Arial" pitchFamily="34" charset="0"/>
                <a:ea typeface="Arial" pitchFamily="34" charset="-122"/>
                <a:cs typeface="Arial" pitchFamily="34" charset="-120"/>
              </a:rPr>
              <a:t>Insulin change: </a:t>
            </a:r>
            <a:pPr indent="0" marL="0">
              <a:spcAft>
                <a:spcPts val="900"/>
              </a:spcAft>
              <a:buNone/>
            </a:pPr>
            <a:r>
              <a:rPr lang="en-US" sz="1400" dirty="0">
                <a:solidFill>
                  <a:srgbClr val="1F2933"/>
                </a:solidFill>
                <a:latin typeface="Arial" pitchFamily="34" charset="0"/>
                <a:ea typeface="Arial" pitchFamily="34" charset="-122"/>
                <a:cs typeface="Arial" pitchFamily="34" charset="-120"/>
              </a:rPr>
              <a:t>insulin dose raised, lowered, kept the same, or no insulin. </a:t>
            </a:r>
            <a:pPr indent="0" marL="0">
              <a:spcAft>
                <a:spcPts val="900"/>
              </a:spcAft>
              <a:buNone/>
            </a:pPr>
            <a:r>
              <a:rPr lang="en-US" sz="1400" dirty="0">
                <a:solidFill>
                  <a:srgbClr val="56636D"/>
                </a:solidFill>
                <a:latin typeface="Arial" pitchFamily="34" charset="0"/>
                <a:ea typeface="Arial" pitchFamily="34" charset="-122"/>
                <a:cs typeface="Arial" pitchFamily="34" charset="-120"/>
              </a:rPr>
              <a:t>insulin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DASHBOARD · MODEL OVERVIEW · CONFUSION MATRIX</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How good is the call list? Four boxes tell the story</a:t>
            </a:r>
            <a:endParaRPr lang="en-US" sz="2700" dirty="0"/>
          </a:p>
        </p:txBody>
      </p:sp>
      <p:sp>
        <p:nvSpPr>
          <p:cNvPr id="4" name="Text 2"/>
          <p:cNvSpPr txBox="1"/>
          <p:nvPr/>
        </p:nvSpPr>
        <p:spPr>
          <a:xfrm>
            <a:off x="548640" y="1133856"/>
            <a:ext cx="11094415" cy="310896"/>
          </a:xfrm>
          <a:prstGeom prst="rect">
            <a:avLst/>
          </a:prstGeom>
          <a:noFill/>
          <a:ln/>
        </p:spPr>
        <p:txBody>
          <a:bodyPr wrap="square" lIns="0" tIns="0" rIns="0" bIns="0" rtlCol="0" anchor="ctr"/>
          <a:lstStyle/>
          <a:p>
            <a:pPr indent="0" marL="0">
              <a:buNone/>
            </a:pPr>
            <a:r>
              <a:rPr lang="en-US" sz="1400" dirty="0">
                <a:solidFill>
                  <a:srgbClr val="56636D"/>
                </a:solidFill>
                <a:latin typeface="Arial" pitchFamily="34" charset="0"/>
                <a:ea typeface="Arial" pitchFamily="34" charset="-122"/>
                <a:cs typeface="Arial" pitchFamily="34" charset="-120"/>
              </a:rPr>
              <a:t>1,999 patients the score had never seen. Each patient lands in exactly one box.</a:t>
            </a:r>
            <a:endParaRPr lang="en-US" sz="1400" dirty="0"/>
          </a:p>
        </p:txBody>
      </p:sp>
      <p:sp>
        <p:nvSpPr>
          <p:cNvPr id="5" name="Shape 3"/>
          <p:cNvSpPr/>
          <p:nvPr/>
        </p:nvSpPr>
        <p:spPr>
          <a:xfrm>
            <a:off x="548640" y="1645920"/>
            <a:ext cx="5852160" cy="2908107"/>
          </a:xfrm>
          <a:prstGeom prst="rect">
            <a:avLst/>
          </a:prstGeom>
          <a:solidFill>
            <a:srgbClr val="FFFFFF"/>
          </a:solidFill>
          <a:ln w="12700">
            <a:solidFill>
              <a:srgbClr val="C9D3DA"/>
            </a:solidFill>
            <a:prstDash val="solid"/>
          </a:ln>
        </p:spPr>
      </p:sp>
      <p:pic>
        <p:nvPicPr>
          <p:cNvPr id="6" name="Image 0" descr="01 confusion matrix">    </p:cNvPr>
          <p:cNvPicPr>
            <a:picLocks noChangeAspect="1"/>
          </p:cNvPicPr>
          <p:nvPr/>
        </p:nvPicPr>
        <p:blipFill>
          <a:blip r:embed="rId1"/>
          <a:stretch>
            <a:fillRect/>
          </a:stretch>
        </p:blipFill>
        <p:spPr>
          <a:xfrm>
            <a:off x="594360" y="1691640"/>
            <a:ext cx="5760720" cy="2816667"/>
          </a:xfrm>
          <a:prstGeom prst="rect">
            <a:avLst/>
          </a:prstGeom>
        </p:spPr>
      </p:pic>
      <p:sp>
        <p:nvSpPr>
          <p:cNvPr id="7" name="Text 4"/>
          <p:cNvSpPr txBox="1"/>
          <p:nvPr/>
        </p:nvSpPr>
        <p:spPr>
          <a:xfrm>
            <a:off x="3310128" y="1921381"/>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3310128" y="2766381"/>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Text 6"/>
          <p:cNvSpPr txBox="1"/>
          <p:nvPr/>
        </p:nvSpPr>
        <p:spPr>
          <a:xfrm>
            <a:off x="1581912" y="1921381"/>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0" name="Text 7"/>
          <p:cNvSpPr txBox="1"/>
          <p:nvPr/>
        </p:nvSpPr>
        <p:spPr>
          <a:xfrm>
            <a:off x="1581912" y="2766381"/>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1" name="Text 8"/>
          <p:cNvSpPr txBox="1"/>
          <p:nvPr/>
        </p:nvSpPr>
        <p:spPr>
          <a:xfrm>
            <a:off x="548640" y="4617720"/>
            <a:ext cx="5852160" cy="274320"/>
          </a:xfrm>
          <a:prstGeom prst="rect">
            <a:avLst/>
          </a:prstGeom>
          <a:noFill/>
          <a:ln/>
        </p:spPr>
        <p:txBody>
          <a:bodyPr wrap="square" lIns="0" tIns="0" rIns="0" bIns="0" rtlCol="0" anchor="t"/>
          <a:lstStyle/>
          <a:p>
            <a:pPr indent="0" marL="0">
              <a:buNone/>
            </a:pPr>
            <a:r>
              <a:rPr lang="en-US" sz="1300" b="1" dirty="0">
                <a:solidFill>
                  <a:srgbClr val="0F4C5C"/>
                </a:solidFill>
                <a:latin typeface="Arial" pitchFamily="34" charset="0"/>
                <a:ea typeface="Arial" pitchFamily="34" charset="-122"/>
                <a:cs typeface="Arial" pitchFamily="34" charset="-120"/>
              </a:rPr>
              <a:t>Rows </a:t>
            </a:r>
            <a:pPr indent="0" marL="0">
              <a:buNone/>
            </a:pPr>
            <a:r>
              <a:rPr lang="en-US" sz="1300" dirty="0">
                <a:solidFill>
                  <a:srgbClr val="1F2933"/>
                </a:solidFill>
                <a:latin typeface="Arial" pitchFamily="34" charset="0"/>
                <a:ea typeface="Arial" pitchFamily="34" charset="-122"/>
                <a:cs typeface="Arial" pitchFamily="34" charset="-120"/>
              </a:rPr>
              <a:t>(True Class): did the patient come back?  1 = yes, 0 = no</a:t>
            </a:r>
            <a:endParaRPr lang="en-US" sz="1300" dirty="0"/>
          </a:p>
        </p:txBody>
      </p:sp>
      <p:sp>
        <p:nvSpPr>
          <p:cNvPr id="12" name="Text 9"/>
          <p:cNvSpPr txBox="1"/>
          <p:nvPr/>
        </p:nvSpPr>
        <p:spPr>
          <a:xfrm>
            <a:off x="548640" y="4919472"/>
            <a:ext cx="5852160" cy="274320"/>
          </a:xfrm>
          <a:prstGeom prst="rect">
            <a:avLst/>
          </a:prstGeom>
          <a:noFill/>
          <a:ln/>
        </p:spPr>
        <p:txBody>
          <a:bodyPr wrap="square" lIns="0" tIns="0" rIns="0" bIns="0" rtlCol="0" anchor="t"/>
          <a:lstStyle/>
          <a:p>
            <a:pPr indent="0" marL="0">
              <a:buNone/>
            </a:pPr>
            <a:r>
              <a:rPr lang="en-US" sz="1300" b="1" dirty="0">
                <a:solidFill>
                  <a:srgbClr val="0F4C5C"/>
                </a:solidFill>
                <a:latin typeface="Arial" pitchFamily="34" charset="0"/>
                <a:ea typeface="Arial" pitchFamily="34" charset="-122"/>
                <a:cs typeface="Arial" pitchFamily="34" charset="-120"/>
              </a:rPr>
              <a:t>Columns </a:t>
            </a:r>
            <a:pPr indent="0" marL="0">
              <a:buNone/>
            </a:pPr>
            <a:r>
              <a:rPr lang="en-US" sz="1300" dirty="0">
                <a:solidFill>
                  <a:srgbClr val="1F2933"/>
                </a:solidFill>
                <a:latin typeface="Arial" pitchFamily="34" charset="0"/>
                <a:ea typeface="Arial" pitchFamily="34" charset="-122"/>
                <a:cs typeface="Arial" pitchFamily="34" charset="-120"/>
              </a:rPr>
              <a:t>(Predicted Class): did we put them on the call list?  1 = yes, 0 = no</a:t>
            </a:r>
            <a:endParaRPr lang="en-US" sz="1300" dirty="0"/>
          </a:p>
        </p:txBody>
      </p:sp>
      <p:sp>
        <p:nvSpPr>
          <p:cNvPr id="13" name="Text 10"/>
          <p:cNvSpPr txBox="1"/>
          <p:nvPr/>
        </p:nvSpPr>
        <p:spPr>
          <a:xfrm>
            <a:off x="6684264" y="1709928"/>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4" name="Text 11"/>
          <p:cNvSpPr txBox="1"/>
          <p:nvPr/>
        </p:nvSpPr>
        <p:spPr>
          <a:xfrm>
            <a:off x="7114032" y="1691640"/>
            <a:ext cx="4544568" cy="786384"/>
          </a:xfrm>
          <a:prstGeom prst="rect">
            <a:avLst/>
          </a:prstGeom>
          <a:noFill/>
          <a:ln/>
        </p:spPr>
        <p:txBody>
          <a:bodyPr wrap="square" lIns="0" tIns="0" rIns="0" bIns="0" rtlCol="0" anchor="t"/>
          <a:lstStyle/>
          <a:p>
            <a:pPr indent="0" marL="0">
              <a:buNone/>
            </a:pPr>
            <a:r>
              <a:rPr lang="en-US" sz="1450" b="1" dirty="0">
                <a:solidFill>
                  <a:srgbClr val="0F4C5C"/>
                </a:solidFill>
                <a:latin typeface="Arial" pitchFamily="34" charset="0"/>
                <a:ea typeface="Arial" pitchFamily="34" charset="-122"/>
                <a:cs typeface="Arial" pitchFamily="34" charset="-120"/>
              </a:rPr>
              <a:t>84: called, and they did come back. </a:t>
            </a:r>
            <a:pPr indent="0" marL="0">
              <a:buNone/>
            </a:pPr>
            <a:r>
              <a:rPr lang="en-US" sz="1450" dirty="0">
                <a:solidFill>
                  <a:srgbClr val="1F2933"/>
                </a:solidFill>
                <a:latin typeface="Arial" pitchFamily="34" charset="0"/>
                <a:ea typeface="Arial" pitchFamily="34" charset="-122"/>
                <a:cs typeface="Arial" pitchFamily="34" charset="-120"/>
              </a:rPr>
              <a:t>These are the calls that matter.</a:t>
            </a:r>
            <a:endParaRPr lang="en-US" sz="1450" dirty="0"/>
          </a:p>
        </p:txBody>
      </p:sp>
      <p:sp>
        <p:nvSpPr>
          <p:cNvPr id="15" name="Text 12"/>
          <p:cNvSpPr txBox="1"/>
          <p:nvPr/>
        </p:nvSpPr>
        <p:spPr>
          <a:xfrm>
            <a:off x="6684264" y="2532888"/>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3"/>
          <p:cNvSpPr txBox="1"/>
          <p:nvPr/>
        </p:nvSpPr>
        <p:spPr>
          <a:xfrm>
            <a:off x="7114032" y="2514600"/>
            <a:ext cx="4544568" cy="786384"/>
          </a:xfrm>
          <a:prstGeom prst="rect">
            <a:avLst/>
          </a:prstGeom>
          <a:noFill/>
          <a:ln/>
        </p:spPr>
        <p:txBody>
          <a:bodyPr wrap="square" lIns="0" tIns="0" rIns="0" bIns="0" rtlCol="0" anchor="t"/>
          <a:lstStyle/>
          <a:p>
            <a:pPr indent="0" marL="0">
              <a:buNone/>
            </a:pPr>
            <a:r>
              <a:rPr lang="en-US" sz="1450" b="1" dirty="0">
                <a:solidFill>
                  <a:srgbClr val="0F4C5C"/>
                </a:solidFill>
                <a:latin typeface="Arial" pitchFamily="34" charset="0"/>
                <a:ea typeface="Arial" pitchFamily="34" charset="-122"/>
                <a:cs typeface="Arial" pitchFamily="34" charset="-120"/>
              </a:rPr>
              <a:t>311: called, but they were fine. </a:t>
            </a:r>
            <a:pPr indent="0" marL="0">
              <a:buNone/>
            </a:pPr>
            <a:r>
              <a:rPr lang="en-US" sz="1450" dirty="0">
                <a:solidFill>
                  <a:srgbClr val="1F2933"/>
                </a:solidFill>
                <a:latin typeface="Arial" pitchFamily="34" charset="0"/>
                <a:ea typeface="Arial" pitchFamily="34" charset="-122"/>
                <a:cs typeface="Arial" pitchFamily="34" charset="-120"/>
              </a:rPr>
              <a:t>A call "for nothing": reassuring for the patient, but nurse time.</a:t>
            </a:r>
            <a:endParaRPr lang="en-US" sz="1450" dirty="0"/>
          </a:p>
        </p:txBody>
      </p:sp>
      <p:sp>
        <p:nvSpPr>
          <p:cNvPr id="17" name="Text 14"/>
          <p:cNvSpPr txBox="1"/>
          <p:nvPr/>
        </p:nvSpPr>
        <p:spPr>
          <a:xfrm>
            <a:off x="6684264" y="3355848"/>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5"/>
          <p:cNvSpPr txBox="1"/>
          <p:nvPr/>
        </p:nvSpPr>
        <p:spPr>
          <a:xfrm>
            <a:off x="7114032" y="3337560"/>
            <a:ext cx="4544568" cy="786384"/>
          </a:xfrm>
          <a:prstGeom prst="rect">
            <a:avLst/>
          </a:prstGeom>
          <a:noFill/>
          <a:ln/>
        </p:spPr>
        <p:txBody>
          <a:bodyPr wrap="square" lIns="0" tIns="0" rIns="0" bIns="0" rtlCol="0" anchor="t"/>
          <a:lstStyle/>
          <a:p>
            <a:pPr indent="0" marL="0">
              <a:buNone/>
            </a:pPr>
            <a:r>
              <a:rPr lang="en-US" sz="1450" b="1" dirty="0">
                <a:solidFill>
                  <a:srgbClr val="0F4C5C"/>
                </a:solidFill>
                <a:latin typeface="Arial" pitchFamily="34" charset="0"/>
                <a:ea typeface="Arial" pitchFamily="34" charset="-122"/>
                <a:cs typeface="Arial" pitchFamily="34" charset="-120"/>
              </a:rPr>
              <a:t>138: came back, but never called. </a:t>
            </a:r>
            <a:pPr indent="0" marL="0">
              <a:buNone/>
            </a:pPr>
            <a:r>
              <a:rPr lang="en-US" sz="1450" dirty="0">
                <a:solidFill>
                  <a:srgbClr val="1F2933"/>
                </a:solidFill>
                <a:latin typeface="Arial" pitchFamily="34" charset="0"/>
                <a:ea typeface="Arial" pitchFamily="34" charset="-122"/>
                <a:cs typeface="Arial" pitchFamily="34" charset="-120"/>
              </a:rPr>
              <a:t>These are the misses.</a:t>
            </a:r>
            <a:endParaRPr lang="en-US" sz="1450" dirty="0"/>
          </a:p>
        </p:txBody>
      </p:sp>
      <p:sp>
        <p:nvSpPr>
          <p:cNvPr id="19" name="Text 16"/>
          <p:cNvSpPr txBox="1"/>
          <p:nvPr/>
        </p:nvSpPr>
        <p:spPr>
          <a:xfrm>
            <a:off x="6684264" y="4178808"/>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0" name="Text 17"/>
          <p:cNvSpPr txBox="1"/>
          <p:nvPr/>
        </p:nvSpPr>
        <p:spPr>
          <a:xfrm>
            <a:off x="7114032" y="4160520"/>
            <a:ext cx="4544568" cy="786384"/>
          </a:xfrm>
          <a:prstGeom prst="rect">
            <a:avLst/>
          </a:prstGeom>
          <a:noFill/>
          <a:ln/>
        </p:spPr>
        <p:txBody>
          <a:bodyPr wrap="square" lIns="0" tIns="0" rIns="0" bIns="0" rtlCol="0" anchor="t"/>
          <a:lstStyle/>
          <a:p>
            <a:pPr indent="0" marL="0">
              <a:buNone/>
            </a:pPr>
            <a:r>
              <a:rPr lang="en-US" sz="1450" b="1" dirty="0">
                <a:solidFill>
                  <a:srgbClr val="0F4C5C"/>
                </a:solidFill>
                <a:latin typeface="Arial" pitchFamily="34" charset="0"/>
                <a:ea typeface="Arial" pitchFamily="34" charset="-122"/>
                <a:cs typeface="Arial" pitchFamily="34" charset="-120"/>
              </a:rPr>
              <a:t>1,466: not called, and fine. </a:t>
            </a:r>
            <a:pPr indent="0" marL="0">
              <a:buNone/>
            </a:pPr>
            <a:r>
              <a:rPr lang="en-US" sz="1450" dirty="0">
                <a:solidFill>
                  <a:srgbClr val="1F2933"/>
                </a:solidFill>
                <a:latin typeface="Arial" pitchFamily="34" charset="0"/>
                <a:ea typeface="Arial" pitchFamily="34" charset="-122"/>
                <a:cs typeface="Arial" pitchFamily="34" charset="-120"/>
              </a:rPr>
              <a:t>Correctly left alone.</a:t>
            </a:r>
            <a:endParaRPr lang="en-US" sz="1450" dirty="0"/>
          </a:p>
        </p:txBody>
      </p:sp>
      <p:sp>
        <p:nvSpPr>
          <p:cNvPr id="21" name="Shape 18"/>
          <p:cNvSpPr/>
          <p:nvPr/>
        </p:nvSpPr>
        <p:spPr>
          <a:xfrm>
            <a:off x="548640" y="5349240"/>
            <a:ext cx="11094415" cy="1097280"/>
          </a:xfrm>
          <a:prstGeom prst="roundRect">
            <a:avLst>
              <a:gd name="adj" fmla="val 6667"/>
            </a:avLst>
          </a:prstGeom>
          <a:solidFill>
            <a:srgbClr val="E6F2F1"/>
          </a:solidFill>
          <a:ln w="12700">
            <a:solidFill>
              <a:srgbClr val="E6F2F1"/>
            </a:solidFill>
            <a:prstDash val="solid"/>
          </a:ln>
        </p:spPr>
      </p:sp>
      <p:sp>
        <p:nvSpPr>
          <p:cNvPr id="22" name="Text 19"/>
          <p:cNvSpPr txBox="1"/>
          <p:nvPr/>
        </p:nvSpPr>
        <p:spPr>
          <a:xfrm>
            <a:off x="822960" y="5349240"/>
            <a:ext cx="10545775" cy="1097280"/>
          </a:xfrm>
          <a:prstGeom prst="rect">
            <a:avLst/>
          </a:prstGeom>
          <a:noFill/>
          <a:ln/>
        </p:spPr>
        <p:txBody>
          <a:bodyPr wrap="square" lIns="0" tIns="0" rIns="0" bIns="0" rtlCol="0" anchor="ctr"/>
          <a:lstStyle/>
          <a:p>
            <a:pPr indent="0" marL="0">
              <a:buNone/>
            </a:pPr>
            <a:r>
              <a:rPr lang="en-US" sz="1550" b="1" dirty="0">
                <a:solidFill>
                  <a:srgbClr val="0F4C5C"/>
                </a:solidFill>
                <a:latin typeface="Arial" pitchFamily="34" charset="0"/>
                <a:ea typeface="Arial" pitchFamily="34" charset="-122"/>
                <a:cs typeface="Arial" pitchFamily="34" charset="-120"/>
              </a:rPr>
              <a:t>In plain words: </a:t>
            </a:r>
            <a:pPr indent="0" marL="0">
              <a:buNone/>
            </a:pPr>
            <a:r>
              <a:rPr lang="en-US" sz="1550" dirty="0">
                <a:solidFill>
                  <a:srgbClr val="1F2933"/>
                </a:solidFill>
                <a:latin typeface="Arial" pitchFamily="34" charset="0"/>
                <a:ea typeface="Arial" pitchFamily="34" charset="-122"/>
                <a:cs typeface="Arial" pitchFamily="34" charset="-120"/>
              </a:rPr>
              <a:t>about 1 in 5 calls reaches someone who comes back, twice as good as calling at random. </a:t>
            </a:r>
            <a:pPr indent="0" marL="0">
              <a:buNone/>
            </a:pPr>
            <a:r>
              <a:rPr lang="en-US" sz="1550" dirty="0">
                <a:solidFill>
                  <a:srgbClr val="1F2933"/>
                </a:solidFill>
                <a:latin typeface="Arial" pitchFamily="34" charset="0"/>
                <a:ea typeface="Arial" pitchFamily="34" charset="-122"/>
                <a:cs typeface="Arial" pitchFamily="34" charset="-120"/>
              </a:rPr>
              <a:t>But 6 in 10 of the people who come back are never called. On brand-new patients (our final test) the picture was the same.</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MICROSOFT RESPONSIBLE AI DASHBOARD</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The dashboard: one web page, six panels</a:t>
            </a:r>
            <a:endParaRPr lang="en-US" sz="2700" dirty="0"/>
          </a:p>
        </p:txBody>
      </p:sp>
      <p:sp>
        <p:nvSpPr>
          <p:cNvPr id="4" name="Text 2"/>
          <p:cNvSpPr txBox="1"/>
          <p:nvPr/>
        </p:nvSpPr>
        <p:spPr>
          <a:xfrm>
            <a:off x="548640" y="1133856"/>
            <a:ext cx="11094415" cy="310896"/>
          </a:xfrm>
          <a:prstGeom prst="rect">
            <a:avLst/>
          </a:prstGeom>
          <a:noFill/>
          <a:ln/>
        </p:spPr>
        <p:txBody>
          <a:bodyPr wrap="square" lIns="0" tIns="0" rIns="0" bIns="0" rtlCol="0" anchor="ctr"/>
          <a:lstStyle/>
          <a:p>
            <a:pPr indent="0" marL="0">
              <a:buNone/>
            </a:pPr>
            <a:r>
              <a:rPr lang="en-US" sz="1400" dirty="0">
                <a:solidFill>
                  <a:srgbClr val="56636D"/>
                </a:solidFill>
                <a:latin typeface="Arial" pitchFamily="34" charset="0"/>
                <a:ea typeface="Arial" pitchFamily="34" charset="-122"/>
                <a:cs typeface="Arial" pitchFamily="34" charset="-120"/>
              </a:rPr>
              <a:t>It does not build the score. It interrogates it. Each panel answers one question.</a:t>
            </a:r>
            <a:endParaRPr lang="en-US" sz="1400" dirty="0"/>
          </a:p>
        </p:txBody>
      </p:sp>
      <p:sp>
        <p:nvSpPr>
          <p:cNvPr id="5" name="Shape 3"/>
          <p:cNvSpPr/>
          <p:nvPr/>
        </p:nvSpPr>
        <p:spPr>
          <a:xfrm>
            <a:off x="548640" y="1536192"/>
            <a:ext cx="3566160" cy="2194560"/>
          </a:xfrm>
          <a:prstGeom prst="roundRect">
            <a:avLst>
              <a:gd name="adj" fmla="val 2500"/>
            </a:avLst>
          </a:prstGeom>
          <a:solidFill>
            <a:srgbClr val="F4F6F8"/>
          </a:solidFill>
          <a:ln w="12700">
            <a:solidFill>
              <a:srgbClr val="C9D3DA"/>
            </a:solidFill>
            <a:prstDash val="solid"/>
          </a:ln>
        </p:spPr>
      </p:sp>
      <p:pic>
        <p:nvPicPr>
          <p:cNvPr id="6" name="Image 0" descr="Error analysis">    </p:cNvPr>
          <p:cNvPicPr>
            <a:picLocks noChangeAspect="1"/>
          </p:cNvPicPr>
          <p:nvPr/>
        </p:nvPicPr>
        <p:blipFill>
          <a:blip r:embed="rId1"/>
          <a:stretch>
            <a:fillRect/>
          </a:stretch>
        </p:blipFill>
        <p:spPr>
          <a:xfrm>
            <a:off x="1126495" y="1645920"/>
            <a:ext cx="2410450" cy="1325880"/>
          </a:xfrm>
          <a:prstGeom prst="rect">
            <a:avLst/>
          </a:prstGeom>
        </p:spPr>
      </p:pic>
      <p:sp>
        <p:nvSpPr>
          <p:cNvPr id="7" name="Text 4"/>
          <p:cNvSpPr txBox="1"/>
          <p:nvPr/>
        </p:nvSpPr>
        <p:spPr>
          <a:xfrm>
            <a:off x="640080" y="3044952"/>
            <a:ext cx="310896" cy="310896"/>
          </a:xfrm>
          <a:prstGeom prst="ellipse">
            <a:avLst/>
          </a:prstGeom>
          <a:solidFill>
            <a:srgbClr val="0F4C5C"/>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1024128" y="3035808"/>
            <a:ext cx="2999232" cy="292608"/>
          </a:xfrm>
          <a:prstGeom prst="rect">
            <a:avLst/>
          </a:prstGeom>
          <a:noFill/>
          <a:ln/>
        </p:spPr>
        <p:txBody>
          <a:bodyPr wrap="square" lIns="0" tIns="0" rIns="0" bIns="0" rtlCol="0" anchor="t"/>
          <a:lstStyle/>
          <a:p>
            <a:pPr indent="0" marL="0">
              <a:buNone/>
            </a:pPr>
            <a:r>
              <a:rPr lang="en-US" sz="1450" b="1" dirty="0">
                <a:solidFill>
                  <a:srgbClr val="0F4C5C"/>
                </a:solidFill>
                <a:latin typeface="Arial" pitchFamily="34" charset="0"/>
                <a:ea typeface="Arial" pitchFamily="34" charset="-122"/>
                <a:cs typeface="Arial" pitchFamily="34" charset="-120"/>
              </a:rPr>
              <a:t>Error analysis</a:t>
            </a:r>
            <a:endParaRPr lang="en-US" sz="1450" dirty="0"/>
          </a:p>
        </p:txBody>
      </p:sp>
      <p:sp>
        <p:nvSpPr>
          <p:cNvPr id="9" name="Text 6"/>
          <p:cNvSpPr txBox="1"/>
          <p:nvPr/>
        </p:nvSpPr>
        <p:spPr>
          <a:xfrm>
            <a:off x="1024128" y="3319272"/>
            <a:ext cx="2999232" cy="384048"/>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Where does the score make mistakes?</a:t>
            </a:r>
            <a:endParaRPr lang="en-US" sz="1250" dirty="0"/>
          </a:p>
        </p:txBody>
      </p:sp>
      <p:sp>
        <p:nvSpPr>
          <p:cNvPr id="10" name="Shape 7"/>
          <p:cNvSpPr/>
          <p:nvPr/>
        </p:nvSpPr>
        <p:spPr>
          <a:xfrm>
            <a:off x="4297680" y="1536192"/>
            <a:ext cx="3566160" cy="2194560"/>
          </a:xfrm>
          <a:prstGeom prst="roundRect">
            <a:avLst>
              <a:gd name="adj" fmla="val 2500"/>
            </a:avLst>
          </a:prstGeom>
          <a:solidFill>
            <a:srgbClr val="F4F6F8"/>
          </a:solidFill>
          <a:ln w="12700">
            <a:solidFill>
              <a:srgbClr val="C9D3DA"/>
            </a:solidFill>
            <a:prstDash val="solid"/>
          </a:ln>
        </p:spPr>
      </p:sp>
      <p:pic>
        <p:nvPicPr>
          <p:cNvPr id="11" name="Image 1" descr="Model overview">    </p:cNvPr>
          <p:cNvPicPr>
            <a:picLocks noChangeAspect="1"/>
          </p:cNvPicPr>
          <p:nvPr/>
        </p:nvPicPr>
        <p:blipFill>
          <a:blip r:embed="rId2"/>
          <a:stretch>
            <a:fillRect/>
          </a:stretch>
        </p:blipFill>
        <p:spPr>
          <a:xfrm>
            <a:off x="4434840" y="1993392"/>
            <a:ext cx="3291840" cy="630936"/>
          </a:xfrm>
          <a:prstGeom prst="rect">
            <a:avLst/>
          </a:prstGeom>
        </p:spPr>
      </p:pic>
      <p:sp>
        <p:nvSpPr>
          <p:cNvPr id="12" name="Text 8"/>
          <p:cNvSpPr txBox="1"/>
          <p:nvPr/>
        </p:nvSpPr>
        <p:spPr>
          <a:xfrm>
            <a:off x="4389120" y="3044952"/>
            <a:ext cx="310896" cy="310896"/>
          </a:xfrm>
          <a:prstGeom prst="ellipse">
            <a:avLst/>
          </a:prstGeom>
          <a:solidFill>
            <a:srgbClr val="0F4C5C"/>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9"/>
          <p:cNvSpPr txBox="1"/>
          <p:nvPr/>
        </p:nvSpPr>
        <p:spPr>
          <a:xfrm>
            <a:off x="4773168" y="3035808"/>
            <a:ext cx="2999232" cy="292608"/>
          </a:xfrm>
          <a:prstGeom prst="rect">
            <a:avLst/>
          </a:prstGeom>
          <a:noFill/>
          <a:ln/>
        </p:spPr>
        <p:txBody>
          <a:bodyPr wrap="square" lIns="0" tIns="0" rIns="0" bIns="0" rtlCol="0" anchor="t"/>
          <a:lstStyle/>
          <a:p>
            <a:pPr indent="0" marL="0">
              <a:buNone/>
            </a:pPr>
            <a:r>
              <a:rPr lang="en-US" sz="1450" b="1" dirty="0">
                <a:solidFill>
                  <a:srgbClr val="0F4C5C"/>
                </a:solidFill>
                <a:latin typeface="Arial" pitchFamily="34" charset="0"/>
                <a:ea typeface="Arial" pitchFamily="34" charset="-122"/>
                <a:cs typeface="Arial" pitchFamily="34" charset="-120"/>
              </a:rPr>
              <a:t>Model overview</a:t>
            </a:r>
            <a:endParaRPr lang="en-US" sz="1450" dirty="0"/>
          </a:p>
        </p:txBody>
      </p:sp>
      <p:sp>
        <p:nvSpPr>
          <p:cNvPr id="14" name="Text 10"/>
          <p:cNvSpPr txBox="1"/>
          <p:nvPr/>
        </p:nvSpPr>
        <p:spPr>
          <a:xfrm>
            <a:off x="4773168" y="3319272"/>
            <a:ext cx="2999232" cy="384048"/>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How well does it work for each group of patients?</a:t>
            </a:r>
            <a:endParaRPr lang="en-US" sz="1250" dirty="0"/>
          </a:p>
        </p:txBody>
      </p:sp>
      <p:sp>
        <p:nvSpPr>
          <p:cNvPr id="15" name="Shape 11"/>
          <p:cNvSpPr/>
          <p:nvPr/>
        </p:nvSpPr>
        <p:spPr>
          <a:xfrm>
            <a:off x="8046720" y="1536192"/>
            <a:ext cx="3566160" cy="2194560"/>
          </a:xfrm>
          <a:prstGeom prst="roundRect">
            <a:avLst>
              <a:gd name="adj" fmla="val 2500"/>
            </a:avLst>
          </a:prstGeom>
          <a:solidFill>
            <a:srgbClr val="F4F6F8"/>
          </a:solidFill>
          <a:ln w="12700">
            <a:solidFill>
              <a:srgbClr val="C9D3DA"/>
            </a:solidFill>
            <a:prstDash val="solid"/>
          </a:ln>
        </p:spPr>
      </p:sp>
      <p:pic>
        <p:nvPicPr>
          <p:cNvPr id="16" name="Image 2" descr="Data analysis">    </p:cNvPr>
          <p:cNvPicPr>
            <a:picLocks noChangeAspect="1"/>
          </p:cNvPicPr>
          <p:nvPr/>
        </p:nvPicPr>
        <p:blipFill>
          <a:blip r:embed="rId3"/>
          <a:stretch>
            <a:fillRect/>
          </a:stretch>
        </p:blipFill>
        <p:spPr>
          <a:xfrm>
            <a:off x="8183880" y="1683410"/>
            <a:ext cx="3291840" cy="1250899"/>
          </a:xfrm>
          <a:prstGeom prst="rect">
            <a:avLst/>
          </a:prstGeom>
        </p:spPr>
      </p:pic>
      <p:sp>
        <p:nvSpPr>
          <p:cNvPr id="17" name="Text 12"/>
          <p:cNvSpPr txBox="1"/>
          <p:nvPr/>
        </p:nvSpPr>
        <p:spPr>
          <a:xfrm>
            <a:off x="8138160" y="3044952"/>
            <a:ext cx="310896" cy="310896"/>
          </a:xfrm>
          <a:prstGeom prst="ellipse">
            <a:avLst/>
          </a:prstGeom>
          <a:solidFill>
            <a:srgbClr val="0F4C5C"/>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3"/>
          <p:cNvSpPr txBox="1"/>
          <p:nvPr/>
        </p:nvSpPr>
        <p:spPr>
          <a:xfrm>
            <a:off x="8522208" y="3035808"/>
            <a:ext cx="2999232" cy="292608"/>
          </a:xfrm>
          <a:prstGeom prst="rect">
            <a:avLst/>
          </a:prstGeom>
          <a:noFill/>
          <a:ln/>
        </p:spPr>
        <p:txBody>
          <a:bodyPr wrap="square" lIns="0" tIns="0" rIns="0" bIns="0" rtlCol="0" anchor="t"/>
          <a:lstStyle/>
          <a:p>
            <a:pPr indent="0" marL="0">
              <a:buNone/>
            </a:pPr>
            <a:r>
              <a:rPr lang="en-US" sz="1450" b="1" dirty="0">
                <a:solidFill>
                  <a:srgbClr val="0F4C5C"/>
                </a:solidFill>
                <a:latin typeface="Arial" pitchFamily="34" charset="0"/>
                <a:ea typeface="Arial" pitchFamily="34" charset="-122"/>
                <a:cs typeface="Arial" pitchFamily="34" charset="-120"/>
              </a:rPr>
              <a:t>Data analysis</a:t>
            </a:r>
            <a:endParaRPr lang="en-US" sz="1450" dirty="0"/>
          </a:p>
        </p:txBody>
      </p:sp>
      <p:sp>
        <p:nvSpPr>
          <p:cNvPr id="19" name="Text 14"/>
          <p:cNvSpPr txBox="1"/>
          <p:nvPr/>
        </p:nvSpPr>
        <p:spPr>
          <a:xfrm>
            <a:off x="8522208" y="3319272"/>
            <a:ext cx="2999232" cy="384048"/>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What does the data look like? (we used it to explore)</a:t>
            </a:r>
            <a:endParaRPr lang="en-US" sz="1250" dirty="0"/>
          </a:p>
        </p:txBody>
      </p:sp>
      <p:sp>
        <p:nvSpPr>
          <p:cNvPr id="20" name="Shape 15"/>
          <p:cNvSpPr/>
          <p:nvPr/>
        </p:nvSpPr>
        <p:spPr>
          <a:xfrm>
            <a:off x="548640" y="3822192"/>
            <a:ext cx="3566160" cy="2194560"/>
          </a:xfrm>
          <a:prstGeom prst="roundRect">
            <a:avLst>
              <a:gd name="adj" fmla="val 2500"/>
            </a:avLst>
          </a:prstGeom>
          <a:solidFill>
            <a:srgbClr val="F4F6F8"/>
          </a:solidFill>
          <a:ln w="12700">
            <a:solidFill>
              <a:srgbClr val="C9D3DA"/>
            </a:solidFill>
            <a:prstDash val="solid"/>
          </a:ln>
        </p:spPr>
      </p:sp>
      <p:pic>
        <p:nvPicPr>
          <p:cNvPr id="21" name="Image 3" descr="Feature importance">    </p:cNvPr>
          <p:cNvPicPr>
            <a:picLocks noChangeAspect="1"/>
          </p:cNvPicPr>
          <p:nvPr/>
        </p:nvPicPr>
        <p:blipFill>
          <a:blip r:embed="rId4"/>
          <a:stretch>
            <a:fillRect/>
          </a:stretch>
        </p:blipFill>
        <p:spPr>
          <a:xfrm>
            <a:off x="685800" y="4168292"/>
            <a:ext cx="3291840" cy="853135"/>
          </a:xfrm>
          <a:prstGeom prst="rect">
            <a:avLst/>
          </a:prstGeom>
        </p:spPr>
      </p:pic>
      <p:sp>
        <p:nvSpPr>
          <p:cNvPr id="22" name="Text 16"/>
          <p:cNvSpPr txBox="1"/>
          <p:nvPr/>
        </p:nvSpPr>
        <p:spPr>
          <a:xfrm>
            <a:off x="640080" y="5330952"/>
            <a:ext cx="310896" cy="310896"/>
          </a:xfrm>
          <a:prstGeom prst="ellipse">
            <a:avLst/>
          </a:prstGeom>
          <a:solidFill>
            <a:srgbClr val="0F4C5C"/>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3" name="Text 17"/>
          <p:cNvSpPr txBox="1"/>
          <p:nvPr/>
        </p:nvSpPr>
        <p:spPr>
          <a:xfrm>
            <a:off x="1024128" y="5321808"/>
            <a:ext cx="2999232" cy="292608"/>
          </a:xfrm>
          <a:prstGeom prst="rect">
            <a:avLst/>
          </a:prstGeom>
          <a:noFill/>
          <a:ln/>
        </p:spPr>
        <p:txBody>
          <a:bodyPr wrap="square" lIns="0" tIns="0" rIns="0" bIns="0" rtlCol="0" anchor="t"/>
          <a:lstStyle/>
          <a:p>
            <a:pPr indent="0" marL="0">
              <a:buNone/>
            </a:pPr>
            <a:r>
              <a:rPr lang="en-US" sz="1450" b="1" dirty="0">
                <a:solidFill>
                  <a:srgbClr val="0F4C5C"/>
                </a:solidFill>
                <a:latin typeface="Arial" pitchFamily="34" charset="0"/>
                <a:ea typeface="Arial" pitchFamily="34" charset="-122"/>
                <a:cs typeface="Arial" pitchFamily="34" charset="-120"/>
              </a:rPr>
              <a:t>Feature importance</a:t>
            </a:r>
            <a:endParaRPr lang="en-US" sz="1450" dirty="0"/>
          </a:p>
        </p:txBody>
      </p:sp>
      <p:sp>
        <p:nvSpPr>
          <p:cNvPr id="24" name="Text 18"/>
          <p:cNvSpPr txBox="1"/>
          <p:nvPr/>
        </p:nvSpPr>
        <p:spPr>
          <a:xfrm>
            <a:off x="1024128" y="5605272"/>
            <a:ext cx="2999232" cy="384048"/>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What does the score look at?</a:t>
            </a:r>
            <a:endParaRPr lang="en-US" sz="1250" dirty="0"/>
          </a:p>
        </p:txBody>
      </p:sp>
      <p:sp>
        <p:nvSpPr>
          <p:cNvPr id="25" name="Shape 19"/>
          <p:cNvSpPr/>
          <p:nvPr/>
        </p:nvSpPr>
        <p:spPr>
          <a:xfrm>
            <a:off x="4297680" y="3822192"/>
            <a:ext cx="3566160" cy="2194560"/>
          </a:xfrm>
          <a:prstGeom prst="roundRect">
            <a:avLst>
              <a:gd name="adj" fmla="val 2500"/>
            </a:avLst>
          </a:prstGeom>
          <a:solidFill>
            <a:srgbClr val="F4F6F8"/>
          </a:solidFill>
          <a:ln w="12700">
            <a:solidFill>
              <a:srgbClr val="C9D3DA"/>
            </a:solidFill>
            <a:prstDash val="solid"/>
          </a:ln>
        </p:spPr>
      </p:sp>
      <p:pic>
        <p:nvPicPr>
          <p:cNvPr id="26" name="Image 4" descr="Counterfactuals (what-if)">    </p:cNvPr>
          <p:cNvPicPr>
            <a:picLocks noChangeAspect="1"/>
          </p:cNvPicPr>
          <p:nvPr/>
        </p:nvPicPr>
        <p:blipFill>
          <a:blip r:embed="rId5"/>
          <a:stretch>
            <a:fillRect/>
          </a:stretch>
        </p:blipFill>
        <p:spPr>
          <a:xfrm>
            <a:off x="4434840" y="4017416"/>
            <a:ext cx="3291840" cy="1154887"/>
          </a:xfrm>
          <a:prstGeom prst="rect">
            <a:avLst/>
          </a:prstGeom>
        </p:spPr>
      </p:pic>
      <p:sp>
        <p:nvSpPr>
          <p:cNvPr id="27" name="Text 20"/>
          <p:cNvSpPr txBox="1"/>
          <p:nvPr/>
        </p:nvSpPr>
        <p:spPr>
          <a:xfrm>
            <a:off x="4389120" y="5330952"/>
            <a:ext cx="310896" cy="310896"/>
          </a:xfrm>
          <a:prstGeom prst="ellipse">
            <a:avLst/>
          </a:prstGeom>
          <a:solidFill>
            <a:srgbClr val="0F4C5C"/>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8" name="Text 21"/>
          <p:cNvSpPr txBox="1"/>
          <p:nvPr/>
        </p:nvSpPr>
        <p:spPr>
          <a:xfrm>
            <a:off x="4773168" y="5321808"/>
            <a:ext cx="2999232" cy="292608"/>
          </a:xfrm>
          <a:prstGeom prst="rect">
            <a:avLst/>
          </a:prstGeom>
          <a:noFill/>
          <a:ln/>
        </p:spPr>
        <p:txBody>
          <a:bodyPr wrap="square" lIns="0" tIns="0" rIns="0" bIns="0" rtlCol="0" anchor="t"/>
          <a:lstStyle/>
          <a:p>
            <a:pPr indent="0" marL="0">
              <a:buNone/>
            </a:pPr>
            <a:r>
              <a:rPr lang="en-US" sz="1450" b="1" dirty="0">
                <a:solidFill>
                  <a:srgbClr val="0F4C5C"/>
                </a:solidFill>
                <a:latin typeface="Arial" pitchFamily="34" charset="0"/>
                <a:ea typeface="Arial" pitchFamily="34" charset="-122"/>
                <a:cs typeface="Arial" pitchFamily="34" charset="-120"/>
              </a:rPr>
              <a:t>Counterfactuals (what-if)</a:t>
            </a:r>
            <a:endParaRPr lang="en-US" sz="1450" dirty="0"/>
          </a:p>
        </p:txBody>
      </p:sp>
      <p:sp>
        <p:nvSpPr>
          <p:cNvPr id="29" name="Text 22"/>
          <p:cNvSpPr txBox="1"/>
          <p:nvPr/>
        </p:nvSpPr>
        <p:spPr>
          <a:xfrm>
            <a:off x="4773168" y="5605272"/>
            <a:ext cx="2999232" cy="384048"/>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What would need to change to flip a decision?</a:t>
            </a:r>
            <a:endParaRPr lang="en-US" sz="1250" dirty="0"/>
          </a:p>
        </p:txBody>
      </p:sp>
      <p:sp>
        <p:nvSpPr>
          <p:cNvPr id="30" name="Shape 23"/>
          <p:cNvSpPr/>
          <p:nvPr/>
        </p:nvSpPr>
        <p:spPr>
          <a:xfrm>
            <a:off x="8046720" y="3822192"/>
            <a:ext cx="3566160" cy="2194560"/>
          </a:xfrm>
          <a:prstGeom prst="roundRect">
            <a:avLst>
              <a:gd name="adj" fmla="val 2500"/>
            </a:avLst>
          </a:prstGeom>
          <a:solidFill>
            <a:srgbClr val="F4F6F8"/>
          </a:solidFill>
          <a:ln w="12700">
            <a:solidFill>
              <a:srgbClr val="C9D3DA"/>
            </a:solidFill>
            <a:prstDash val="solid"/>
          </a:ln>
        </p:spPr>
      </p:sp>
      <p:pic>
        <p:nvPicPr>
          <p:cNvPr id="31" name="Image 5" descr="Causal analysis">    </p:cNvPr>
          <p:cNvPicPr>
            <a:picLocks noChangeAspect="1"/>
          </p:cNvPicPr>
          <p:nvPr/>
        </p:nvPicPr>
        <p:blipFill>
          <a:blip r:embed="rId6"/>
          <a:stretch>
            <a:fillRect/>
          </a:stretch>
        </p:blipFill>
        <p:spPr>
          <a:xfrm>
            <a:off x="8265262" y="3931920"/>
            <a:ext cx="3129077" cy="1325880"/>
          </a:xfrm>
          <a:prstGeom prst="rect">
            <a:avLst/>
          </a:prstGeom>
        </p:spPr>
      </p:pic>
      <p:sp>
        <p:nvSpPr>
          <p:cNvPr id="32" name="Text 24"/>
          <p:cNvSpPr txBox="1"/>
          <p:nvPr/>
        </p:nvSpPr>
        <p:spPr>
          <a:xfrm>
            <a:off x="8138160" y="5330952"/>
            <a:ext cx="310896" cy="310896"/>
          </a:xfrm>
          <a:prstGeom prst="ellipse">
            <a:avLst/>
          </a:prstGeom>
          <a:solidFill>
            <a:srgbClr val="0F4C5C"/>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3" name="Text 25"/>
          <p:cNvSpPr txBox="1"/>
          <p:nvPr/>
        </p:nvSpPr>
        <p:spPr>
          <a:xfrm>
            <a:off x="8522208" y="5321808"/>
            <a:ext cx="2999232" cy="292608"/>
          </a:xfrm>
          <a:prstGeom prst="rect">
            <a:avLst/>
          </a:prstGeom>
          <a:noFill/>
          <a:ln/>
        </p:spPr>
        <p:txBody>
          <a:bodyPr wrap="square" lIns="0" tIns="0" rIns="0" bIns="0" rtlCol="0" anchor="t"/>
          <a:lstStyle/>
          <a:p>
            <a:pPr indent="0" marL="0">
              <a:buNone/>
            </a:pPr>
            <a:r>
              <a:rPr lang="en-US" sz="1450" b="1" dirty="0">
                <a:solidFill>
                  <a:srgbClr val="0F4C5C"/>
                </a:solidFill>
                <a:latin typeface="Arial" pitchFamily="34" charset="0"/>
                <a:ea typeface="Arial" pitchFamily="34" charset="-122"/>
                <a:cs typeface="Arial" pitchFamily="34" charset="-120"/>
              </a:rPr>
              <a:t>Causal analysis</a:t>
            </a:r>
            <a:endParaRPr lang="en-US" sz="1450" dirty="0"/>
          </a:p>
        </p:txBody>
      </p:sp>
      <p:sp>
        <p:nvSpPr>
          <p:cNvPr id="34" name="Text 26"/>
          <p:cNvSpPr txBox="1"/>
          <p:nvPr/>
        </p:nvSpPr>
        <p:spPr>
          <a:xfrm>
            <a:off x="8522208" y="5605272"/>
            <a:ext cx="2999232" cy="384048"/>
          </a:xfrm>
          <a:prstGeom prst="rect">
            <a:avLst/>
          </a:prstGeom>
          <a:noFill/>
          <a:ln/>
        </p:spPr>
        <p:txBody>
          <a:bodyPr wrap="square" lIns="0" tIns="0" rIns="0" bIns="0" rtlCol="0" anchor="t"/>
          <a:lstStyle/>
          <a:p>
            <a:pPr indent="0" marL="0">
              <a:buNone/>
            </a:pPr>
            <a:r>
              <a:rPr lang="en-US" sz="1250" dirty="0">
                <a:solidFill>
                  <a:srgbClr val="1F2933"/>
                </a:solidFill>
                <a:latin typeface="Arial" pitchFamily="34" charset="0"/>
                <a:ea typeface="Arial" pitchFamily="34" charset="-122"/>
                <a:cs typeface="Arial" pitchFamily="34" charset="-120"/>
              </a:rPr>
              <a:t>Is it a cause, or just a coincidence?</a:t>
            </a:r>
            <a:endParaRPr lang="en-US" sz="1250" dirty="0"/>
          </a:p>
        </p:txBody>
      </p:sp>
      <p:sp>
        <p:nvSpPr>
          <p:cNvPr id="35" name="Text 27"/>
          <p:cNvSpPr txBox="1"/>
          <p:nvPr/>
        </p:nvSpPr>
        <p:spPr>
          <a:xfrm>
            <a:off x="548640" y="6144768"/>
            <a:ext cx="11094415" cy="457200"/>
          </a:xfrm>
          <a:prstGeom prst="rect">
            <a:avLst/>
          </a:prstGeom>
          <a:noFill/>
          <a:ln/>
        </p:spPr>
        <p:txBody>
          <a:bodyPr wrap="square" lIns="0" tIns="0" rIns="0" bIns="0" rtlCol="0" anchor="t"/>
          <a:lstStyle/>
          <a:p>
            <a:pPr indent="0" marL="0">
              <a:buNone/>
            </a:pPr>
            <a:r>
              <a:rPr lang="en-US" sz="1300" b="1" dirty="0">
                <a:solidFill>
                  <a:srgbClr val="D9480F"/>
                </a:solidFill>
                <a:latin typeface="Arial" pitchFamily="34" charset="0"/>
                <a:ea typeface="Arial" pitchFamily="34" charset="-122"/>
                <a:cs typeface="Arial" pitchFamily="34" charset="-120"/>
              </a:rPr>
              <a:t>One setting we had to change: </a:t>
            </a:r>
            <a:pPr indent="0" marL="0">
              <a:buNone/>
            </a:pPr>
            <a:r>
              <a:rPr lang="en-US" sz="1300" dirty="0">
                <a:solidFill>
                  <a:srgbClr val="1F2933"/>
                </a:solidFill>
                <a:latin typeface="Arial" pitchFamily="34" charset="0"/>
                <a:ea typeface="Arial" pitchFamily="34" charset="-122"/>
                <a:cs typeface="Arial" pitchFamily="34" charset="-120"/>
              </a:rPr>
              <a:t>the dashboard assumes a 50% cut-off. With only about 1 in 10 patients coming back, that puts almost nobody on the list, so we made every panel use our real 11.6% line.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DASHBOARD · FEATURE IMPORTANCE</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What does the score look at? Mostly one thing</a:t>
            </a:r>
            <a:endParaRPr lang="en-US" sz="2700" dirty="0"/>
          </a:p>
        </p:txBody>
      </p:sp>
      <p:sp>
        <p:nvSpPr>
          <p:cNvPr id="4" name="Text 2"/>
          <p:cNvSpPr txBox="1"/>
          <p:nvPr/>
        </p:nvSpPr>
        <p:spPr>
          <a:xfrm>
            <a:off x="548640" y="1133856"/>
            <a:ext cx="11094415" cy="310896"/>
          </a:xfrm>
          <a:prstGeom prst="rect">
            <a:avLst/>
          </a:prstGeom>
          <a:noFill/>
          <a:ln/>
        </p:spPr>
        <p:txBody>
          <a:bodyPr wrap="square" lIns="0" tIns="0" rIns="0" bIns="0" rtlCol="0" anchor="ctr"/>
          <a:lstStyle/>
          <a:p>
            <a:pPr indent="0" marL="0">
              <a:buNone/>
            </a:pPr>
            <a:r>
              <a:rPr lang="en-US" sz="1400" dirty="0">
                <a:solidFill>
                  <a:srgbClr val="56636D"/>
                </a:solidFill>
                <a:latin typeface="Arial" pitchFamily="34" charset="0"/>
                <a:ea typeface="Arial" pitchFamily="34" charset="-122"/>
                <a:cs typeface="Arial" pitchFamily="34" charset="-120"/>
              </a:rPr>
              <a:t>Each bar is one item from the chart. Taller bar = the score's answer changes more when that item changes.</a:t>
            </a:r>
            <a:endParaRPr lang="en-US" sz="1400" dirty="0"/>
          </a:p>
        </p:txBody>
      </p:sp>
      <p:sp>
        <p:nvSpPr>
          <p:cNvPr id="5" name="Shape 3"/>
          <p:cNvSpPr/>
          <p:nvPr/>
        </p:nvSpPr>
        <p:spPr>
          <a:xfrm>
            <a:off x="548640" y="1600200"/>
            <a:ext cx="8595360" cy="4225943"/>
          </a:xfrm>
          <a:prstGeom prst="rect">
            <a:avLst/>
          </a:prstGeom>
          <a:solidFill>
            <a:srgbClr val="FFFFFF"/>
          </a:solidFill>
          <a:ln w="12700">
            <a:solidFill>
              <a:srgbClr val="C9D3DA"/>
            </a:solidFill>
            <a:prstDash val="solid"/>
          </a:ln>
        </p:spPr>
      </p:sp>
      <p:pic>
        <p:nvPicPr>
          <p:cNvPr id="6" name="Image 0" descr="02 feature importance">    </p:cNvPr>
          <p:cNvPicPr>
            <a:picLocks noChangeAspect="1"/>
          </p:cNvPicPr>
          <p:nvPr/>
        </p:nvPicPr>
        <p:blipFill>
          <a:blip r:embed="rId1"/>
          <a:stretch>
            <a:fillRect/>
          </a:stretch>
        </p:blipFill>
        <p:spPr>
          <a:xfrm>
            <a:off x="594360" y="1645920"/>
            <a:ext cx="8503920" cy="4134503"/>
          </a:xfrm>
          <a:prstGeom prst="rect">
            <a:avLst/>
          </a:prstGeom>
        </p:spPr>
      </p:pic>
      <p:sp>
        <p:nvSpPr>
          <p:cNvPr id="7" name="Text 4"/>
          <p:cNvSpPr txBox="1"/>
          <p:nvPr/>
        </p:nvSpPr>
        <p:spPr>
          <a:xfrm>
            <a:off x="2602731" y="1854373"/>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3190018" y="3080629"/>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Shape 6"/>
          <p:cNvSpPr/>
          <p:nvPr/>
        </p:nvSpPr>
        <p:spPr>
          <a:xfrm>
            <a:off x="6844741" y="4250657"/>
            <a:ext cx="1003463" cy="372105"/>
          </a:xfrm>
          <a:prstGeom prst="rect">
            <a:avLst/>
          </a:prstGeom>
          <a:ln w="25400">
            <a:solidFill>
              <a:srgbClr val="D9480F"/>
            </a:solidFill>
            <a:prstDash val="solid"/>
          </a:ln>
        </p:spPr>
      </p:sp>
      <p:sp>
        <p:nvSpPr>
          <p:cNvPr id="10" name="Text 7"/>
          <p:cNvSpPr txBox="1"/>
          <p:nvPr/>
        </p:nvSpPr>
        <p:spPr>
          <a:xfrm>
            <a:off x="7181880" y="3796649"/>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1" name="Text 8"/>
          <p:cNvSpPr txBox="1"/>
          <p:nvPr/>
        </p:nvSpPr>
        <p:spPr>
          <a:xfrm>
            <a:off x="9290304" y="1691640"/>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txBox="1"/>
          <p:nvPr/>
        </p:nvSpPr>
        <p:spPr>
          <a:xfrm>
            <a:off x="9720072" y="1691640"/>
            <a:ext cx="1938528" cy="1261872"/>
          </a:xfrm>
          <a:prstGeom prst="rect">
            <a:avLst/>
          </a:prstGeom>
          <a:noFill/>
          <a:ln/>
        </p:spPr>
        <p:txBody>
          <a:bodyPr wrap="square" lIns="0" tIns="0" rIns="0" bIns="0" rtlCol="0" anchor="t"/>
          <a:lstStyle/>
          <a:p>
            <a:pPr indent="0" marL="0">
              <a:buNone/>
            </a:pPr>
            <a:r>
              <a:rPr lang="en-US" sz="1300" b="1" dirty="0">
                <a:solidFill>
                  <a:srgbClr val="0F4C5C"/>
                </a:solidFill>
                <a:latin typeface="Arial" pitchFamily="34" charset="0"/>
                <a:ea typeface="Arial" pitchFamily="34" charset="-122"/>
                <a:cs typeface="Arial" pitchFamily="34" charset="-120"/>
              </a:rPr>
              <a:t>Previous hospital stays </a:t>
            </a:r>
            <a:pPr indent="0" marL="0">
              <a:buNone/>
            </a:pPr>
            <a:r>
              <a:rPr lang="en-US" sz="1300" dirty="0">
                <a:solidFill>
                  <a:srgbClr val="1F2933"/>
                </a:solidFill>
                <a:latin typeface="Arial" pitchFamily="34" charset="0"/>
                <a:ea typeface="Arial" pitchFamily="34" charset="-122"/>
                <a:cs typeface="Arial" pitchFamily="34" charset="-120"/>
              </a:rPr>
              <a:t>(number_inpatient, its label is cut short by the dashboard): twice as tall as anything else.</a:t>
            </a:r>
            <a:endParaRPr lang="en-US" sz="1300" dirty="0"/>
          </a:p>
        </p:txBody>
      </p:sp>
      <p:sp>
        <p:nvSpPr>
          <p:cNvPr id="13" name="Text 10"/>
          <p:cNvSpPr txBox="1"/>
          <p:nvPr/>
        </p:nvSpPr>
        <p:spPr>
          <a:xfrm>
            <a:off x="9290304" y="3081528"/>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1"/>
          <p:cNvSpPr txBox="1"/>
          <p:nvPr/>
        </p:nvSpPr>
        <p:spPr>
          <a:xfrm>
            <a:off x="9720072" y="3081528"/>
            <a:ext cx="1938528" cy="667512"/>
          </a:xfrm>
          <a:prstGeom prst="rect">
            <a:avLst/>
          </a:prstGeom>
          <a:noFill/>
          <a:ln/>
        </p:spPr>
        <p:txBody>
          <a:bodyPr wrap="square" lIns="0" tIns="0" rIns="0" bIns="0" rtlCol="0" anchor="t"/>
          <a:lstStyle/>
          <a:p>
            <a:pPr indent="0" marL="0">
              <a:buNone/>
            </a:pPr>
            <a:r>
              <a:rPr lang="en-US" sz="1300" b="1" dirty="0">
                <a:solidFill>
                  <a:srgbClr val="0F4C5C"/>
                </a:solidFill>
                <a:latin typeface="Arial" pitchFamily="34" charset="0"/>
                <a:ea typeface="Arial" pitchFamily="34" charset="-122"/>
                <a:cs typeface="Arial" pitchFamily="34" charset="-120"/>
              </a:rPr>
              <a:t>Then diagnoses, </a:t>
            </a:r>
            <a:pPr indent="0" marL="0">
              <a:buNone/>
            </a:pPr>
            <a:r>
              <a:rPr lang="en-US" sz="1300" dirty="0">
                <a:solidFill>
                  <a:srgbClr val="1F2933"/>
                </a:solidFill>
                <a:latin typeface="Arial" pitchFamily="34" charset="0"/>
                <a:ea typeface="Arial" pitchFamily="34" charset="-122"/>
                <a:cs typeface="Arial" pitchFamily="34" charset="-120"/>
              </a:rPr>
              <a:t>insulin change, age and the HbA1c test (A1Cresult).</a:t>
            </a:r>
            <a:endParaRPr lang="en-US" sz="1300" dirty="0"/>
          </a:p>
        </p:txBody>
      </p:sp>
      <p:sp>
        <p:nvSpPr>
          <p:cNvPr id="15" name="Text 12"/>
          <p:cNvSpPr txBox="1"/>
          <p:nvPr/>
        </p:nvSpPr>
        <p:spPr>
          <a:xfrm>
            <a:off x="9290304" y="3877056"/>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3"/>
          <p:cNvSpPr txBox="1"/>
          <p:nvPr/>
        </p:nvSpPr>
        <p:spPr>
          <a:xfrm>
            <a:off x="9720072" y="3877056"/>
            <a:ext cx="1938528" cy="667512"/>
          </a:xfrm>
          <a:prstGeom prst="rect">
            <a:avLst/>
          </a:prstGeom>
          <a:noFill/>
          <a:ln/>
        </p:spPr>
        <p:txBody>
          <a:bodyPr wrap="square" lIns="0" tIns="0" rIns="0" bIns="0" rtlCol="0" anchor="t"/>
          <a:lstStyle/>
          <a:p>
            <a:pPr indent="0" marL="0">
              <a:buNone/>
            </a:pPr>
            <a:r>
              <a:rPr lang="en-US" sz="1300" b="1" dirty="0">
                <a:solidFill>
                  <a:srgbClr val="0F4C5C"/>
                </a:solidFill>
                <a:latin typeface="Arial" pitchFamily="34" charset="0"/>
                <a:ea typeface="Arial" pitchFamily="34" charset="-122"/>
                <a:cs typeface="Arial" pitchFamily="34" charset="-120"/>
              </a:rPr>
              <a:t>Gender and race: </a:t>
            </a:r>
            <a:pPr indent="0" marL="0">
              <a:buNone/>
            </a:pPr>
            <a:r>
              <a:rPr lang="en-US" sz="1300" dirty="0">
                <a:solidFill>
                  <a:srgbClr val="1F2933"/>
                </a:solidFill>
                <a:latin typeface="Arial" pitchFamily="34" charset="0"/>
                <a:ea typeface="Arial" pitchFamily="34" charset="-122"/>
                <a:cs typeface="Arial" pitchFamily="34" charset="-120"/>
              </a:rPr>
              <a:t>small bars. Small, but not zero.</a:t>
            </a:r>
            <a:endParaRPr lang="en-US" sz="1300" dirty="0"/>
          </a:p>
        </p:txBody>
      </p:sp>
      <p:sp>
        <p:nvSpPr>
          <p:cNvPr id="17" name="Text 14"/>
          <p:cNvSpPr txBox="1"/>
          <p:nvPr/>
        </p:nvSpPr>
        <p:spPr>
          <a:xfrm>
            <a:off x="9281160" y="5257800"/>
            <a:ext cx="2377440" cy="640080"/>
          </a:xfrm>
          <a:prstGeom prst="rect">
            <a:avLst/>
          </a:prstGeom>
          <a:noFill/>
          <a:ln/>
        </p:spPr>
        <p:txBody>
          <a:bodyPr wrap="square" lIns="0" tIns="0" rIns="0" bIns="0" rtlCol="0" anchor="t"/>
          <a:lstStyle/>
          <a:p>
            <a:pPr indent="0" marL="0">
              <a:buNone/>
            </a:pPr>
            <a:r>
              <a:rPr lang="en-US" sz="1200" dirty="0">
                <a:solidFill>
                  <a:srgbClr val="56636D"/>
                </a:solidFill>
                <a:latin typeface="Arial" pitchFamily="34" charset="0"/>
                <a:ea typeface="Arial" pitchFamily="34" charset="-122"/>
                <a:cs typeface="Arial" pitchFamily="34" charset="-120"/>
              </a:rPr>
              <a:t>The other small bars hardly matter; no need to read every name.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DASHBOARD · ERROR ANALYSIS · TREE MAP</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Where does the score go wrong? The error tree</a:t>
            </a:r>
            <a:endParaRPr lang="en-US" sz="2700" dirty="0"/>
          </a:p>
        </p:txBody>
      </p:sp>
      <p:sp>
        <p:nvSpPr>
          <p:cNvPr id="4" name="Text 2"/>
          <p:cNvSpPr txBox="1"/>
          <p:nvPr/>
        </p:nvSpPr>
        <p:spPr>
          <a:xfrm>
            <a:off x="548640" y="1133856"/>
            <a:ext cx="11094415" cy="310896"/>
          </a:xfrm>
          <a:prstGeom prst="rect">
            <a:avLst/>
          </a:prstGeom>
          <a:noFill/>
          <a:ln/>
        </p:spPr>
        <p:txBody>
          <a:bodyPr wrap="square" lIns="0" tIns="0" rIns="0" bIns="0" rtlCol="0" anchor="ctr"/>
          <a:lstStyle/>
          <a:p>
            <a:pPr indent="0" marL="0">
              <a:buNone/>
            </a:pPr>
            <a:r>
              <a:rPr lang="en-US" sz="1400" dirty="0">
                <a:solidFill>
                  <a:srgbClr val="56636D"/>
                </a:solidFill>
                <a:latin typeface="Arial" pitchFamily="34" charset="0"/>
                <a:ea typeface="Arial" pitchFamily="34" charset="-122"/>
                <a:cs typeface="Arial" pitchFamily="34" charset="-120"/>
              </a:rPr>
              <a:t>The tool keeps splitting patients into groups, hunting for groups where our decisions are often wrong.</a:t>
            </a:r>
            <a:endParaRPr lang="en-US" sz="1400" dirty="0"/>
          </a:p>
        </p:txBody>
      </p:sp>
      <p:sp>
        <p:nvSpPr>
          <p:cNvPr id="5" name="Shape 3"/>
          <p:cNvSpPr/>
          <p:nvPr/>
        </p:nvSpPr>
        <p:spPr>
          <a:xfrm>
            <a:off x="548640" y="1600200"/>
            <a:ext cx="8229600" cy="4213920"/>
          </a:xfrm>
          <a:prstGeom prst="rect">
            <a:avLst/>
          </a:prstGeom>
          <a:solidFill>
            <a:srgbClr val="FFFFFF"/>
          </a:solidFill>
          <a:ln w="12700">
            <a:solidFill>
              <a:srgbClr val="C9D3DA"/>
            </a:solidFill>
            <a:prstDash val="solid"/>
          </a:ln>
        </p:spPr>
      </p:sp>
      <p:pic>
        <p:nvPicPr>
          <p:cNvPr id="6" name="Image 0" descr="03 error tree">    </p:cNvPr>
          <p:cNvPicPr>
            <a:picLocks noChangeAspect="1"/>
          </p:cNvPicPr>
          <p:nvPr/>
        </p:nvPicPr>
        <p:blipFill>
          <a:blip r:embed="rId1"/>
          <a:stretch>
            <a:fillRect/>
          </a:stretch>
        </p:blipFill>
        <p:spPr>
          <a:xfrm>
            <a:off x="594360" y="1645920"/>
            <a:ext cx="8138160" cy="4122480"/>
          </a:xfrm>
          <a:prstGeom prst="rect">
            <a:avLst/>
          </a:prstGeom>
        </p:spPr>
      </p:pic>
      <p:sp>
        <p:nvSpPr>
          <p:cNvPr id="7" name="Text 4"/>
          <p:cNvSpPr txBox="1"/>
          <p:nvPr/>
        </p:nvSpPr>
        <p:spPr>
          <a:xfrm>
            <a:off x="3807332" y="1940286"/>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6546130" y="2495640"/>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Text 6"/>
          <p:cNvSpPr txBox="1"/>
          <p:nvPr/>
        </p:nvSpPr>
        <p:spPr>
          <a:xfrm>
            <a:off x="7325995" y="3008275"/>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0" name="Text 7"/>
          <p:cNvSpPr txBox="1"/>
          <p:nvPr/>
        </p:nvSpPr>
        <p:spPr>
          <a:xfrm>
            <a:off x="6654221" y="5144254"/>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1" name="Text 8"/>
          <p:cNvSpPr txBox="1"/>
          <p:nvPr/>
        </p:nvSpPr>
        <p:spPr>
          <a:xfrm>
            <a:off x="8924544" y="1645920"/>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txBox="1"/>
          <p:nvPr/>
        </p:nvSpPr>
        <p:spPr>
          <a:xfrm>
            <a:off x="9354312" y="1645920"/>
            <a:ext cx="2286000" cy="1025652"/>
          </a:xfrm>
          <a:prstGeom prst="rect">
            <a:avLst/>
          </a:prstGeom>
          <a:noFill/>
          <a:ln/>
        </p:spPr>
        <p:txBody>
          <a:bodyPr wrap="square" lIns="0" tIns="0" rIns="0" bIns="0" rtlCol="0" anchor="t"/>
          <a:lstStyle/>
          <a:p>
            <a:pPr indent="0" marL="0">
              <a:buNone/>
            </a:pPr>
            <a:r>
              <a:rPr lang="en-US" sz="1250" b="1" dirty="0">
                <a:solidFill>
                  <a:srgbClr val="0F4C5C"/>
                </a:solidFill>
                <a:latin typeface="Arial" pitchFamily="34" charset="0"/>
                <a:ea typeface="Arial" pitchFamily="34" charset="-122"/>
                <a:cs typeface="Arial" pitchFamily="34" charset="-120"/>
              </a:rPr>
              <a:t>Top circle = all 1,999 patients. </a:t>
            </a:r>
            <a:pPr indent="0" marL="0">
              <a:buNone/>
            </a:pPr>
            <a:r>
              <a:rPr lang="en-US" sz="1250" dirty="0">
                <a:solidFill>
                  <a:srgbClr val="1F2933"/>
                </a:solidFill>
                <a:latin typeface="Arial" pitchFamily="34" charset="0"/>
                <a:ea typeface="Arial" pitchFamily="34" charset="-122"/>
                <a:cs typeface="Arial" pitchFamily="34" charset="-120"/>
              </a:rPr>
              <a:t>449/1999 = 449 wrong decisions: a call for nothing or a missed patient (22%).</a:t>
            </a:r>
            <a:endParaRPr lang="en-US" sz="1250" dirty="0"/>
          </a:p>
        </p:txBody>
      </p:sp>
      <p:sp>
        <p:nvSpPr>
          <p:cNvPr id="13" name="Text 10"/>
          <p:cNvSpPr txBox="1"/>
          <p:nvPr/>
        </p:nvSpPr>
        <p:spPr>
          <a:xfrm>
            <a:off x="8924544" y="2799588"/>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1"/>
          <p:cNvSpPr txBox="1"/>
          <p:nvPr/>
        </p:nvSpPr>
        <p:spPr>
          <a:xfrm>
            <a:off x="9354312" y="2799588"/>
            <a:ext cx="2286000" cy="835152"/>
          </a:xfrm>
          <a:prstGeom prst="rect">
            <a:avLst/>
          </a:prstGeom>
          <a:noFill/>
          <a:ln/>
        </p:spPr>
        <p:txBody>
          <a:bodyPr wrap="square" lIns="0" tIns="0" rIns="0" bIns="0" rtlCol="0" anchor="t"/>
          <a:lstStyle/>
          <a:p>
            <a:pPr indent="0" marL="0">
              <a:buNone/>
            </a:pPr>
            <a:r>
              <a:rPr lang="en-US" sz="1250" b="1" dirty="0">
                <a:solidFill>
                  <a:srgbClr val="0F4C5C"/>
                </a:solidFill>
                <a:latin typeface="Arial" pitchFamily="34" charset="0"/>
                <a:ea typeface="Arial" pitchFamily="34" charset="-122"/>
                <a:cs typeface="Arial" pitchFamily="34" charset="-120"/>
              </a:rPr>
              <a:t>Each branch is a yes/no question </a:t>
            </a:r>
            <a:pPr indent="0" marL="0">
              <a:buNone/>
            </a:pPr>
            <a:r>
              <a:rPr lang="en-US" sz="1250" dirty="0">
                <a:solidFill>
                  <a:srgbClr val="1F2933"/>
                </a:solidFill>
                <a:latin typeface="Arial" pitchFamily="34" charset="0"/>
                <a:ea typeface="Arial" pitchFamily="34" charset="-122"/>
                <a:cs typeface="Arial" pitchFamily="34" charset="-120"/>
              </a:rPr>
              <a:t>the tool picked itself. "number_inpatient &gt; 0.00" = any previous stay.</a:t>
            </a:r>
            <a:endParaRPr lang="en-US" sz="1250" dirty="0"/>
          </a:p>
        </p:txBody>
      </p:sp>
      <p:sp>
        <p:nvSpPr>
          <p:cNvPr id="15" name="Text 12"/>
          <p:cNvSpPr txBox="1"/>
          <p:nvPr/>
        </p:nvSpPr>
        <p:spPr>
          <a:xfrm>
            <a:off x="8924544" y="3762756"/>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6" name="Text 13"/>
          <p:cNvSpPr txBox="1"/>
          <p:nvPr/>
        </p:nvSpPr>
        <p:spPr>
          <a:xfrm>
            <a:off x="9354312" y="3762756"/>
            <a:ext cx="2286000" cy="835152"/>
          </a:xfrm>
          <a:prstGeom prst="rect">
            <a:avLst/>
          </a:prstGeom>
          <a:noFill/>
          <a:ln/>
        </p:spPr>
        <p:txBody>
          <a:bodyPr wrap="square" lIns="0" tIns="0" rIns="0" bIns="0" rtlCol="0" anchor="t"/>
          <a:lstStyle/>
          <a:p>
            <a:pPr indent="0" marL="0">
              <a:buNone/>
            </a:pPr>
            <a:r>
              <a:rPr lang="en-US" sz="1250" b="1" dirty="0">
                <a:solidFill>
                  <a:srgbClr val="0F4C5C"/>
                </a:solidFill>
                <a:latin typeface="Arial" pitchFamily="34" charset="0"/>
                <a:ea typeface="Arial" pitchFamily="34" charset="-122"/>
                <a:cs typeface="Arial" pitchFamily="34" charset="-120"/>
              </a:rPr>
              <a:t>Redder circle </a:t>
            </a:r>
            <a:pPr indent="0" marL="0">
              <a:buNone/>
            </a:pPr>
            <a:r>
              <a:rPr lang="en-US" sz="1250" dirty="0">
                <a:solidFill>
                  <a:srgbClr val="1F2933"/>
                </a:solidFill>
                <a:latin typeface="Arial" pitchFamily="34" charset="0"/>
                <a:ea typeface="Arial" pitchFamily="34" charset="-122"/>
                <a:cs typeface="Arial" pitchFamily="34" charset="-120"/>
              </a:rPr>
              <a:t>= wrong more often in that group. Fuller circle = more of all our mistakes sit there.</a:t>
            </a:r>
            <a:endParaRPr lang="en-US" sz="1250" dirty="0"/>
          </a:p>
        </p:txBody>
      </p:sp>
      <p:sp>
        <p:nvSpPr>
          <p:cNvPr id="17" name="Text 14"/>
          <p:cNvSpPr txBox="1"/>
          <p:nvPr/>
        </p:nvSpPr>
        <p:spPr>
          <a:xfrm>
            <a:off x="8924544" y="4725924"/>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8" name="Text 15"/>
          <p:cNvSpPr txBox="1"/>
          <p:nvPr/>
        </p:nvSpPr>
        <p:spPr>
          <a:xfrm>
            <a:off x="9354312" y="4725924"/>
            <a:ext cx="2286000" cy="835152"/>
          </a:xfrm>
          <a:prstGeom prst="rect">
            <a:avLst/>
          </a:prstGeom>
          <a:noFill/>
          <a:ln/>
        </p:spPr>
        <p:txBody>
          <a:bodyPr wrap="square" lIns="0" tIns="0" rIns="0" bIns="0" rtlCol="0" anchor="t"/>
          <a:lstStyle/>
          <a:p>
            <a:pPr indent="0" marL="0">
              <a:buNone/>
            </a:pPr>
            <a:r>
              <a:rPr lang="en-US" sz="1250" b="1" dirty="0">
                <a:solidFill>
                  <a:srgbClr val="0F4C5C"/>
                </a:solidFill>
                <a:latin typeface="Arial" pitchFamily="34" charset="0"/>
                <a:ea typeface="Arial" pitchFamily="34" charset="-122"/>
                <a:cs typeface="Arial" pitchFamily="34" charset="-120"/>
              </a:rPr>
              <a:t>Worst group: 2 to 6 previous stays. </a:t>
            </a:r>
            <a:pPr indent="0" marL="0">
              <a:buNone/>
            </a:pPr>
            <a:r>
              <a:rPr lang="en-US" sz="1250" dirty="0">
                <a:solidFill>
                  <a:srgbClr val="1F2933"/>
                </a:solidFill>
                <a:latin typeface="Arial" pitchFamily="34" charset="0"/>
                <a:ea typeface="Arial" pitchFamily="34" charset="-122"/>
                <a:cs typeface="Arial" pitchFamily="34" charset="-120"/>
              </a:rPr>
              <a:t>178 of 267 wrong (67% against 22%), 40% of all our mistakes.</a:t>
            </a:r>
            <a:endParaRPr lang="en-US" sz="1250" dirty="0"/>
          </a:p>
        </p:txBody>
      </p:sp>
      <p:sp>
        <p:nvSpPr>
          <p:cNvPr id="19" name="Text 16"/>
          <p:cNvSpPr txBox="1"/>
          <p:nvPr/>
        </p:nvSpPr>
        <p:spPr>
          <a:xfrm>
            <a:off x="548640" y="5897880"/>
            <a:ext cx="8183880" cy="566928"/>
          </a:xfrm>
          <a:prstGeom prst="rect">
            <a:avLst/>
          </a:prstGeom>
          <a:noFill/>
          <a:ln/>
        </p:spPr>
        <p:txBody>
          <a:bodyPr wrap="square" lIns="0" tIns="0" rIns="0" bIns="0" rtlCol="0" anchor="t"/>
          <a:lstStyle/>
          <a:p>
            <a:pPr indent="0" marL="0">
              <a:buNone/>
            </a:pPr>
            <a:r>
              <a:rPr lang="en-US" sz="1300" b="1" dirty="0">
                <a:solidFill>
                  <a:srgbClr val="0F4C5C"/>
                </a:solidFill>
                <a:latin typeface="Arial" pitchFamily="34" charset="0"/>
                <a:ea typeface="Arial" pitchFamily="34" charset="-122"/>
                <a:cs typeface="Arial" pitchFamily="34" charset="-120"/>
              </a:rPr>
              <a:t>In the dashboard, </a:t>
            </a:r>
            <a:pPr indent="0" marL="0">
              <a:buNone/>
            </a:pPr>
            <a:r>
              <a:rPr lang="en-US" sz="1300" dirty="0">
                <a:solidFill>
                  <a:srgbClr val="1F2933"/>
                </a:solidFill>
                <a:latin typeface="Arial" pitchFamily="34" charset="0"/>
                <a:ea typeface="Arial" pitchFamily="34" charset="-122"/>
                <a:cs typeface="Arial" pitchFamily="34" charset="-120"/>
              </a:rPr>
              <a:t>clicking a circle shows its numbers and the exact rule on the right: here 267 patients, 89 right, 178 wrong.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FINDING 1 · MODEL OVERVIEW · PATIENT GROUPS</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Finding 1: regular patients get called on autopilot</a:t>
            </a:r>
            <a:endParaRPr lang="en-US" sz="2700" dirty="0"/>
          </a:p>
        </p:txBody>
      </p:sp>
      <p:sp>
        <p:nvSpPr>
          <p:cNvPr id="4" name="Shape 2"/>
          <p:cNvSpPr/>
          <p:nvPr/>
        </p:nvSpPr>
        <p:spPr>
          <a:xfrm>
            <a:off x="548640" y="1472184"/>
            <a:ext cx="11094415" cy="3068187"/>
          </a:xfrm>
          <a:prstGeom prst="rect">
            <a:avLst/>
          </a:prstGeom>
          <a:solidFill>
            <a:srgbClr val="FFFFFF"/>
          </a:solidFill>
          <a:ln w="12700">
            <a:solidFill>
              <a:srgbClr val="C9D3DA"/>
            </a:solidFill>
            <a:prstDash val="solid"/>
          </a:ln>
        </p:spPr>
      </p:sp>
      <p:pic>
        <p:nvPicPr>
          <p:cNvPr id="5" name="Image 0" descr="04 patient groups table">    </p:cNvPr>
          <p:cNvPicPr>
            <a:picLocks noChangeAspect="1"/>
          </p:cNvPicPr>
          <p:nvPr/>
        </p:nvPicPr>
        <p:blipFill>
          <a:blip r:embed="rId1"/>
          <a:stretch>
            <a:fillRect/>
          </a:stretch>
        </p:blipFill>
        <p:spPr>
          <a:xfrm>
            <a:off x="594360" y="1517904"/>
            <a:ext cx="11002975" cy="2976747"/>
          </a:xfrm>
          <a:prstGeom prst="rect">
            <a:avLst/>
          </a:prstGeom>
        </p:spPr>
      </p:pic>
      <p:sp>
        <p:nvSpPr>
          <p:cNvPr id="6" name="Shape 3"/>
          <p:cNvSpPr/>
          <p:nvPr/>
        </p:nvSpPr>
        <p:spPr>
          <a:xfrm>
            <a:off x="726396" y="1959098"/>
            <a:ext cx="10760910" cy="575500"/>
          </a:xfrm>
          <a:prstGeom prst="rect">
            <a:avLst/>
          </a:prstGeom>
          <a:ln w="31750">
            <a:solidFill>
              <a:srgbClr val="2B7A85"/>
            </a:solidFill>
            <a:prstDash val="solid"/>
          </a:ln>
        </p:spPr>
      </p:sp>
      <p:sp>
        <p:nvSpPr>
          <p:cNvPr id="7" name="Shape 4"/>
          <p:cNvSpPr/>
          <p:nvPr/>
        </p:nvSpPr>
        <p:spPr>
          <a:xfrm>
            <a:off x="726396" y="3863812"/>
            <a:ext cx="10760910" cy="569546"/>
          </a:xfrm>
          <a:prstGeom prst="rect">
            <a:avLst/>
          </a:prstGeom>
          <a:ln w="38100">
            <a:solidFill>
              <a:srgbClr val="D9480F"/>
            </a:solidFill>
            <a:prstDash val="solid"/>
          </a:ln>
        </p:spPr>
      </p:sp>
      <p:sp>
        <p:nvSpPr>
          <p:cNvPr id="8" name="Text 5"/>
          <p:cNvSpPr txBox="1"/>
          <p:nvPr/>
        </p:nvSpPr>
        <p:spPr>
          <a:xfrm>
            <a:off x="10655916" y="1133856"/>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6"/>
          <p:cNvSpPr txBox="1"/>
          <p:nvPr/>
        </p:nvSpPr>
        <p:spPr>
          <a:xfrm>
            <a:off x="7948260" y="1133856"/>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7"/>
          <p:cNvSpPr txBox="1"/>
          <p:nvPr/>
        </p:nvSpPr>
        <p:spPr>
          <a:xfrm>
            <a:off x="9302088" y="1133856"/>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1" name="Shape 8"/>
          <p:cNvSpPr/>
          <p:nvPr/>
        </p:nvSpPr>
        <p:spPr>
          <a:xfrm>
            <a:off x="548640" y="4645152"/>
            <a:ext cx="3566160" cy="1920240"/>
          </a:xfrm>
          <a:prstGeom prst="roundRect">
            <a:avLst>
              <a:gd name="adj" fmla="val 3810"/>
            </a:avLst>
          </a:prstGeom>
          <a:solidFill>
            <a:srgbClr val="F4F6F8"/>
          </a:solidFill>
          <a:ln w="12700">
            <a:solidFill>
              <a:srgbClr val="F4F6F8"/>
            </a:solidFill>
            <a:prstDash val="solid"/>
          </a:ln>
        </p:spPr>
      </p:sp>
      <p:sp>
        <p:nvSpPr>
          <p:cNvPr id="12" name="Text 9"/>
          <p:cNvSpPr txBox="1"/>
          <p:nvPr/>
        </p:nvSpPr>
        <p:spPr>
          <a:xfrm>
            <a:off x="731520" y="4773168"/>
            <a:ext cx="3200400" cy="310896"/>
          </a:xfrm>
          <a:prstGeom prst="rect">
            <a:avLst/>
          </a:prstGeom>
          <a:noFill/>
          <a:ln/>
        </p:spPr>
        <p:txBody>
          <a:bodyPr wrap="square" lIns="0" tIns="0" rIns="0" bIns="0" rtlCol="0" anchor="t"/>
          <a:lstStyle/>
          <a:p>
            <a:pPr indent="0" marL="0">
              <a:buNone/>
            </a:pPr>
            <a:r>
              <a:rPr lang="en-US" sz="1400" b="1" dirty="0">
                <a:solidFill>
                  <a:srgbClr val="0F4C5C"/>
                </a:solidFill>
                <a:latin typeface="Arial" pitchFamily="34" charset="0"/>
                <a:ea typeface="Arial" pitchFamily="34" charset="-122"/>
                <a:cs typeface="Arial" pitchFamily="34" charset="-120"/>
              </a:rPr>
              <a:t>Reading the columns</a:t>
            </a:r>
            <a:endParaRPr lang="en-US" sz="1400" dirty="0"/>
          </a:p>
        </p:txBody>
      </p:sp>
      <p:sp>
        <p:nvSpPr>
          <p:cNvPr id="13" name="Text 10"/>
          <p:cNvSpPr txBox="1"/>
          <p:nvPr/>
        </p:nvSpPr>
        <p:spPr>
          <a:xfrm>
            <a:off x="731520" y="5120640"/>
            <a:ext cx="3200400" cy="1335024"/>
          </a:xfrm>
          <a:prstGeom prst="rect">
            <a:avLst/>
          </a:prstGeom>
          <a:noFill/>
          <a:ln/>
        </p:spPr>
        <p:txBody>
          <a:bodyPr wrap="square" lIns="0" tIns="0" rIns="0" bIns="0" rtlCol="0" anchor="t"/>
          <a:lstStyle/>
          <a:p>
            <a:pPr indent="0" marL="0">
              <a:spcAft>
                <a:spcPts val="400"/>
              </a:spcAft>
              <a:buNone/>
            </a:pPr>
            <a:r>
              <a:rPr lang="en-US" sz="1250" b="1" dirty="0">
                <a:solidFill>
                  <a:srgbClr val="D9480F"/>
                </a:solidFill>
                <a:latin typeface="Arial" pitchFamily="34" charset="0"/>
                <a:ea typeface="Arial" pitchFamily="34" charset="-122"/>
                <a:cs typeface="Arial" pitchFamily="34" charset="-120"/>
              </a:rPr>
              <a:t>1  Selection rate: </a:t>
            </a:r>
            <a:pPr indent="0" marL="0">
              <a:spcAft>
                <a:spcPts val="400"/>
              </a:spcAft>
              <a:buNone/>
            </a:pPr>
            <a:r>
              <a:rPr lang="en-US" sz="1250" dirty="0">
                <a:solidFill>
                  <a:srgbClr val="1F2933"/>
                </a:solidFill>
                <a:latin typeface="Arial" pitchFamily="34" charset="0"/>
                <a:ea typeface="Arial" pitchFamily="34" charset="-122"/>
                <a:cs typeface="Arial" pitchFamily="34" charset="-120"/>
              </a:rPr>
              <a:t>share of the group we put on the call list.</a:t>
            </a:r>
            <a:endParaRPr lang="en-US" sz="1250" dirty="0"/>
          </a:p>
          <a:p>
            <a:pPr indent="0" marL="0">
              <a:spcAft>
                <a:spcPts val="400"/>
              </a:spcAft>
              <a:buNone/>
            </a:pPr>
            <a:r>
              <a:rPr lang="en-US" sz="1250" b="1" dirty="0">
                <a:solidFill>
                  <a:srgbClr val="D9480F"/>
                </a:solidFill>
                <a:latin typeface="Arial" pitchFamily="34" charset="0"/>
                <a:ea typeface="Arial" pitchFamily="34" charset="-122"/>
                <a:cs typeface="Arial" pitchFamily="34" charset="-120"/>
              </a:rPr>
              <a:t>2  False positive rate: </a:t>
            </a:r>
            <a:pPr indent="0" marL="0">
              <a:spcAft>
                <a:spcPts val="400"/>
              </a:spcAft>
              <a:buNone/>
            </a:pPr>
            <a:r>
              <a:rPr lang="en-US" sz="1250" dirty="0">
                <a:solidFill>
                  <a:srgbClr val="1F2933"/>
                </a:solidFill>
                <a:latin typeface="Arial" pitchFamily="34" charset="0"/>
                <a:ea typeface="Arial" pitchFamily="34" charset="-122"/>
                <a:cs typeface="Arial" pitchFamily="34" charset="-120"/>
              </a:rPr>
              <a:t>of those who did NOT come back, share we called anyway.</a:t>
            </a:r>
            <a:endParaRPr lang="en-US" sz="1250" dirty="0"/>
          </a:p>
          <a:p>
            <a:pPr indent="0" marL="0">
              <a:spcAft>
                <a:spcPts val="400"/>
              </a:spcAft>
              <a:buNone/>
            </a:pPr>
            <a:r>
              <a:rPr lang="en-US" sz="1250" b="1" dirty="0">
                <a:solidFill>
                  <a:srgbClr val="D9480F"/>
                </a:solidFill>
                <a:latin typeface="Arial" pitchFamily="34" charset="0"/>
                <a:ea typeface="Arial" pitchFamily="34" charset="-122"/>
                <a:cs typeface="Arial" pitchFamily="34" charset="-120"/>
              </a:rPr>
              <a:t>3  False negative rate: </a:t>
            </a:r>
            <a:pPr indent="0" marL="0">
              <a:spcAft>
                <a:spcPts val="400"/>
              </a:spcAft>
              <a:buNone/>
            </a:pPr>
            <a:r>
              <a:rPr lang="en-US" sz="1250" dirty="0">
                <a:solidFill>
                  <a:srgbClr val="1F2933"/>
                </a:solidFill>
                <a:latin typeface="Arial" pitchFamily="34" charset="0"/>
                <a:ea typeface="Arial" pitchFamily="34" charset="-122"/>
                <a:cs typeface="Arial" pitchFamily="34" charset="-120"/>
              </a:rPr>
              <a:t>of those who DID come back, share we missed.</a:t>
            </a:r>
            <a:endParaRPr lang="en-US" sz="1250" dirty="0"/>
          </a:p>
        </p:txBody>
      </p:sp>
      <p:sp>
        <p:nvSpPr>
          <p:cNvPr id="14" name="Shape 11"/>
          <p:cNvSpPr/>
          <p:nvPr/>
        </p:nvSpPr>
        <p:spPr>
          <a:xfrm>
            <a:off x="4297680" y="4645152"/>
            <a:ext cx="3566160" cy="1920240"/>
          </a:xfrm>
          <a:prstGeom prst="roundRect">
            <a:avLst>
              <a:gd name="adj" fmla="val 3810"/>
            </a:avLst>
          </a:prstGeom>
          <a:solidFill>
            <a:srgbClr val="E6F2F1"/>
          </a:solidFill>
          <a:ln w="12700">
            <a:solidFill>
              <a:srgbClr val="E6F2F1"/>
            </a:solidFill>
            <a:prstDash val="solid"/>
          </a:ln>
        </p:spPr>
      </p:sp>
      <p:sp>
        <p:nvSpPr>
          <p:cNvPr id="15" name="Text 12"/>
          <p:cNvSpPr txBox="1"/>
          <p:nvPr/>
        </p:nvSpPr>
        <p:spPr>
          <a:xfrm>
            <a:off x="4480560" y="4773168"/>
            <a:ext cx="3200400" cy="310896"/>
          </a:xfrm>
          <a:prstGeom prst="rect">
            <a:avLst/>
          </a:prstGeom>
          <a:noFill/>
          <a:ln/>
        </p:spPr>
        <p:txBody>
          <a:bodyPr wrap="square" lIns="0" tIns="0" rIns="0" bIns="0" rtlCol="0" anchor="t"/>
          <a:lstStyle/>
          <a:p>
            <a:pPr indent="0" marL="0">
              <a:buNone/>
            </a:pPr>
            <a:r>
              <a:rPr lang="en-US" sz="1400" b="1" dirty="0">
                <a:solidFill>
                  <a:srgbClr val="0F4C5C"/>
                </a:solidFill>
                <a:latin typeface="Arial" pitchFamily="34" charset="0"/>
                <a:ea typeface="Arial" pitchFamily="34" charset="-122"/>
                <a:cs typeface="Arial" pitchFamily="34" charset="-120"/>
              </a:rPr>
              <a:t>What it shows</a:t>
            </a:r>
            <a:endParaRPr lang="en-US" sz="1400" dirty="0"/>
          </a:p>
        </p:txBody>
      </p:sp>
      <p:sp>
        <p:nvSpPr>
          <p:cNvPr id="16" name="Text 13"/>
          <p:cNvSpPr txBox="1"/>
          <p:nvPr/>
        </p:nvSpPr>
        <p:spPr>
          <a:xfrm>
            <a:off x="4480560" y="5120640"/>
            <a:ext cx="3200400" cy="1335024"/>
          </a:xfrm>
          <a:prstGeom prst="rect">
            <a:avLst/>
          </a:prstGeom>
          <a:noFill/>
          <a:ln/>
        </p:spPr>
        <p:txBody>
          <a:bodyPr wrap="square" lIns="0" tIns="0" rIns="0" bIns="0" rtlCol="0" anchor="t"/>
          <a:lstStyle/>
          <a:p>
            <a:pPr indent="0" marL="0">
              <a:spcAft>
                <a:spcPts val="400"/>
              </a:spcAft>
              <a:buNone/>
            </a:pPr>
            <a:r>
              <a:rPr lang="en-US" sz="1250" b="1" dirty="0">
                <a:solidFill>
                  <a:srgbClr val="1F2933"/>
                </a:solidFill>
                <a:latin typeface="Arial" pitchFamily="34" charset="0"/>
                <a:ea typeface="Arial" pitchFamily="34" charset="-122"/>
                <a:cs typeface="Arial" pitchFamily="34" charset="-120"/>
              </a:rPr>
              <a:t>2 to 6 previous stays: </a:t>
            </a:r>
            <a:pPr indent="0" marL="0">
              <a:spcAft>
                <a:spcPts val="400"/>
              </a:spcAft>
              <a:buNone/>
            </a:pPr>
            <a:r>
              <a:rPr lang="en-US" sz="1250" dirty="0">
                <a:solidFill>
                  <a:srgbClr val="1F2933"/>
                </a:solidFill>
                <a:latin typeface="Arial" pitchFamily="34" charset="0"/>
                <a:ea typeface="Arial" pitchFamily="34" charset="-122"/>
                <a:cs typeface="Arial" pitchFamily="34" charset="-120"/>
              </a:rPr>
              <a:t>86% called (everyone: 20%).</a:t>
            </a:r>
            <a:endParaRPr lang="en-US" sz="1250" dirty="0"/>
          </a:p>
          <a:p>
            <a:pPr indent="0" marL="0">
              <a:spcAft>
                <a:spcPts val="400"/>
              </a:spcAft>
              <a:buNone/>
            </a:pPr>
            <a:r>
              <a:rPr lang="en-US" sz="1250" b="1" dirty="0">
                <a:solidFill>
                  <a:srgbClr val="1F2933"/>
                </a:solidFill>
                <a:latin typeface="Arial" pitchFamily="34" charset="0"/>
                <a:ea typeface="Arial" pitchFamily="34" charset="-122"/>
                <a:cs typeface="Arial" pitchFamily="34" charset="-120"/>
              </a:rPr>
              <a:t>3 in 4 of those calls are for nothing </a:t>
            </a:r>
            <a:pPr indent="0" marL="0">
              <a:spcAft>
                <a:spcPts val="400"/>
              </a:spcAft>
              <a:buNone/>
            </a:pPr>
            <a:r>
              <a:rPr lang="en-US" sz="1250" dirty="0">
                <a:solidFill>
                  <a:srgbClr val="1F2933"/>
                </a:solidFill>
                <a:latin typeface="Arial" pitchFamily="34" charset="0"/>
                <a:ea typeface="Arial" pitchFamily="34" charset="-122"/>
                <a:cs typeface="Arial" pitchFamily="34" charset="-120"/>
              </a:rPr>
              <a:t>(170 of 230).</a:t>
            </a:r>
            <a:endParaRPr lang="en-US" sz="1250" dirty="0"/>
          </a:p>
          <a:p>
            <a:pPr indent="0" marL="0">
              <a:spcAft>
                <a:spcPts val="400"/>
              </a:spcAft>
              <a:buNone/>
            </a:pPr>
            <a:r>
              <a:rPr lang="en-US" sz="1250" dirty="0">
                <a:solidFill>
                  <a:srgbClr val="1F2933"/>
                </a:solidFill>
                <a:latin typeface="Arial" pitchFamily="34" charset="0"/>
                <a:ea typeface="Arial" pitchFamily="34" charset="-122"/>
                <a:cs typeface="Arial" pitchFamily="34" charset="-120"/>
              </a:rPr>
              <a:t>They do come back more (25% vs 11%), but the score can't tell which ones will.</a:t>
            </a:r>
            <a:endParaRPr lang="en-US" sz="1250" dirty="0"/>
          </a:p>
        </p:txBody>
      </p:sp>
      <p:sp>
        <p:nvSpPr>
          <p:cNvPr id="17" name="Shape 14"/>
          <p:cNvSpPr/>
          <p:nvPr/>
        </p:nvSpPr>
        <p:spPr>
          <a:xfrm>
            <a:off x="8046720" y="4645152"/>
            <a:ext cx="3566160" cy="1920240"/>
          </a:xfrm>
          <a:prstGeom prst="roundRect">
            <a:avLst>
              <a:gd name="adj" fmla="val 3810"/>
            </a:avLst>
          </a:prstGeom>
          <a:solidFill>
            <a:srgbClr val="FDEEE6"/>
          </a:solidFill>
          <a:ln w="12700">
            <a:solidFill>
              <a:srgbClr val="FDEEE6"/>
            </a:solidFill>
            <a:prstDash val="solid"/>
          </a:ln>
        </p:spPr>
      </p:sp>
      <p:sp>
        <p:nvSpPr>
          <p:cNvPr id="18" name="Text 15"/>
          <p:cNvSpPr txBox="1"/>
          <p:nvPr/>
        </p:nvSpPr>
        <p:spPr>
          <a:xfrm>
            <a:off x="8229600" y="4773168"/>
            <a:ext cx="3200400" cy="310896"/>
          </a:xfrm>
          <a:prstGeom prst="rect">
            <a:avLst/>
          </a:prstGeom>
          <a:noFill/>
          <a:ln/>
        </p:spPr>
        <p:txBody>
          <a:bodyPr wrap="square" lIns="0" tIns="0" rIns="0" bIns="0" rtlCol="0" anchor="t"/>
          <a:lstStyle/>
          <a:p>
            <a:pPr indent="0" marL="0">
              <a:buNone/>
            </a:pPr>
            <a:r>
              <a:rPr lang="en-US" sz="1400" b="1" dirty="0">
                <a:solidFill>
                  <a:srgbClr val="D9480F"/>
                </a:solidFill>
                <a:latin typeface="Arial" pitchFamily="34" charset="0"/>
                <a:ea typeface="Arial" pitchFamily="34" charset="-122"/>
                <a:cs typeface="Arial" pitchFamily="34" charset="-120"/>
              </a:rPr>
              <a:t>What we tell the hospital</a:t>
            </a:r>
            <a:endParaRPr lang="en-US" sz="1400" dirty="0"/>
          </a:p>
        </p:txBody>
      </p:sp>
      <p:sp>
        <p:nvSpPr>
          <p:cNvPr id="19" name="Text 16"/>
          <p:cNvSpPr txBox="1"/>
          <p:nvPr/>
        </p:nvSpPr>
        <p:spPr>
          <a:xfrm>
            <a:off x="8229600" y="5120640"/>
            <a:ext cx="3200400" cy="1335024"/>
          </a:xfrm>
          <a:prstGeom prst="rect">
            <a:avLst/>
          </a:prstGeom>
          <a:noFill/>
          <a:ln/>
        </p:spPr>
        <p:txBody>
          <a:bodyPr wrap="square" lIns="0" tIns="0" rIns="0" bIns="0" rtlCol="0" anchor="t"/>
          <a:lstStyle/>
          <a:p>
            <a:pPr indent="0" marL="0">
              <a:spcAft>
                <a:spcPts val="400"/>
              </a:spcAft>
              <a:buNone/>
            </a:pPr>
            <a:r>
              <a:rPr lang="en-US" sz="1250" dirty="0">
                <a:solidFill>
                  <a:srgbClr val="1F2933"/>
                </a:solidFill>
                <a:latin typeface="Arial" pitchFamily="34" charset="0"/>
                <a:ea typeface="Arial" pitchFamily="34" charset="-122"/>
                <a:cs typeface="Arial" pitchFamily="34" charset="-120"/>
              </a:rPr>
              <a:t>For patients with 2 or more previous stays, a nurse decides whether to call, after reading why they were admitted.</a:t>
            </a:r>
            <a:pPr indent="0" marL="0">
              <a:spcAft>
                <a:spcPts val="400"/>
              </a:spcAft>
              <a:buNone/>
            </a:pPr>
            <a:r>
              <a:rPr lang="en-US" sz="1250" dirty="0">
                <a:solidFill>
                  <a:srgbClr val="1F2933"/>
                </a:solidFill>
                <a:latin typeface="Arial" pitchFamily="34" charset="0"/>
                <a:ea typeface="Arial" pitchFamily="34" charset="-122"/>
                <a:cs typeface="Arial" pitchFamily="34" charset="-120"/>
              </a:rPr>
              <a:t> </a:t>
            </a:r>
            <a:endParaRPr lang="en-US" sz="1250" dirty="0"/>
          </a:p>
          <a:p>
            <a:pPr indent="0" marL="0">
              <a:spcAft>
                <a:spcPts val="400"/>
              </a:spcAft>
              <a:buNone/>
            </a:pPr>
            <a:r>
              <a:rPr lang="en-US" sz="1250" dirty="0">
                <a:solidFill>
                  <a:srgbClr val="1F2933"/>
                </a:solidFill>
                <a:latin typeface="Arial" pitchFamily="34" charset="0"/>
                <a:ea typeface="Arial" pitchFamily="34" charset="-122"/>
                <a:cs typeface="Arial" pitchFamily="34" charset="-120"/>
              </a:rPr>
              <a:t>Ask the data team to add the reason for admission to the next version of the score.</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DASHBOARD · MODEL OVERVIEW · FEATURE COHORTS: AGE</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Finding 2: the same table, split by age</a:t>
            </a:r>
            <a:endParaRPr lang="en-US" sz="2700" dirty="0"/>
          </a:p>
        </p:txBody>
      </p:sp>
      <p:sp>
        <p:nvSpPr>
          <p:cNvPr id="4" name="Shape 2"/>
          <p:cNvSpPr/>
          <p:nvPr/>
        </p:nvSpPr>
        <p:spPr>
          <a:xfrm>
            <a:off x="548640" y="1472184"/>
            <a:ext cx="8229600" cy="4062626"/>
          </a:xfrm>
          <a:prstGeom prst="rect">
            <a:avLst/>
          </a:prstGeom>
          <a:solidFill>
            <a:srgbClr val="FFFFFF"/>
          </a:solidFill>
          <a:ln w="12700">
            <a:solidFill>
              <a:srgbClr val="C9D3DA"/>
            </a:solidFill>
            <a:prstDash val="solid"/>
          </a:ln>
        </p:spPr>
      </p:sp>
      <p:pic>
        <p:nvPicPr>
          <p:cNvPr id="5" name="Image 0" descr="05 age groups table">    </p:cNvPr>
          <p:cNvPicPr>
            <a:picLocks noChangeAspect="1"/>
          </p:cNvPicPr>
          <p:nvPr/>
        </p:nvPicPr>
        <p:blipFill>
          <a:blip r:embed="rId1"/>
          <a:stretch>
            <a:fillRect/>
          </a:stretch>
        </p:blipFill>
        <p:spPr>
          <a:xfrm>
            <a:off x="594360" y="1517904"/>
            <a:ext cx="8138160" cy="3971186"/>
          </a:xfrm>
          <a:prstGeom prst="rect">
            <a:avLst/>
          </a:prstGeom>
        </p:spPr>
      </p:pic>
      <p:sp>
        <p:nvSpPr>
          <p:cNvPr id="6" name="Shape 3"/>
          <p:cNvSpPr/>
          <p:nvPr/>
        </p:nvSpPr>
        <p:spPr>
          <a:xfrm>
            <a:off x="692018" y="3621956"/>
            <a:ext cx="7959120" cy="396382"/>
          </a:xfrm>
          <a:prstGeom prst="rect">
            <a:avLst/>
          </a:prstGeom>
          <a:ln w="38100">
            <a:solidFill>
              <a:srgbClr val="D9480F"/>
            </a:solidFill>
            <a:prstDash val="solid"/>
          </a:ln>
        </p:spPr>
      </p:sp>
      <p:sp>
        <p:nvSpPr>
          <p:cNvPr id="7" name="Shape 4"/>
          <p:cNvSpPr/>
          <p:nvPr/>
        </p:nvSpPr>
        <p:spPr>
          <a:xfrm>
            <a:off x="692018" y="4510029"/>
            <a:ext cx="7959120" cy="396382"/>
          </a:xfrm>
          <a:prstGeom prst="rect">
            <a:avLst/>
          </a:prstGeom>
          <a:ln w="38100">
            <a:solidFill>
              <a:srgbClr val="D9480F"/>
            </a:solidFill>
            <a:prstDash val="solid"/>
          </a:ln>
        </p:spPr>
      </p:sp>
      <p:sp>
        <p:nvSpPr>
          <p:cNvPr id="8" name="Shape 5"/>
          <p:cNvSpPr/>
          <p:nvPr/>
        </p:nvSpPr>
        <p:spPr>
          <a:xfrm>
            <a:off x="692018" y="2733883"/>
            <a:ext cx="7959120" cy="396382"/>
          </a:xfrm>
          <a:prstGeom prst="rect">
            <a:avLst/>
          </a:prstGeom>
          <a:ln w="31750">
            <a:solidFill>
              <a:srgbClr val="2B7A85"/>
            </a:solidFill>
            <a:prstDash val="solid"/>
          </a:ln>
        </p:spPr>
      </p:sp>
      <p:sp>
        <p:nvSpPr>
          <p:cNvPr id="9" name="Text 6"/>
          <p:cNvSpPr txBox="1"/>
          <p:nvPr/>
        </p:nvSpPr>
        <p:spPr>
          <a:xfrm>
            <a:off x="7423690" y="3655555"/>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7"/>
          <p:cNvSpPr txBox="1"/>
          <p:nvPr/>
        </p:nvSpPr>
        <p:spPr>
          <a:xfrm>
            <a:off x="5421019" y="3655555"/>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8"/>
          <p:cNvSpPr txBox="1"/>
          <p:nvPr/>
        </p:nvSpPr>
        <p:spPr>
          <a:xfrm>
            <a:off x="6992026" y="1133856"/>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2" name="Text 9"/>
          <p:cNvSpPr txBox="1"/>
          <p:nvPr/>
        </p:nvSpPr>
        <p:spPr>
          <a:xfrm>
            <a:off x="8924544" y="1325880"/>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3" name="Text 10"/>
          <p:cNvSpPr txBox="1"/>
          <p:nvPr/>
        </p:nvSpPr>
        <p:spPr>
          <a:xfrm>
            <a:off x="9354312" y="1325880"/>
            <a:ext cx="2286000" cy="835152"/>
          </a:xfrm>
          <a:prstGeom prst="rect">
            <a:avLst/>
          </a:prstGeom>
          <a:noFill/>
          <a:ln/>
        </p:spPr>
        <p:txBody>
          <a:bodyPr wrap="square" lIns="0" tIns="0" rIns="0" bIns="0" rtlCol="0" anchor="t"/>
          <a:lstStyle/>
          <a:p>
            <a:pPr indent="0" marL="0">
              <a:buNone/>
            </a:pPr>
            <a:r>
              <a:rPr lang="en-US" sz="1250" b="1" dirty="0">
                <a:solidFill>
                  <a:srgbClr val="0F4C5C"/>
                </a:solidFill>
                <a:latin typeface="Arial" pitchFamily="34" charset="0"/>
                <a:ea typeface="Arial" pitchFamily="34" charset="-122"/>
                <a:cs typeface="Arial" pitchFamily="34" charset="-120"/>
              </a:rPr>
              <a:t>Called: </a:t>
            </a:r>
            <a:pPr indent="0" marL="0">
              <a:buNone/>
            </a:pPr>
            <a:r>
              <a:rPr lang="en-US" sz="1250" dirty="0">
                <a:solidFill>
                  <a:srgbClr val="1F2933"/>
                </a:solidFill>
                <a:latin typeface="Arial" pitchFamily="34" charset="0"/>
                <a:ea typeface="Arial" pitchFamily="34" charset="-122"/>
                <a:cs typeface="Arial" pitchFamily="34" charset="-120"/>
              </a:rPr>
              <a:t>33% of patients aged 80–89 and 46% of over-90s, against 12% of people in their 50s.</a:t>
            </a:r>
            <a:endParaRPr lang="en-US" sz="1250" dirty="0"/>
          </a:p>
        </p:txBody>
      </p:sp>
      <p:sp>
        <p:nvSpPr>
          <p:cNvPr id="14" name="Text 11"/>
          <p:cNvSpPr txBox="1"/>
          <p:nvPr/>
        </p:nvSpPr>
        <p:spPr>
          <a:xfrm>
            <a:off x="8924544" y="2289048"/>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2"/>
          <p:cNvSpPr txBox="1"/>
          <p:nvPr/>
        </p:nvSpPr>
        <p:spPr>
          <a:xfrm>
            <a:off x="9354312" y="2289048"/>
            <a:ext cx="2286000" cy="835152"/>
          </a:xfrm>
          <a:prstGeom prst="rect">
            <a:avLst/>
          </a:prstGeom>
          <a:noFill/>
          <a:ln/>
        </p:spPr>
        <p:txBody>
          <a:bodyPr wrap="square" lIns="0" tIns="0" rIns="0" bIns="0" rtlCol="0" anchor="t"/>
          <a:lstStyle/>
          <a:p>
            <a:pPr indent="0" marL="0">
              <a:buNone/>
            </a:pPr>
            <a:r>
              <a:rPr lang="en-US" sz="1250" b="1" dirty="0">
                <a:solidFill>
                  <a:srgbClr val="0F4C5C"/>
                </a:solidFill>
                <a:latin typeface="Arial" pitchFamily="34" charset="0"/>
                <a:ea typeface="Arial" pitchFamily="34" charset="-122"/>
                <a:cs typeface="Arial" pitchFamily="34" charset="-120"/>
              </a:rPr>
              <a:t>Called for nothing: </a:t>
            </a:r>
            <a:pPr indent="0" marL="0">
              <a:buNone/>
            </a:pPr>
            <a:r>
              <a:rPr lang="en-US" sz="1250" dirty="0">
                <a:solidFill>
                  <a:srgbClr val="1F2933"/>
                </a:solidFill>
                <a:latin typeface="Arial" pitchFamily="34" charset="0"/>
                <a:ea typeface="Arial" pitchFamily="34" charset="-122"/>
                <a:cs typeface="Arial" pitchFamily="34" charset="-120"/>
              </a:rPr>
              <a:t>of the 80–89s who were fine, 32% got a call anyway (50s: 10%).</a:t>
            </a:r>
            <a:endParaRPr lang="en-US" sz="1250" dirty="0"/>
          </a:p>
        </p:txBody>
      </p:sp>
      <p:sp>
        <p:nvSpPr>
          <p:cNvPr id="16" name="Text 13"/>
          <p:cNvSpPr txBox="1"/>
          <p:nvPr/>
        </p:nvSpPr>
        <p:spPr>
          <a:xfrm>
            <a:off x="8924544" y="3252216"/>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4"/>
          <p:cNvSpPr txBox="1"/>
          <p:nvPr/>
        </p:nvSpPr>
        <p:spPr>
          <a:xfrm>
            <a:off x="9354312" y="3252216"/>
            <a:ext cx="2286000" cy="835152"/>
          </a:xfrm>
          <a:prstGeom prst="rect">
            <a:avLst/>
          </a:prstGeom>
          <a:noFill/>
          <a:ln/>
        </p:spPr>
        <p:txBody>
          <a:bodyPr wrap="square" lIns="0" tIns="0" rIns="0" bIns="0" rtlCol="0" anchor="t"/>
          <a:lstStyle/>
          <a:p>
            <a:pPr indent="0" marL="0">
              <a:buNone/>
            </a:pPr>
            <a:r>
              <a:rPr lang="en-US" sz="1250" b="1" dirty="0">
                <a:solidFill>
                  <a:srgbClr val="0F4C5C"/>
                </a:solidFill>
                <a:latin typeface="Arial" pitchFamily="34" charset="0"/>
                <a:ea typeface="Arial" pitchFamily="34" charset="-122"/>
                <a:cs typeface="Arial" pitchFamily="34" charset="-120"/>
              </a:rPr>
              <a:t>Missed: </a:t>
            </a:r>
            <a:pPr indent="0" marL="0">
              <a:buNone/>
            </a:pPr>
            <a:r>
              <a:rPr lang="en-US" sz="1250" dirty="0">
                <a:solidFill>
                  <a:srgbClr val="1F2933"/>
                </a:solidFill>
                <a:latin typeface="Arial" pitchFamily="34" charset="0"/>
                <a:ea typeface="Arial" pitchFamily="34" charset="-122"/>
                <a:cs typeface="Arial" pitchFamily="34" charset="-120"/>
              </a:rPr>
              <a:t>about half to two-thirds of those who come back, at every age. Misses do not climb with age.</a:t>
            </a:r>
            <a:endParaRPr lang="en-US" sz="1250" dirty="0"/>
          </a:p>
        </p:txBody>
      </p:sp>
      <p:sp>
        <p:nvSpPr>
          <p:cNvPr id="18" name="Text 15"/>
          <p:cNvSpPr txBox="1"/>
          <p:nvPr/>
        </p:nvSpPr>
        <p:spPr>
          <a:xfrm>
            <a:off x="548640" y="5669280"/>
            <a:ext cx="8183880" cy="640080"/>
          </a:xfrm>
          <a:prstGeom prst="rect">
            <a:avLst/>
          </a:prstGeom>
          <a:noFill/>
          <a:ln/>
        </p:spPr>
        <p:txBody>
          <a:bodyPr wrap="square" lIns="0" tIns="0" rIns="0" bIns="0" rtlCol="0" anchor="t"/>
          <a:lstStyle/>
          <a:p>
            <a:pPr indent="0" marL="0">
              <a:buNone/>
            </a:pPr>
            <a:r>
              <a:rPr lang="en-US" sz="1300" b="1" dirty="0">
                <a:solidFill>
                  <a:srgbClr val="0F4C5C"/>
                </a:solidFill>
                <a:latin typeface="Arial" pitchFamily="34" charset="0"/>
                <a:ea typeface="Arial" pitchFamily="34" charset="-122"/>
                <a:cs typeface="Arial" pitchFamily="34" charset="-120"/>
              </a:rPr>
              <a:t>How to read: </a:t>
            </a:r>
            <a:pPr indent="0" marL="0">
              <a:buNone/>
            </a:pPr>
            <a:r>
              <a:rPr lang="en-US" sz="1300" dirty="0">
                <a:solidFill>
                  <a:srgbClr val="1F2933"/>
                </a:solidFill>
                <a:latin typeface="Arial" pitchFamily="34" charset="0"/>
                <a:ea typeface="Arial" pitchFamily="34" charset="-122"/>
                <a:cs typeface="Arial" pitchFamily="34" charset="-120"/>
              </a:rPr>
              <a:t>one row per age group, sorted by size, not by age. Same columns as before; darker blue = higher number in that column.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FINDING 2 · WHO GETS THE EXTRA CALLS</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Finding 2: twice the calls for over-80s, same return rate</a:t>
            </a:r>
            <a:endParaRPr lang="en-US" sz="2700" dirty="0"/>
          </a:p>
        </p:txBody>
      </p:sp>
      <p:graphicFrame>
        <p:nvGraphicFramePr>
          <p:cNvPr id="4" name="Chart 0" descr=""/>
          <p:cNvGraphicFramePr/>
          <p:nvPr/>
        </p:nvGraphicFramePr>
        <p:xfrm>
          <a:off x="548640" y="1325880"/>
          <a:ext cx="6858000" cy="46634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548640" y="6053328"/>
            <a:ext cx="6858000" cy="411480"/>
          </a:xfrm>
          <a:prstGeom prst="rect">
            <a:avLst/>
          </a:prstGeom>
          <a:noFill/>
          <a:ln/>
        </p:spPr>
        <p:txBody>
          <a:bodyPr wrap="square" lIns="0" tIns="0" rIns="0" bIns="0" rtlCol="0" anchor="t"/>
          <a:lstStyle/>
          <a:p>
            <a:pPr indent="0" marL="0">
              <a:buNone/>
            </a:pPr>
            <a:r>
              <a:rPr lang="en-US" sz="1150" dirty="0">
                <a:solidFill>
                  <a:srgbClr val="56636D"/>
                </a:solidFill>
                <a:latin typeface="Arial" pitchFamily="34" charset="0"/>
                <a:ea typeface="Arial" pitchFamily="34" charset="-122"/>
                <a:cs typeface="Arial" pitchFamily="34" charset="-120"/>
              </a:rPr>
              <a:t>Dashboard sample of 1,999 patients. Under-40s left out (only 106 patients); over-90s are only 35 patients.</a:t>
            </a:r>
            <a:endParaRPr lang="en-US" sz="1150" dirty="0"/>
          </a:p>
        </p:txBody>
      </p:sp>
      <p:sp>
        <p:nvSpPr>
          <p:cNvPr id="6" name="Shape 3"/>
          <p:cNvSpPr/>
          <p:nvPr/>
        </p:nvSpPr>
        <p:spPr>
          <a:xfrm>
            <a:off x="7635240" y="1325880"/>
            <a:ext cx="4005072" cy="1737360"/>
          </a:xfrm>
          <a:prstGeom prst="roundRect">
            <a:avLst>
              <a:gd name="adj" fmla="val 4211"/>
            </a:avLst>
          </a:prstGeom>
          <a:solidFill>
            <a:srgbClr val="E6F2F1"/>
          </a:solidFill>
          <a:ln w="12700">
            <a:solidFill>
              <a:srgbClr val="E6F2F1"/>
            </a:solidFill>
            <a:prstDash val="solid"/>
          </a:ln>
        </p:spPr>
      </p:sp>
      <p:sp>
        <p:nvSpPr>
          <p:cNvPr id="7" name="Text 4"/>
          <p:cNvSpPr txBox="1"/>
          <p:nvPr/>
        </p:nvSpPr>
        <p:spPr>
          <a:xfrm>
            <a:off x="7818120" y="1453896"/>
            <a:ext cx="3639312" cy="310896"/>
          </a:xfrm>
          <a:prstGeom prst="rect">
            <a:avLst/>
          </a:prstGeom>
          <a:noFill/>
          <a:ln/>
        </p:spPr>
        <p:txBody>
          <a:bodyPr wrap="square" lIns="0" tIns="0" rIns="0" bIns="0" rtlCol="0" anchor="t"/>
          <a:lstStyle/>
          <a:p>
            <a:pPr indent="0" marL="0">
              <a:buNone/>
            </a:pPr>
            <a:r>
              <a:rPr lang="en-US" sz="1400" b="1" dirty="0">
                <a:solidFill>
                  <a:srgbClr val="0F4C5C"/>
                </a:solidFill>
                <a:latin typeface="Arial" pitchFamily="34" charset="0"/>
                <a:ea typeface="Arial" pitchFamily="34" charset="-122"/>
                <a:cs typeface="Arial" pitchFamily="34" charset="-120"/>
              </a:rPr>
              <a:t>What it shows</a:t>
            </a:r>
            <a:endParaRPr lang="en-US" sz="1400" dirty="0"/>
          </a:p>
        </p:txBody>
      </p:sp>
      <p:sp>
        <p:nvSpPr>
          <p:cNvPr id="8" name="Text 5"/>
          <p:cNvSpPr txBox="1"/>
          <p:nvPr/>
        </p:nvSpPr>
        <p:spPr>
          <a:xfrm>
            <a:off x="7818120" y="1801368"/>
            <a:ext cx="3639312" cy="1152144"/>
          </a:xfrm>
          <a:prstGeom prst="rect">
            <a:avLst/>
          </a:prstGeom>
          <a:noFill/>
          <a:ln/>
        </p:spPr>
        <p:txBody>
          <a:bodyPr wrap="square" lIns="0" tIns="0" rIns="0" bIns="0" rtlCol="0" anchor="t"/>
          <a:lstStyle/>
          <a:p>
            <a:pPr indent="0" marL="0">
              <a:spcAft>
                <a:spcPts val="400"/>
              </a:spcAft>
              <a:buNone/>
            </a:pPr>
            <a:r>
              <a:rPr lang="en-US" sz="1250" b="1" dirty="0">
                <a:solidFill>
                  <a:srgbClr val="1F2933"/>
                </a:solidFill>
                <a:latin typeface="Arial" pitchFamily="34" charset="0"/>
                <a:ea typeface="Arial" pitchFamily="34" charset="-122"/>
                <a:cs typeface="Arial" pitchFamily="34" charset="-120"/>
              </a:rPr>
              <a:t>Over 80: </a:t>
            </a:r>
            <a:pPr indent="0" marL="0">
              <a:spcAft>
                <a:spcPts val="400"/>
              </a:spcAft>
              <a:buNone/>
            </a:pPr>
            <a:r>
              <a:rPr lang="en-US" sz="1250" dirty="0">
                <a:solidFill>
                  <a:srgbClr val="1F2933"/>
                </a:solidFill>
                <a:latin typeface="Arial" pitchFamily="34" charset="0"/>
                <a:ea typeface="Arial" pitchFamily="34" charset="-122"/>
                <a:cs typeface="Arial" pitchFamily="34" charset="-120"/>
              </a:rPr>
              <a:t>35% called, 10% came back.</a:t>
            </a:r>
            <a:endParaRPr lang="en-US" sz="1250" dirty="0"/>
          </a:p>
          <a:p>
            <a:pPr indent="0" marL="0">
              <a:spcAft>
                <a:spcPts val="400"/>
              </a:spcAft>
              <a:buNone/>
            </a:pPr>
            <a:r>
              <a:rPr lang="en-US" sz="1250" b="1" dirty="0">
                <a:solidFill>
                  <a:srgbClr val="1F2933"/>
                </a:solidFill>
                <a:latin typeface="Arial" pitchFamily="34" charset="0"/>
                <a:ea typeface="Arial" pitchFamily="34" charset="-122"/>
                <a:cs typeface="Arial" pitchFamily="34" charset="-120"/>
              </a:rPr>
              <a:t>Age 50–79: </a:t>
            </a:r>
            <a:pPr indent="0" marL="0">
              <a:spcAft>
                <a:spcPts val="400"/>
              </a:spcAft>
              <a:buNone/>
            </a:pPr>
            <a:r>
              <a:rPr lang="en-US" sz="1250" dirty="0">
                <a:solidFill>
                  <a:srgbClr val="1F2933"/>
                </a:solidFill>
                <a:latin typeface="Arial" pitchFamily="34" charset="0"/>
                <a:ea typeface="Arial" pitchFamily="34" charset="-122"/>
                <a:cs typeface="Arial" pitchFamily="34" charset="-120"/>
              </a:rPr>
              <a:t>16% called, 10% came back.</a:t>
            </a:r>
            <a:endParaRPr lang="en-US" sz="1250" dirty="0"/>
          </a:p>
          <a:p>
            <a:pPr indent="0" marL="0">
              <a:spcAft>
                <a:spcPts val="400"/>
              </a:spcAft>
              <a:buNone/>
            </a:pPr>
            <a:r>
              <a:rPr lang="en-US" sz="1250" dirty="0">
                <a:solidFill>
                  <a:srgbClr val="1F2933"/>
                </a:solidFill>
                <a:latin typeface="Arial" pitchFamily="34" charset="0"/>
                <a:ea typeface="Arial" pitchFamily="34" charset="-122"/>
                <a:cs typeface="Arial" pitchFamily="34" charset="-120"/>
              </a:rPr>
              <a:t>Only 1 in 8 calls to an over-80 reaches someone who returns (1 in 5 for ages 50–79).</a:t>
            </a:r>
            <a:endParaRPr lang="en-US" sz="1250" dirty="0"/>
          </a:p>
        </p:txBody>
      </p:sp>
      <p:sp>
        <p:nvSpPr>
          <p:cNvPr id="9" name="Shape 6"/>
          <p:cNvSpPr/>
          <p:nvPr/>
        </p:nvSpPr>
        <p:spPr>
          <a:xfrm>
            <a:off x="7635240" y="3200400"/>
            <a:ext cx="4005072" cy="1234440"/>
          </a:xfrm>
          <a:prstGeom prst="roundRect">
            <a:avLst>
              <a:gd name="adj" fmla="val 5926"/>
            </a:avLst>
          </a:prstGeom>
          <a:solidFill>
            <a:srgbClr val="F4F6F8"/>
          </a:solidFill>
          <a:ln w="12700">
            <a:solidFill>
              <a:srgbClr val="F4F6F8"/>
            </a:solidFill>
            <a:prstDash val="solid"/>
          </a:ln>
        </p:spPr>
      </p:sp>
      <p:sp>
        <p:nvSpPr>
          <p:cNvPr id="10" name="Text 7"/>
          <p:cNvSpPr txBox="1"/>
          <p:nvPr/>
        </p:nvSpPr>
        <p:spPr>
          <a:xfrm>
            <a:off x="7818120" y="3328416"/>
            <a:ext cx="3639312" cy="310896"/>
          </a:xfrm>
          <a:prstGeom prst="rect">
            <a:avLst/>
          </a:prstGeom>
          <a:noFill/>
          <a:ln/>
        </p:spPr>
        <p:txBody>
          <a:bodyPr wrap="square" lIns="0" tIns="0" rIns="0" bIns="0" rtlCol="0" anchor="t"/>
          <a:lstStyle/>
          <a:p>
            <a:pPr indent="0" marL="0">
              <a:buNone/>
            </a:pPr>
            <a:r>
              <a:rPr lang="en-US" sz="1400" b="1" dirty="0">
                <a:solidFill>
                  <a:srgbClr val="0F4C5C"/>
                </a:solidFill>
                <a:latin typeface="Arial" pitchFamily="34" charset="0"/>
                <a:ea typeface="Arial" pitchFamily="34" charset="-122"/>
                <a:cs typeface="Arial" pitchFamily="34" charset="-120"/>
              </a:rPr>
              <a:t>Why</a:t>
            </a:r>
            <a:endParaRPr lang="en-US" sz="1400" dirty="0"/>
          </a:p>
        </p:txBody>
      </p:sp>
      <p:sp>
        <p:nvSpPr>
          <p:cNvPr id="11" name="Text 8"/>
          <p:cNvSpPr txBox="1"/>
          <p:nvPr/>
        </p:nvSpPr>
        <p:spPr>
          <a:xfrm>
            <a:off x="7818120" y="3675888"/>
            <a:ext cx="3639312" cy="649224"/>
          </a:xfrm>
          <a:prstGeom prst="rect">
            <a:avLst/>
          </a:prstGeom>
          <a:noFill/>
          <a:ln/>
        </p:spPr>
        <p:txBody>
          <a:bodyPr wrap="square" lIns="0" tIns="0" rIns="0" bIns="0" rtlCol="0" anchor="t"/>
          <a:lstStyle/>
          <a:p>
            <a:pPr indent="0" marL="0">
              <a:spcAft>
                <a:spcPts val="400"/>
              </a:spcAft>
              <a:buNone/>
            </a:pPr>
            <a:r>
              <a:rPr lang="en-US" sz="1250" dirty="0">
                <a:solidFill>
                  <a:srgbClr val="1F2933"/>
                </a:solidFill>
                <a:latin typeface="Arial" pitchFamily="34" charset="0"/>
                <a:ea typeface="Arial" pitchFamily="34" charset="-122"/>
                <a:cs typeface="Arial" pitchFamily="34" charset="-120"/>
              </a:rPr>
              <a:t>The score adds a little risk for very old age and for every extra diagnosis, and over-80s have more diagnoses on file.</a:t>
            </a:r>
            <a:endParaRPr lang="en-US" sz="1250" dirty="0"/>
          </a:p>
        </p:txBody>
      </p:sp>
      <p:sp>
        <p:nvSpPr>
          <p:cNvPr id="12" name="Shape 9"/>
          <p:cNvSpPr/>
          <p:nvPr/>
        </p:nvSpPr>
        <p:spPr>
          <a:xfrm>
            <a:off x="7635240" y="4572000"/>
            <a:ext cx="4005072" cy="1874520"/>
          </a:xfrm>
          <a:prstGeom prst="roundRect">
            <a:avLst>
              <a:gd name="adj" fmla="val 3902"/>
            </a:avLst>
          </a:prstGeom>
          <a:solidFill>
            <a:srgbClr val="FDEEE6"/>
          </a:solidFill>
          <a:ln w="12700">
            <a:solidFill>
              <a:srgbClr val="FDEEE6"/>
            </a:solidFill>
            <a:prstDash val="solid"/>
          </a:ln>
        </p:spPr>
      </p:sp>
      <p:sp>
        <p:nvSpPr>
          <p:cNvPr id="13" name="Text 10"/>
          <p:cNvSpPr txBox="1"/>
          <p:nvPr/>
        </p:nvSpPr>
        <p:spPr>
          <a:xfrm>
            <a:off x="7818120" y="4700016"/>
            <a:ext cx="3639312" cy="310896"/>
          </a:xfrm>
          <a:prstGeom prst="rect">
            <a:avLst/>
          </a:prstGeom>
          <a:noFill/>
          <a:ln/>
        </p:spPr>
        <p:txBody>
          <a:bodyPr wrap="square" lIns="0" tIns="0" rIns="0" bIns="0" rtlCol="0" anchor="t"/>
          <a:lstStyle/>
          <a:p>
            <a:pPr indent="0" marL="0">
              <a:buNone/>
            </a:pPr>
            <a:r>
              <a:rPr lang="en-US" sz="1400" b="1" dirty="0">
                <a:solidFill>
                  <a:srgbClr val="D9480F"/>
                </a:solidFill>
                <a:latin typeface="Arial" pitchFamily="34" charset="0"/>
                <a:ea typeface="Arial" pitchFamily="34" charset="-122"/>
                <a:cs typeface="Arial" pitchFamily="34" charset="-120"/>
              </a:rPr>
              <a:t>What we tell the hospital</a:t>
            </a:r>
            <a:endParaRPr lang="en-US" sz="1400" dirty="0"/>
          </a:p>
        </p:txBody>
      </p:sp>
      <p:sp>
        <p:nvSpPr>
          <p:cNvPr id="14" name="Text 11"/>
          <p:cNvSpPr txBox="1"/>
          <p:nvPr/>
        </p:nvSpPr>
        <p:spPr>
          <a:xfrm>
            <a:off x="7818120" y="5047488"/>
            <a:ext cx="3639312" cy="1289304"/>
          </a:xfrm>
          <a:prstGeom prst="rect">
            <a:avLst/>
          </a:prstGeom>
          <a:noFill/>
          <a:ln/>
        </p:spPr>
        <p:txBody>
          <a:bodyPr wrap="square" lIns="0" tIns="0" rIns="0" bIns="0" rtlCol="0" anchor="t"/>
          <a:lstStyle/>
          <a:p>
            <a:pPr indent="0" marL="0">
              <a:spcAft>
                <a:spcPts val="400"/>
              </a:spcAft>
              <a:buNone/>
            </a:pPr>
            <a:r>
              <a:rPr lang="en-US" sz="1250" dirty="0">
                <a:solidFill>
                  <a:srgbClr val="1F2933"/>
                </a:solidFill>
                <a:latin typeface="Arial" pitchFamily="34" charset="0"/>
                <a:ea typeface="Arial" pitchFamily="34" charset="-122"/>
                <a:cs typeface="Arial" pitchFamily="34" charset="-120"/>
              </a:rPr>
              <a:t>Keep one rule for everyone, but a clinician checks the over-80 names before calls go out: is a call useful, or a burden for a frail patient and their carer? </a:t>
            </a:r>
            <a:pPr indent="0" marL="0">
              <a:spcAft>
                <a:spcPts val="400"/>
              </a:spcAft>
              <a:buNone/>
            </a:pPr>
            <a:r>
              <a:rPr lang="en-US" sz="1250" dirty="0">
                <a:solidFill>
                  <a:srgbClr val="1F2933"/>
                </a:solidFill>
                <a:latin typeface="Arial" pitchFamily="34" charset="0"/>
                <a:ea typeface="Arial" pitchFamily="34" charset="-122"/>
                <a:cs typeface="Arial" pitchFamily="34" charset="-120"/>
              </a:rPr>
              <a:t>No separate age cut-off without an ethics review.</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DASHBOARD · COUNTERFACTUALS (WHAT-IF)</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What would have to change? The what-if tool</a:t>
            </a:r>
            <a:endParaRPr lang="en-US" sz="2700" dirty="0"/>
          </a:p>
        </p:txBody>
      </p:sp>
      <p:sp>
        <p:nvSpPr>
          <p:cNvPr id="4" name="Text 2"/>
          <p:cNvSpPr txBox="1"/>
          <p:nvPr/>
        </p:nvSpPr>
        <p:spPr>
          <a:xfrm>
            <a:off x="548640" y="1133856"/>
            <a:ext cx="11094415" cy="310896"/>
          </a:xfrm>
          <a:prstGeom prst="rect">
            <a:avLst/>
          </a:prstGeom>
          <a:noFill/>
          <a:ln/>
        </p:spPr>
        <p:txBody>
          <a:bodyPr wrap="square" lIns="0" tIns="0" rIns="0" bIns="0" rtlCol="0" anchor="ctr"/>
          <a:lstStyle/>
          <a:p>
            <a:pPr indent="0" marL="0">
              <a:buNone/>
            </a:pPr>
            <a:r>
              <a:rPr lang="en-US" sz="1400" dirty="0">
                <a:solidFill>
                  <a:srgbClr val="56636D"/>
                </a:solidFill>
                <a:latin typeface="Arial" pitchFamily="34" charset="0"/>
                <a:ea typeface="Arial" pitchFamily="34" charset="-122"/>
                <a:cs typeface="Arial" pitchFamily="34" charset="-120"/>
              </a:rPr>
              <a:t>Pick one patient. The tool looks for the smallest change to the chart that moves them across the call line.</a:t>
            </a:r>
            <a:endParaRPr lang="en-US" sz="1400" dirty="0"/>
          </a:p>
        </p:txBody>
      </p:sp>
      <p:sp>
        <p:nvSpPr>
          <p:cNvPr id="5" name="Shape 3"/>
          <p:cNvSpPr/>
          <p:nvPr/>
        </p:nvSpPr>
        <p:spPr>
          <a:xfrm>
            <a:off x="548640" y="1783080"/>
            <a:ext cx="8595360" cy="4444157"/>
          </a:xfrm>
          <a:prstGeom prst="rect">
            <a:avLst/>
          </a:prstGeom>
          <a:solidFill>
            <a:srgbClr val="FFFFFF"/>
          </a:solidFill>
          <a:ln w="12700">
            <a:solidFill>
              <a:srgbClr val="C9D3DA"/>
            </a:solidFill>
            <a:prstDash val="solid"/>
          </a:ln>
        </p:spPr>
      </p:sp>
      <p:pic>
        <p:nvPicPr>
          <p:cNvPr id="6" name="Image 0" descr="06 what if map">    </p:cNvPr>
          <p:cNvPicPr>
            <a:picLocks noChangeAspect="1"/>
          </p:cNvPicPr>
          <p:nvPr/>
        </p:nvPicPr>
        <p:blipFill>
          <a:blip r:embed="rId1"/>
          <a:stretch>
            <a:fillRect/>
          </a:stretch>
        </p:blipFill>
        <p:spPr>
          <a:xfrm>
            <a:off x="594360" y="1828800"/>
            <a:ext cx="8503920" cy="4352717"/>
          </a:xfrm>
          <a:prstGeom prst="rect">
            <a:avLst/>
          </a:prstGeom>
        </p:spPr>
      </p:pic>
      <p:sp>
        <p:nvSpPr>
          <p:cNvPr id="7" name="Shape 4"/>
          <p:cNvSpPr/>
          <p:nvPr/>
        </p:nvSpPr>
        <p:spPr>
          <a:xfrm>
            <a:off x="5162980" y="2133490"/>
            <a:ext cx="221102" cy="3299360"/>
          </a:xfrm>
          <a:prstGeom prst="rect">
            <a:avLst/>
          </a:prstGeom>
          <a:ln w="25400">
            <a:solidFill>
              <a:srgbClr val="D9480F"/>
            </a:solidFill>
            <a:prstDash val="solid"/>
          </a:ln>
        </p:spPr>
      </p:sp>
      <p:sp>
        <p:nvSpPr>
          <p:cNvPr id="8" name="Text 5"/>
          <p:cNvSpPr txBox="1"/>
          <p:nvPr/>
        </p:nvSpPr>
        <p:spPr>
          <a:xfrm>
            <a:off x="4450571" y="1840882"/>
            <a:ext cx="1645920" cy="256032"/>
          </a:xfrm>
          <a:prstGeom prst="rect">
            <a:avLst/>
          </a:prstGeom>
          <a:noFill/>
          <a:ln/>
        </p:spPr>
        <p:txBody>
          <a:bodyPr wrap="square" lIns="0" tIns="0" rIns="0" bIns="0" rtlCol="0" anchor="t"/>
          <a:lstStyle/>
          <a:p>
            <a:pPr algn="ctr" indent="0" marL="0">
              <a:buNone/>
            </a:pPr>
            <a:r>
              <a:rPr lang="en-US" sz="1250" b="1" dirty="0">
                <a:solidFill>
                  <a:srgbClr val="D9480F"/>
                </a:solidFill>
                <a:latin typeface="Arial" pitchFamily="34" charset="0"/>
                <a:ea typeface="Arial" pitchFamily="34" charset="-122"/>
                <a:cs typeface="Arial" pitchFamily="34" charset="-120"/>
              </a:rPr>
              <a:t>our call line</a:t>
            </a:r>
            <a:endParaRPr lang="en-US" sz="1250" dirty="0"/>
          </a:p>
        </p:txBody>
      </p:sp>
      <p:sp>
        <p:nvSpPr>
          <p:cNvPr id="9" name="Text 6"/>
          <p:cNvSpPr txBox="1"/>
          <p:nvPr/>
        </p:nvSpPr>
        <p:spPr>
          <a:xfrm>
            <a:off x="4008669" y="5783168"/>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7"/>
          <p:cNvSpPr txBox="1"/>
          <p:nvPr/>
        </p:nvSpPr>
        <p:spPr>
          <a:xfrm>
            <a:off x="788464" y="2404170"/>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8"/>
          <p:cNvSpPr txBox="1"/>
          <p:nvPr/>
        </p:nvSpPr>
        <p:spPr>
          <a:xfrm>
            <a:off x="5491616" y="5263260"/>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2" name="Shape 9"/>
          <p:cNvSpPr/>
          <p:nvPr/>
        </p:nvSpPr>
        <p:spPr>
          <a:xfrm>
            <a:off x="9372600" y="1828800"/>
            <a:ext cx="2286000" cy="1425057"/>
          </a:xfrm>
          <a:prstGeom prst="rect">
            <a:avLst/>
          </a:prstGeom>
          <a:solidFill>
            <a:srgbClr val="FFFFFF"/>
          </a:solidFill>
          <a:ln w="12700">
            <a:solidFill>
              <a:srgbClr val="C9D3DA"/>
            </a:solidFill>
            <a:prstDash val="solid"/>
          </a:ln>
        </p:spPr>
      </p:sp>
      <p:pic>
        <p:nvPicPr>
          <p:cNvPr id="13" name="Image 1" descr="06b what if selection">    </p:cNvPr>
          <p:cNvPicPr>
            <a:picLocks noChangeAspect="1"/>
          </p:cNvPicPr>
          <p:nvPr/>
        </p:nvPicPr>
        <p:blipFill>
          <a:blip r:embed="rId2"/>
          <a:stretch>
            <a:fillRect/>
          </a:stretch>
        </p:blipFill>
        <p:spPr>
          <a:xfrm>
            <a:off x="9418320" y="1874520"/>
            <a:ext cx="2194560" cy="1333617"/>
          </a:xfrm>
          <a:prstGeom prst="rect">
            <a:avLst/>
          </a:prstGeom>
        </p:spPr>
      </p:pic>
      <p:sp>
        <p:nvSpPr>
          <p:cNvPr id="14" name="Text 10"/>
          <p:cNvSpPr txBox="1"/>
          <p:nvPr/>
        </p:nvSpPr>
        <p:spPr>
          <a:xfrm>
            <a:off x="9209837" y="2840970"/>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5" name="Text 11"/>
          <p:cNvSpPr txBox="1"/>
          <p:nvPr/>
        </p:nvSpPr>
        <p:spPr>
          <a:xfrm>
            <a:off x="9290304" y="3383280"/>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6" name="Text 12"/>
          <p:cNvSpPr txBox="1"/>
          <p:nvPr/>
        </p:nvSpPr>
        <p:spPr>
          <a:xfrm>
            <a:off x="9720072" y="3383280"/>
            <a:ext cx="1938528" cy="987552"/>
          </a:xfrm>
          <a:prstGeom prst="rect">
            <a:avLst/>
          </a:prstGeom>
          <a:noFill/>
          <a:ln/>
        </p:spPr>
        <p:txBody>
          <a:bodyPr wrap="square" lIns="0" tIns="0" rIns="0" bIns="0" rtlCol="0" anchor="t"/>
          <a:lstStyle/>
          <a:p>
            <a:pPr indent="0" marL="0">
              <a:buNone/>
            </a:pPr>
            <a:r>
              <a:rPr lang="en-US" sz="1200" b="1" dirty="0">
                <a:solidFill>
                  <a:srgbClr val="0F4C5C"/>
                </a:solidFill>
                <a:latin typeface="Arial" pitchFamily="34" charset="0"/>
                <a:ea typeface="Arial" pitchFamily="34" charset="-122"/>
                <a:cs typeface="Arial" pitchFamily="34" charset="-120"/>
              </a:rPr>
              <a:t>Left to right = risk. </a:t>
            </a:r>
            <a:pPr indent="0" marL="0">
              <a:buNone/>
            </a:pPr>
            <a:r>
              <a:rPr lang="en-US" sz="1200" dirty="0">
                <a:solidFill>
                  <a:srgbClr val="1F2933"/>
                </a:solidFill>
                <a:latin typeface="Arial" pitchFamily="34" charset="0"/>
                <a:ea typeface="Arial" pitchFamily="34" charset="-122"/>
                <a:cs typeface="Arial" pitchFamily="34" charset="-120"/>
              </a:rPr>
              <a:t>Scale stretched so 0.5 is exactly our call line. Right of it = on the list.</a:t>
            </a:r>
            <a:endParaRPr lang="en-US" sz="1200" dirty="0"/>
          </a:p>
        </p:txBody>
      </p:sp>
      <p:sp>
        <p:nvSpPr>
          <p:cNvPr id="17" name="Text 13"/>
          <p:cNvSpPr txBox="1"/>
          <p:nvPr/>
        </p:nvSpPr>
        <p:spPr>
          <a:xfrm>
            <a:off x="9290304" y="4498848"/>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8" name="Text 14"/>
          <p:cNvSpPr txBox="1"/>
          <p:nvPr/>
        </p:nvSpPr>
        <p:spPr>
          <a:xfrm>
            <a:off x="9720072" y="4498848"/>
            <a:ext cx="1938528" cy="621792"/>
          </a:xfrm>
          <a:prstGeom prst="rect">
            <a:avLst/>
          </a:prstGeom>
          <a:noFill/>
          <a:ln/>
        </p:spPr>
        <p:txBody>
          <a:bodyPr wrap="square" lIns="0" tIns="0" rIns="0" bIns="0" rtlCol="0" anchor="t"/>
          <a:lstStyle/>
          <a:p>
            <a:pPr indent="0" marL="0">
              <a:buNone/>
            </a:pPr>
            <a:r>
              <a:rPr lang="en-US" sz="1200" b="1" dirty="0">
                <a:solidFill>
                  <a:srgbClr val="0F4C5C"/>
                </a:solidFill>
                <a:latin typeface="Arial" pitchFamily="34" charset="0"/>
                <a:ea typeface="Arial" pitchFamily="34" charset="-122"/>
                <a:cs typeface="Arial" pitchFamily="34" charset="-120"/>
              </a:rPr>
              <a:t>Up = more previous stays. </a:t>
            </a:r>
            <a:pPr indent="0" marL="0">
              <a:buNone/>
            </a:pPr>
            <a:r>
              <a:rPr lang="en-US" sz="1200" dirty="0">
                <a:solidFill>
                  <a:srgbClr val="1F2933"/>
                </a:solidFill>
                <a:latin typeface="Arial" pitchFamily="34" charset="0"/>
                <a:ea typeface="Arial" pitchFamily="34" charset="-122"/>
                <a:cs typeface="Arial" pitchFamily="34" charset="-120"/>
              </a:rPr>
              <a:t>One dot per patient. Notice the staircase.</a:t>
            </a:r>
            <a:endParaRPr lang="en-US" sz="1200" dirty="0"/>
          </a:p>
        </p:txBody>
      </p:sp>
      <p:sp>
        <p:nvSpPr>
          <p:cNvPr id="19" name="Text 15"/>
          <p:cNvSpPr txBox="1"/>
          <p:nvPr/>
        </p:nvSpPr>
        <p:spPr>
          <a:xfrm>
            <a:off x="9290304" y="5248656"/>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6"/>
          <p:cNvSpPr txBox="1"/>
          <p:nvPr/>
        </p:nvSpPr>
        <p:spPr>
          <a:xfrm>
            <a:off x="9720072" y="5248656"/>
            <a:ext cx="1938528" cy="438912"/>
          </a:xfrm>
          <a:prstGeom prst="rect">
            <a:avLst/>
          </a:prstGeom>
          <a:noFill/>
          <a:ln/>
        </p:spPr>
        <p:txBody>
          <a:bodyPr wrap="square" lIns="0" tIns="0" rIns="0" bIns="0" rtlCol="0" anchor="t"/>
          <a:lstStyle/>
          <a:p>
            <a:pPr indent="0" marL="0">
              <a:buNone/>
            </a:pPr>
            <a:r>
              <a:rPr lang="en-US" sz="1200" b="1" dirty="0">
                <a:solidFill>
                  <a:srgbClr val="0F4C5C"/>
                </a:solidFill>
                <a:latin typeface="Arial" pitchFamily="34" charset="0"/>
                <a:ea typeface="Arial" pitchFamily="34" charset="-122"/>
                <a:cs typeface="Arial" pitchFamily="34" charset="-120"/>
              </a:rPr>
              <a:t>Patient 248 </a:t>
            </a:r>
            <a:pPr indent="0" marL="0">
              <a:buNone/>
            </a:pPr>
            <a:r>
              <a:rPr lang="en-US" sz="1200" dirty="0">
                <a:solidFill>
                  <a:srgbClr val="1F2933"/>
                </a:solidFill>
                <a:latin typeface="Arial" pitchFamily="34" charset="0"/>
                <a:ea typeface="Arial" pitchFamily="34" charset="-122"/>
                <a:cs typeface="Arial" pitchFamily="34" charset="-120"/>
              </a:rPr>
              <a:t>sits right on the line.</a:t>
            </a:r>
            <a:endParaRPr lang="en-US" sz="1200" dirty="0"/>
          </a:p>
        </p:txBody>
      </p:sp>
      <p:sp>
        <p:nvSpPr>
          <p:cNvPr id="21" name="Text 17"/>
          <p:cNvSpPr txBox="1"/>
          <p:nvPr/>
        </p:nvSpPr>
        <p:spPr>
          <a:xfrm>
            <a:off x="9290304" y="5815584"/>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2" name="Text 18"/>
          <p:cNvSpPr txBox="1"/>
          <p:nvPr/>
        </p:nvSpPr>
        <p:spPr>
          <a:xfrm>
            <a:off x="9720072" y="5815584"/>
            <a:ext cx="1938528" cy="621792"/>
          </a:xfrm>
          <a:prstGeom prst="rect">
            <a:avLst/>
          </a:prstGeom>
          <a:noFill/>
          <a:ln/>
        </p:spPr>
        <p:txBody>
          <a:bodyPr wrap="square" lIns="0" tIns="0" rIns="0" bIns="0" rtlCol="0" anchor="t"/>
          <a:lstStyle/>
          <a:p>
            <a:pPr indent="0" marL="0">
              <a:buNone/>
            </a:pPr>
            <a:r>
              <a:rPr lang="en-US" sz="1200" b="1" dirty="0">
                <a:solidFill>
                  <a:srgbClr val="0F4C5C"/>
                </a:solidFill>
                <a:latin typeface="Arial" pitchFamily="34" charset="0"/>
                <a:ea typeface="Arial" pitchFamily="34" charset="-122"/>
                <a:cs typeface="Arial" pitchFamily="34" charset="-120"/>
              </a:rPr>
              <a:t>This button </a:t>
            </a:r>
            <a:pPr indent="0" marL="0">
              <a:buNone/>
            </a:pPr>
            <a:r>
              <a:rPr lang="en-US" sz="1200" dirty="0">
                <a:solidFill>
                  <a:srgbClr val="1F2933"/>
                </a:solidFill>
                <a:latin typeface="Arial" pitchFamily="34" charset="0"/>
                <a:ea typeface="Arial" pitchFamily="34" charset="-122"/>
                <a:cs typeface="Arial" pitchFamily="34" charset="-120"/>
              </a:rPr>
              <a:t>asks for the smallest chart change that flips his decision.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FINDING 3 · WHAT-IF RESULT</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Finding 3: one line of paperwork can decide who gets a call</a:t>
            </a:r>
            <a:endParaRPr lang="en-US" sz="2700" dirty="0"/>
          </a:p>
        </p:txBody>
      </p:sp>
      <p:sp>
        <p:nvSpPr>
          <p:cNvPr id="4" name="Shape 2"/>
          <p:cNvSpPr/>
          <p:nvPr/>
        </p:nvSpPr>
        <p:spPr>
          <a:xfrm>
            <a:off x="548640" y="1371600"/>
            <a:ext cx="3611880" cy="3154680"/>
          </a:xfrm>
          <a:prstGeom prst="roundRect">
            <a:avLst>
              <a:gd name="adj" fmla="val 2319"/>
            </a:avLst>
          </a:prstGeom>
          <a:solidFill>
            <a:srgbClr val="E6F2F1"/>
          </a:solidFill>
          <a:ln w="25400">
            <a:solidFill>
              <a:srgbClr val="0F4C5C"/>
            </a:solidFill>
            <a:prstDash val="solid"/>
          </a:ln>
        </p:spPr>
      </p:sp>
      <p:sp>
        <p:nvSpPr>
          <p:cNvPr id="5" name="Text 3"/>
          <p:cNvSpPr txBox="1"/>
          <p:nvPr/>
        </p:nvSpPr>
        <p:spPr>
          <a:xfrm>
            <a:off x="777240" y="1481328"/>
            <a:ext cx="3200400" cy="329184"/>
          </a:xfrm>
          <a:prstGeom prst="rect">
            <a:avLst/>
          </a:prstGeom>
          <a:noFill/>
          <a:ln/>
        </p:spPr>
        <p:txBody>
          <a:bodyPr wrap="square" lIns="0" tIns="0" rIns="0" bIns="0" rtlCol="0" anchor="t"/>
          <a:lstStyle/>
          <a:p>
            <a:pPr indent="0" marL="0">
              <a:buNone/>
            </a:pPr>
            <a:r>
              <a:rPr lang="en-US" sz="1600" b="1" dirty="0">
                <a:solidFill>
                  <a:srgbClr val="0F4C5C"/>
                </a:solidFill>
                <a:latin typeface="Arial" pitchFamily="34" charset="0"/>
                <a:ea typeface="Arial" pitchFamily="34" charset="-122"/>
                <a:cs typeface="Arial" pitchFamily="34" charset="-120"/>
              </a:rPr>
              <a:t>Patient 248, as recorded</a:t>
            </a:r>
            <a:endParaRPr lang="en-US" sz="1600" dirty="0"/>
          </a:p>
        </p:txBody>
      </p:sp>
      <p:sp>
        <p:nvSpPr>
          <p:cNvPr id="6" name="Text 4"/>
          <p:cNvSpPr txBox="1"/>
          <p:nvPr/>
        </p:nvSpPr>
        <p:spPr>
          <a:xfrm>
            <a:off x="777240" y="1874520"/>
            <a:ext cx="3200400" cy="1325880"/>
          </a:xfrm>
          <a:prstGeom prst="rect">
            <a:avLst/>
          </a:prstGeom>
          <a:noFill/>
          <a:ln/>
        </p:spPr>
        <p:txBody>
          <a:bodyPr wrap="square" lIns="0" tIns="0" rIns="0" bIns="0" rtlCol="0" anchor="t"/>
          <a:lstStyle/>
          <a:p>
            <a:pPr indent="0" marL="0">
              <a:spcAft>
                <a:spcPts val="200"/>
              </a:spcAft>
              <a:buNone/>
            </a:pPr>
            <a:r>
              <a:rPr lang="en-US" sz="1350" dirty="0">
                <a:solidFill>
                  <a:srgbClr val="1F2933"/>
                </a:solidFill>
                <a:latin typeface="Arial" pitchFamily="34" charset="0"/>
                <a:ea typeface="Arial" pitchFamily="34" charset="-122"/>
                <a:cs typeface="Arial" pitchFamily="34" charset="-120"/>
              </a:rPr>
              <a:t>Man in his 70s</a:t>
            </a:r>
            <a:endParaRPr lang="en-US" sz="1350" dirty="0"/>
          </a:p>
          <a:p>
            <a:pPr indent="0" marL="0">
              <a:spcAft>
                <a:spcPts val="200"/>
              </a:spcAft>
              <a:buNone/>
            </a:pPr>
            <a:r>
              <a:rPr lang="en-US" sz="1350" dirty="0">
                <a:solidFill>
                  <a:srgbClr val="1F2933"/>
                </a:solidFill>
                <a:latin typeface="Arial" pitchFamily="34" charset="0"/>
                <a:ea typeface="Arial" pitchFamily="34" charset="-122"/>
                <a:cs typeface="Arial" pitchFamily="34" charset="-120"/>
              </a:rPr>
              <a:t>No previous hospital stays</a:t>
            </a:r>
            <a:endParaRPr lang="en-US" sz="1350" dirty="0"/>
          </a:p>
          <a:p>
            <a:pPr indent="0" marL="0">
              <a:spcAft>
                <a:spcPts val="200"/>
              </a:spcAft>
              <a:buNone/>
            </a:pPr>
            <a:r>
              <a:rPr lang="en-US" sz="1350" dirty="0">
                <a:solidFill>
                  <a:srgbClr val="1F2933"/>
                </a:solidFill>
                <a:latin typeface="Arial" pitchFamily="34" charset="0"/>
                <a:ea typeface="Arial" pitchFamily="34" charset="-122"/>
                <a:cs typeface="Arial" pitchFamily="34" charset="-120"/>
              </a:rPr>
              <a:t>8 diagnoses, 5 days in hospital</a:t>
            </a:r>
            <a:endParaRPr lang="en-US" sz="1350" dirty="0"/>
          </a:p>
          <a:p>
            <a:pPr indent="0" marL="0">
              <a:spcAft>
                <a:spcPts val="200"/>
              </a:spcAft>
              <a:buNone/>
            </a:pPr>
            <a:r>
              <a:rPr lang="en-US" sz="1350" dirty="0">
                <a:solidFill>
                  <a:srgbClr val="1F2933"/>
                </a:solidFill>
                <a:latin typeface="Arial" pitchFamily="34" charset="0"/>
                <a:ea typeface="Arial" pitchFamily="34" charset="-122"/>
                <a:cs typeface="Arial" pitchFamily="34" charset="-120"/>
              </a:rPr>
              <a:t>Insulin lowered during the stay</a:t>
            </a:r>
            <a:endParaRPr lang="en-US" sz="1350" dirty="0"/>
          </a:p>
        </p:txBody>
      </p:sp>
      <p:sp>
        <p:nvSpPr>
          <p:cNvPr id="7" name="Text 5"/>
          <p:cNvSpPr txBox="1"/>
          <p:nvPr/>
        </p:nvSpPr>
        <p:spPr>
          <a:xfrm>
            <a:off x="777240" y="3200400"/>
            <a:ext cx="3200400" cy="566928"/>
          </a:xfrm>
          <a:prstGeom prst="rect">
            <a:avLst/>
          </a:prstGeom>
          <a:noFill/>
          <a:ln/>
        </p:spPr>
        <p:txBody>
          <a:bodyPr wrap="square" lIns="0" tIns="0" rIns="0" bIns="0" rtlCol="0" anchor="t"/>
          <a:lstStyle/>
          <a:p>
            <a:pPr indent="0" marL="0">
              <a:buNone/>
            </a:pPr>
            <a:r>
              <a:rPr lang="en-US" sz="1500" b="1" dirty="0">
                <a:solidFill>
                  <a:srgbClr val="0F4C5C"/>
                </a:solidFill>
                <a:latin typeface="Arial" pitchFamily="34" charset="0"/>
                <a:ea typeface="Arial" pitchFamily="34" charset="-122"/>
                <a:cs typeface="Arial" pitchFamily="34" charset="-120"/>
              </a:rPr>
              <a:t>HbA1c: not measured</a:t>
            </a:r>
            <a:endParaRPr lang="en-US" sz="1500" dirty="0"/>
          </a:p>
        </p:txBody>
      </p:sp>
      <p:sp>
        <p:nvSpPr>
          <p:cNvPr id="8" name="Text 6"/>
          <p:cNvSpPr txBox="1"/>
          <p:nvPr/>
        </p:nvSpPr>
        <p:spPr>
          <a:xfrm>
            <a:off x="777240" y="3822192"/>
            <a:ext cx="3200400" cy="566928"/>
          </a:xfrm>
          <a:prstGeom prst="rect">
            <a:avLst/>
          </a:prstGeom>
          <a:noFill/>
          <a:ln/>
        </p:spPr>
        <p:txBody>
          <a:bodyPr wrap="square" lIns="0" tIns="0" rIns="0" bIns="0" rtlCol="0" anchor="t"/>
          <a:lstStyle/>
          <a:p>
            <a:pPr indent="0" marL="0">
              <a:buNone/>
            </a:pPr>
            <a:r>
              <a:rPr lang="en-US" sz="1500" b="1" dirty="0">
                <a:solidFill>
                  <a:srgbClr val="1F2933"/>
                </a:solidFill>
                <a:latin typeface="Arial" pitchFamily="34" charset="0"/>
                <a:ea typeface="Arial" pitchFamily="34" charset="-122"/>
                <a:cs typeface="Arial" pitchFamily="34" charset="-120"/>
              </a:rPr>
              <a:t>Risk 11.8%  →  </a:t>
            </a:r>
            <a:pPr indent="0" marL="0">
              <a:buNone/>
            </a:pPr>
            <a:r>
              <a:rPr lang="en-US" sz="1500" b="1" dirty="0">
                <a:solidFill>
                  <a:srgbClr val="0F4C5C"/>
                </a:solidFill>
                <a:latin typeface="Arial" pitchFamily="34" charset="0"/>
                <a:ea typeface="Arial" pitchFamily="34" charset="-122"/>
                <a:cs typeface="Arial" pitchFamily="34" charset="-120"/>
              </a:rPr>
              <a:t>ON the call list</a:t>
            </a:r>
            <a:endParaRPr lang="en-US" sz="1500" dirty="0"/>
          </a:p>
        </p:txBody>
      </p:sp>
      <p:sp>
        <p:nvSpPr>
          <p:cNvPr id="9" name="Text 7"/>
          <p:cNvSpPr txBox="1"/>
          <p:nvPr/>
        </p:nvSpPr>
        <p:spPr>
          <a:xfrm>
            <a:off x="4224528" y="2560320"/>
            <a:ext cx="548640" cy="548640"/>
          </a:xfrm>
          <a:prstGeom prst="rect">
            <a:avLst/>
          </a:prstGeom>
          <a:noFill/>
          <a:ln/>
        </p:spPr>
        <p:txBody>
          <a:bodyPr wrap="square" lIns="0" tIns="0" rIns="0" bIns="0" rtlCol="0" anchor="ctr"/>
          <a:lstStyle/>
          <a:p>
            <a:pPr algn="ctr" indent="0" marL="0">
              <a:buNone/>
            </a:pPr>
            <a:r>
              <a:rPr lang="en-US" sz="3600" b="1" dirty="0">
                <a:solidFill>
                  <a:srgbClr val="D9480F"/>
                </a:solidFill>
                <a:latin typeface="Arial" pitchFamily="34" charset="0"/>
                <a:ea typeface="Arial" pitchFamily="34" charset="-122"/>
                <a:cs typeface="Arial" pitchFamily="34" charset="-120"/>
              </a:rPr>
              <a:t>→</a:t>
            </a:r>
            <a:endParaRPr lang="en-US" sz="3600" dirty="0"/>
          </a:p>
        </p:txBody>
      </p:sp>
      <p:sp>
        <p:nvSpPr>
          <p:cNvPr id="10" name="Shape 8"/>
          <p:cNvSpPr/>
          <p:nvPr/>
        </p:nvSpPr>
        <p:spPr>
          <a:xfrm>
            <a:off x="4800600" y="1371600"/>
            <a:ext cx="3611880" cy="3154680"/>
          </a:xfrm>
          <a:prstGeom prst="roundRect">
            <a:avLst>
              <a:gd name="adj" fmla="val 2319"/>
            </a:avLst>
          </a:prstGeom>
          <a:solidFill>
            <a:srgbClr val="FDEEE6"/>
          </a:solidFill>
          <a:ln w="25400">
            <a:solidFill>
              <a:srgbClr val="D9480F"/>
            </a:solidFill>
            <a:prstDash val="solid"/>
          </a:ln>
        </p:spPr>
      </p:sp>
      <p:sp>
        <p:nvSpPr>
          <p:cNvPr id="11" name="Text 9"/>
          <p:cNvSpPr txBox="1"/>
          <p:nvPr/>
        </p:nvSpPr>
        <p:spPr>
          <a:xfrm>
            <a:off x="5029200" y="1481328"/>
            <a:ext cx="3200400" cy="329184"/>
          </a:xfrm>
          <a:prstGeom prst="rect">
            <a:avLst/>
          </a:prstGeom>
          <a:noFill/>
          <a:ln/>
        </p:spPr>
        <p:txBody>
          <a:bodyPr wrap="square" lIns="0" tIns="0" rIns="0" bIns="0" rtlCol="0" anchor="t"/>
          <a:lstStyle/>
          <a:p>
            <a:pPr indent="0" marL="0">
              <a:buNone/>
            </a:pPr>
            <a:r>
              <a:rPr lang="en-US" sz="1600" b="1" dirty="0">
                <a:solidFill>
                  <a:srgbClr val="D9480F"/>
                </a:solidFill>
                <a:latin typeface="Arial" pitchFamily="34" charset="0"/>
                <a:ea typeface="Arial" pitchFamily="34" charset="-122"/>
                <a:cs typeface="Arial" pitchFamily="34" charset="-120"/>
              </a:rPr>
              <a:t>Same patient, one change</a:t>
            </a:r>
            <a:endParaRPr lang="en-US" sz="1600" dirty="0"/>
          </a:p>
        </p:txBody>
      </p:sp>
      <p:sp>
        <p:nvSpPr>
          <p:cNvPr id="12" name="Text 10"/>
          <p:cNvSpPr txBox="1"/>
          <p:nvPr/>
        </p:nvSpPr>
        <p:spPr>
          <a:xfrm>
            <a:off x="5029200" y="1874520"/>
            <a:ext cx="3200400" cy="1325880"/>
          </a:xfrm>
          <a:prstGeom prst="rect">
            <a:avLst/>
          </a:prstGeom>
          <a:noFill/>
          <a:ln/>
        </p:spPr>
        <p:txBody>
          <a:bodyPr wrap="square" lIns="0" tIns="0" rIns="0" bIns="0" rtlCol="0" anchor="t"/>
          <a:lstStyle/>
          <a:p>
            <a:pPr indent="0" marL="0">
              <a:spcAft>
                <a:spcPts val="200"/>
              </a:spcAft>
              <a:buNone/>
            </a:pPr>
            <a:r>
              <a:rPr lang="en-US" sz="1350" dirty="0">
                <a:solidFill>
                  <a:srgbClr val="1F2933"/>
                </a:solidFill>
                <a:latin typeface="Arial" pitchFamily="34" charset="0"/>
                <a:ea typeface="Arial" pitchFamily="34" charset="-122"/>
                <a:cs typeface="Arial" pitchFamily="34" charset="-120"/>
              </a:rPr>
              <a:t>Man in his 70s</a:t>
            </a:r>
            <a:endParaRPr lang="en-US" sz="1350" dirty="0"/>
          </a:p>
          <a:p>
            <a:pPr indent="0" marL="0">
              <a:spcAft>
                <a:spcPts val="200"/>
              </a:spcAft>
              <a:buNone/>
            </a:pPr>
            <a:r>
              <a:rPr lang="en-US" sz="1350" dirty="0">
                <a:solidFill>
                  <a:srgbClr val="1F2933"/>
                </a:solidFill>
                <a:latin typeface="Arial" pitchFamily="34" charset="0"/>
                <a:ea typeface="Arial" pitchFamily="34" charset="-122"/>
                <a:cs typeface="Arial" pitchFamily="34" charset="-120"/>
              </a:rPr>
              <a:t>No previous hospital stays</a:t>
            </a:r>
            <a:endParaRPr lang="en-US" sz="1350" dirty="0"/>
          </a:p>
          <a:p>
            <a:pPr indent="0" marL="0">
              <a:spcAft>
                <a:spcPts val="200"/>
              </a:spcAft>
              <a:buNone/>
            </a:pPr>
            <a:r>
              <a:rPr lang="en-US" sz="1350" dirty="0">
                <a:solidFill>
                  <a:srgbClr val="1F2933"/>
                </a:solidFill>
                <a:latin typeface="Arial" pitchFamily="34" charset="0"/>
                <a:ea typeface="Arial" pitchFamily="34" charset="-122"/>
                <a:cs typeface="Arial" pitchFamily="34" charset="-120"/>
              </a:rPr>
              <a:t>8 diagnoses, 5 days in hospital</a:t>
            </a:r>
            <a:endParaRPr lang="en-US" sz="1350" dirty="0"/>
          </a:p>
          <a:p>
            <a:pPr indent="0" marL="0">
              <a:spcAft>
                <a:spcPts val="200"/>
              </a:spcAft>
              <a:buNone/>
            </a:pPr>
            <a:r>
              <a:rPr lang="en-US" sz="1350" dirty="0">
                <a:solidFill>
                  <a:srgbClr val="1F2933"/>
                </a:solidFill>
                <a:latin typeface="Arial" pitchFamily="34" charset="0"/>
                <a:ea typeface="Arial" pitchFamily="34" charset="-122"/>
                <a:cs typeface="Arial" pitchFamily="34" charset="-120"/>
              </a:rPr>
              <a:t>Insulin lowered during the stay</a:t>
            </a:r>
            <a:endParaRPr lang="en-US" sz="1350" dirty="0"/>
          </a:p>
        </p:txBody>
      </p:sp>
      <p:sp>
        <p:nvSpPr>
          <p:cNvPr id="13" name="Text 11"/>
          <p:cNvSpPr txBox="1"/>
          <p:nvPr/>
        </p:nvSpPr>
        <p:spPr>
          <a:xfrm>
            <a:off x="5029200" y="3200400"/>
            <a:ext cx="3200400" cy="566928"/>
          </a:xfrm>
          <a:prstGeom prst="rect">
            <a:avLst/>
          </a:prstGeom>
          <a:noFill/>
          <a:ln/>
        </p:spPr>
        <p:txBody>
          <a:bodyPr wrap="square" lIns="0" tIns="0" rIns="0" bIns="0" rtlCol="0" anchor="t"/>
          <a:lstStyle/>
          <a:p>
            <a:pPr indent="0" marL="0">
              <a:buNone/>
            </a:pPr>
            <a:r>
              <a:rPr lang="en-US" sz="1500" b="1" dirty="0">
                <a:solidFill>
                  <a:srgbClr val="D9480F"/>
                </a:solidFill>
                <a:latin typeface="Arial" pitchFamily="34" charset="0"/>
                <a:ea typeface="Arial" pitchFamily="34" charset="-122"/>
                <a:cs typeface="Arial" pitchFamily="34" charset="-120"/>
              </a:rPr>
              <a:t>HbA1c: measured, above 8</a:t>
            </a:r>
            <a:endParaRPr lang="en-US" sz="1500" dirty="0"/>
          </a:p>
        </p:txBody>
      </p:sp>
      <p:sp>
        <p:nvSpPr>
          <p:cNvPr id="14" name="Text 12"/>
          <p:cNvSpPr txBox="1"/>
          <p:nvPr/>
        </p:nvSpPr>
        <p:spPr>
          <a:xfrm>
            <a:off x="5029200" y="3822192"/>
            <a:ext cx="3200400" cy="566928"/>
          </a:xfrm>
          <a:prstGeom prst="rect">
            <a:avLst/>
          </a:prstGeom>
          <a:noFill/>
          <a:ln/>
        </p:spPr>
        <p:txBody>
          <a:bodyPr wrap="square" lIns="0" tIns="0" rIns="0" bIns="0" rtlCol="0" anchor="t"/>
          <a:lstStyle/>
          <a:p>
            <a:pPr indent="0" marL="0">
              <a:buNone/>
            </a:pPr>
            <a:r>
              <a:rPr lang="en-US" sz="1500" b="1" dirty="0">
                <a:solidFill>
                  <a:srgbClr val="1F2933"/>
                </a:solidFill>
                <a:latin typeface="Arial" pitchFamily="34" charset="0"/>
                <a:ea typeface="Arial" pitchFamily="34" charset="-122"/>
                <a:cs typeface="Arial" pitchFamily="34" charset="-120"/>
              </a:rPr>
              <a:t>Risk 9.6%  →  </a:t>
            </a:r>
            <a:pPr indent="0" marL="0">
              <a:buNone/>
            </a:pPr>
            <a:r>
              <a:rPr lang="en-US" sz="1500" b="1" dirty="0">
                <a:solidFill>
                  <a:srgbClr val="D9480F"/>
                </a:solidFill>
                <a:latin typeface="Arial" pitchFamily="34" charset="0"/>
                <a:ea typeface="Arial" pitchFamily="34" charset="-122"/>
                <a:cs typeface="Arial" pitchFamily="34" charset="-120"/>
              </a:rPr>
              <a:t>OFF the call list</a:t>
            </a:r>
            <a:endParaRPr lang="en-US" sz="1500" dirty="0"/>
          </a:p>
        </p:txBody>
      </p:sp>
      <p:sp>
        <p:nvSpPr>
          <p:cNvPr id="15" name="Text 13"/>
          <p:cNvSpPr txBox="1"/>
          <p:nvPr/>
        </p:nvSpPr>
        <p:spPr>
          <a:xfrm>
            <a:off x="548640" y="4663440"/>
            <a:ext cx="7863840" cy="365760"/>
          </a:xfrm>
          <a:prstGeom prst="rect">
            <a:avLst/>
          </a:prstGeom>
          <a:noFill/>
          <a:ln/>
        </p:spPr>
        <p:txBody>
          <a:bodyPr wrap="square" lIns="0" tIns="0" rIns="0" bIns="0" rtlCol="0" anchor="t"/>
          <a:lstStyle/>
          <a:p>
            <a:pPr indent="0" marL="0">
              <a:buNone/>
            </a:pPr>
            <a:r>
              <a:rPr lang="en-US" sz="1600" b="1" dirty="0">
                <a:solidFill>
                  <a:srgbClr val="D9480F"/>
                </a:solidFill>
                <a:latin typeface="Arial" pitchFamily="34" charset="0"/>
                <a:ea typeface="Arial" pitchFamily="34" charset="-122"/>
                <a:cs typeface="Arial" pitchFamily="34" charset="-120"/>
              </a:rPr>
              <a:t>What really happened: </a:t>
            </a:r>
            <a:pPr indent="0" marL="0">
              <a:buNone/>
            </a:pPr>
            <a:r>
              <a:rPr lang="en-US" sz="1600" dirty="0">
                <a:solidFill>
                  <a:srgbClr val="1F2933"/>
                </a:solidFill>
                <a:latin typeface="Arial" pitchFamily="34" charset="0"/>
                <a:ea typeface="Arial" pitchFamily="34" charset="-122"/>
                <a:cs typeface="Arial" pitchFamily="34" charset="-120"/>
              </a:rPr>
              <a:t>he was back in hospital within 30 days.</a:t>
            </a:r>
            <a:endParaRPr lang="en-US" sz="1600" dirty="0"/>
          </a:p>
        </p:txBody>
      </p:sp>
      <p:sp>
        <p:nvSpPr>
          <p:cNvPr id="16" name="Shape 14"/>
          <p:cNvSpPr/>
          <p:nvPr/>
        </p:nvSpPr>
        <p:spPr>
          <a:xfrm>
            <a:off x="8732520" y="1371600"/>
            <a:ext cx="2907792" cy="3657600"/>
          </a:xfrm>
          <a:prstGeom prst="roundRect">
            <a:avLst>
              <a:gd name="adj" fmla="val 2516"/>
            </a:avLst>
          </a:prstGeom>
          <a:solidFill>
            <a:srgbClr val="0F4C5C"/>
          </a:solidFill>
          <a:ln w="12700">
            <a:solidFill>
              <a:srgbClr val="0F4C5C"/>
            </a:solidFill>
            <a:prstDash val="solid"/>
          </a:ln>
        </p:spPr>
      </p:sp>
      <p:sp>
        <p:nvSpPr>
          <p:cNvPr id="17" name="Text 15"/>
          <p:cNvSpPr txBox="1"/>
          <p:nvPr/>
        </p:nvSpPr>
        <p:spPr>
          <a:xfrm>
            <a:off x="8961120" y="1554480"/>
            <a:ext cx="2468880" cy="91440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36%</a:t>
            </a:r>
            <a:endParaRPr lang="en-US" sz="5400" dirty="0"/>
          </a:p>
        </p:txBody>
      </p:sp>
      <p:sp>
        <p:nvSpPr>
          <p:cNvPr id="18" name="Text 16"/>
          <p:cNvSpPr txBox="1"/>
          <p:nvPr/>
        </p:nvSpPr>
        <p:spPr>
          <a:xfrm>
            <a:off x="8961120" y="2560320"/>
            <a:ext cx="2514600" cy="2377440"/>
          </a:xfrm>
          <a:prstGeom prst="rect">
            <a:avLst/>
          </a:prstGeom>
          <a:noFill/>
          <a:ln/>
        </p:spPr>
        <p:txBody>
          <a:bodyPr wrap="square" lIns="0" tIns="0" rIns="0" bIns="0" rtlCol="0" anchor="t"/>
          <a:lstStyle/>
          <a:p>
            <a:pPr indent="0" marL="0">
              <a:buNone/>
            </a:pPr>
            <a:r>
              <a:rPr lang="en-US" sz="1500" dirty="0">
                <a:solidFill>
                  <a:srgbClr val="FFFFFF"/>
                </a:solidFill>
                <a:latin typeface="Arial" pitchFamily="34" charset="0"/>
                <a:ea typeface="Arial" pitchFamily="34" charset="-122"/>
                <a:cs typeface="Arial" pitchFamily="34" charset="-120"/>
              </a:rPr>
              <a:t>of patients (716 of 1,999) cross the call line when only the HbA1c result or the diabetes-medicine entries change.</a:t>
            </a:r>
            <a:endParaRPr lang="en-US" sz="1500" dirty="0"/>
          </a:p>
        </p:txBody>
      </p:sp>
      <p:sp>
        <p:nvSpPr>
          <p:cNvPr id="19" name="Shape 17"/>
          <p:cNvSpPr/>
          <p:nvPr/>
        </p:nvSpPr>
        <p:spPr>
          <a:xfrm>
            <a:off x="548640" y="5212080"/>
            <a:ext cx="11094415" cy="1261872"/>
          </a:xfrm>
          <a:prstGeom prst="roundRect">
            <a:avLst>
              <a:gd name="adj" fmla="val 5797"/>
            </a:avLst>
          </a:prstGeom>
          <a:solidFill>
            <a:srgbClr val="FDEEE6"/>
          </a:solidFill>
          <a:ln w="12700">
            <a:solidFill>
              <a:srgbClr val="FDEEE6"/>
            </a:solidFill>
            <a:prstDash val="solid"/>
          </a:ln>
        </p:spPr>
      </p:sp>
      <p:sp>
        <p:nvSpPr>
          <p:cNvPr id="20" name="Text 18"/>
          <p:cNvSpPr txBox="1"/>
          <p:nvPr/>
        </p:nvSpPr>
        <p:spPr>
          <a:xfrm>
            <a:off x="822960" y="5212080"/>
            <a:ext cx="10545775" cy="1261872"/>
          </a:xfrm>
          <a:prstGeom prst="rect">
            <a:avLst/>
          </a:prstGeom>
          <a:noFill/>
          <a:ln/>
        </p:spPr>
        <p:txBody>
          <a:bodyPr wrap="square" lIns="0" tIns="0" rIns="0" bIns="0" rtlCol="0" anchor="ctr"/>
          <a:lstStyle/>
          <a:p>
            <a:pPr indent="0" marL="0">
              <a:buNone/>
            </a:pPr>
            <a:r>
              <a:rPr lang="en-US" sz="1500" b="1" dirty="0">
                <a:solidFill>
                  <a:srgbClr val="D9480F"/>
                </a:solidFill>
                <a:latin typeface="Arial" pitchFamily="34" charset="0"/>
                <a:ea typeface="Arial" pitchFamily="34" charset="-122"/>
                <a:cs typeface="Arial" pitchFamily="34" charset="-120"/>
              </a:rPr>
              <a:t>What we tell the hospital: </a:t>
            </a:r>
            <a:pPr indent="0" marL="0">
              <a:buNone/>
            </a:pPr>
            <a:r>
              <a:rPr lang="en-US" sz="1500" dirty="0">
                <a:solidFill>
                  <a:srgbClr val="1F2933"/>
                </a:solidFill>
                <a:latin typeface="Arial" pitchFamily="34" charset="0"/>
                <a:ea typeface="Arial" pitchFamily="34" charset="-122"/>
                <a:cs typeface="Arial" pitchFamily="34" charset="-120"/>
              </a:rPr>
              <a:t>the call list partly reflects how things were written down, not only how sick the patient is. </a:t>
            </a:r>
            <a:pPr indent="0" marL="0">
              <a:buNone/>
            </a:pPr>
            <a:r>
              <a:rPr lang="en-US" sz="1500" dirty="0">
                <a:solidFill>
                  <a:srgbClr val="1F2933"/>
                </a:solidFill>
                <a:latin typeface="Arial" pitchFamily="34" charset="0"/>
                <a:ea typeface="Arial" pitchFamily="34" charset="-122"/>
                <a:cs typeface="Arial" pitchFamily="34" charset="-120"/>
              </a:rPr>
              <a:t>Never change a test or a medicine to move a score. Record these items the same way on every ward, and re-check the list if recording habits change.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DASHBOARD · CAUSAL ANALYSIS</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Cause or coincidence? Reading the causal chart</a:t>
            </a:r>
            <a:endParaRPr lang="en-US" sz="2700" dirty="0"/>
          </a:p>
        </p:txBody>
      </p:sp>
      <p:sp>
        <p:nvSpPr>
          <p:cNvPr id="4" name="Shape 2"/>
          <p:cNvSpPr/>
          <p:nvPr/>
        </p:nvSpPr>
        <p:spPr>
          <a:xfrm>
            <a:off x="548640" y="1325880"/>
            <a:ext cx="7772400" cy="4295239"/>
          </a:xfrm>
          <a:prstGeom prst="rect">
            <a:avLst/>
          </a:prstGeom>
          <a:solidFill>
            <a:srgbClr val="FFFFFF"/>
          </a:solidFill>
          <a:ln w="12700">
            <a:solidFill>
              <a:srgbClr val="C9D3DA"/>
            </a:solidFill>
            <a:prstDash val="solid"/>
          </a:ln>
        </p:spPr>
      </p:sp>
      <p:pic>
        <p:nvPicPr>
          <p:cNvPr id="5" name="Image 0" descr="07 causal effects">    </p:cNvPr>
          <p:cNvPicPr>
            <a:picLocks noChangeAspect="1"/>
          </p:cNvPicPr>
          <p:nvPr/>
        </p:nvPicPr>
        <p:blipFill>
          <a:blip r:embed="rId1"/>
          <a:stretch>
            <a:fillRect/>
          </a:stretch>
        </p:blipFill>
        <p:spPr>
          <a:xfrm>
            <a:off x="594360" y="1371600"/>
            <a:ext cx="7680960" cy="4203799"/>
          </a:xfrm>
          <a:prstGeom prst="rect">
            <a:avLst/>
          </a:prstGeom>
        </p:spPr>
      </p:pic>
      <p:sp>
        <p:nvSpPr>
          <p:cNvPr id="6" name="Text 3"/>
          <p:cNvSpPr txBox="1"/>
          <p:nvPr/>
        </p:nvSpPr>
        <p:spPr>
          <a:xfrm>
            <a:off x="5814446" y="5170580"/>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4"/>
          <p:cNvSpPr txBox="1"/>
          <p:nvPr/>
        </p:nvSpPr>
        <p:spPr>
          <a:xfrm>
            <a:off x="7150608" y="3964700"/>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8" name="Text 5"/>
          <p:cNvSpPr txBox="1"/>
          <p:nvPr/>
        </p:nvSpPr>
        <p:spPr>
          <a:xfrm>
            <a:off x="2810866" y="2047768"/>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9" name="Text 6"/>
          <p:cNvSpPr txBox="1"/>
          <p:nvPr/>
        </p:nvSpPr>
        <p:spPr>
          <a:xfrm>
            <a:off x="8549640" y="1371600"/>
            <a:ext cx="3090672" cy="868680"/>
          </a:xfrm>
          <a:prstGeom prst="rect">
            <a:avLst/>
          </a:prstGeom>
          <a:noFill/>
          <a:ln/>
        </p:spPr>
        <p:txBody>
          <a:bodyPr wrap="square" lIns="0" tIns="0" rIns="0" bIns="0" rtlCol="0" anchor="t"/>
          <a:lstStyle/>
          <a:p>
            <a:pPr indent="0" marL="0">
              <a:buNone/>
            </a:pPr>
            <a:r>
              <a:rPr lang="en-US" sz="1400" b="1" dirty="0">
                <a:solidFill>
                  <a:srgbClr val="0F4C5C"/>
                </a:solidFill>
                <a:latin typeface="Arial" pitchFamily="34" charset="0"/>
                <a:ea typeface="Arial" pitchFamily="34" charset="-122"/>
                <a:cs typeface="Arial" pitchFamily="34" charset="-120"/>
              </a:rPr>
              <a:t>Our question: </a:t>
            </a:r>
            <a:pPr indent="0" marL="0">
              <a:buNone/>
            </a:pPr>
            <a:r>
              <a:rPr lang="en-US" sz="1400" dirty="0">
                <a:solidFill>
                  <a:srgbClr val="1F2933"/>
                </a:solidFill>
                <a:latin typeface="Arial" pitchFamily="34" charset="0"/>
                <a:ea typeface="Arial" pitchFamily="34" charset="-122"/>
                <a:cs typeface="Arial" pitchFamily="34" charset="-120"/>
              </a:rPr>
              <a:t>does having the HbA1c test, and its result, change the chance of coming back?</a:t>
            </a:r>
            <a:endParaRPr lang="en-US" sz="1400" dirty="0"/>
          </a:p>
        </p:txBody>
      </p:sp>
      <p:sp>
        <p:nvSpPr>
          <p:cNvPr id="10" name="Text 7"/>
          <p:cNvSpPr txBox="1"/>
          <p:nvPr/>
        </p:nvSpPr>
        <p:spPr>
          <a:xfrm>
            <a:off x="8558784" y="2377440"/>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1" name="Text 8"/>
          <p:cNvSpPr txBox="1"/>
          <p:nvPr/>
        </p:nvSpPr>
        <p:spPr>
          <a:xfrm>
            <a:off x="8988552" y="2377440"/>
            <a:ext cx="2651760" cy="865632"/>
          </a:xfrm>
          <a:prstGeom prst="rect">
            <a:avLst/>
          </a:prstGeom>
          <a:noFill/>
          <a:ln/>
        </p:spPr>
        <p:txBody>
          <a:bodyPr wrap="square" lIns="0" tIns="0" rIns="0" bIns="0" rtlCol="0" anchor="t"/>
          <a:lstStyle/>
          <a:p>
            <a:pPr indent="0" marL="0">
              <a:buNone/>
            </a:pPr>
            <a:r>
              <a:rPr lang="en-US" sz="1300" b="1" dirty="0">
                <a:solidFill>
                  <a:srgbClr val="0F4C5C"/>
                </a:solidFill>
                <a:latin typeface="Arial" pitchFamily="34" charset="0"/>
                <a:ea typeface="Arial" pitchFamily="34" charset="-122"/>
                <a:cs typeface="Arial" pitchFamily="34" charset="-120"/>
              </a:rPr>
              <a:t>Each column compares </a:t>
            </a:r>
            <a:pPr indent="0" marL="0">
              <a:buNone/>
            </a:pPr>
            <a:r>
              <a:rPr lang="en-US" sz="1300" dirty="0">
                <a:solidFill>
                  <a:srgbClr val="1F2933"/>
                </a:solidFill>
                <a:latin typeface="Arial" pitchFamily="34" charset="0"/>
                <a:ea typeface="Arial" pitchFamily="34" charset="-122"/>
                <a:cs typeface="Arial" pitchFamily="34" charset="-120"/>
              </a:rPr>
              <a:t>patients with one HbA1c result to similar patients never tested. "&gt;8vNone" = above 8 versus not measured.</a:t>
            </a:r>
            <a:endParaRPr lang="en-US" sz="1300" dirty="0"/>
          </a:p>
        </p:txBody>
      </p:sp>
      <p:sp>
        <p:nvSpPr>
          <p:cNvPr id="12" name="Text 9"/>
          <p:cNvSpPr txBox="1"/>
          <p:nvPr/>
        </p:nvSpPr>
        <p:spPr>
          <a:xfrm>
            <a:off x="8558784" y="3371088"/>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0"/>
          <p:cNvSpPr txBox="1"/>
          <p:nvPr/>
        </p:nvSpPr>
        <p:spPr>
          <a:xfrm>
            <a:off x="8988552" y="3371088"/>
            <a:ext cx="2651760" cy="667512"/>
          </a:xfrm>
          <a:prstGeom prst="rect">
            <a:avLst/>
          </a:prstGeom>
          <a:noFill/>
          <a:ln/>
        </p:spPr>
        <p:txBody>
          <a:bodyPr wrap="square" lIns="0" tIns="0" rIns="0" bIns="0" rtlCol="0" anchor="t"/>
          <a:lstStyle/>
          <a:p>
            <a:pPr indent="0" marL="0">
              <a:buNone/>
            </a:pPr>
            <a:r>
              <a:rPr lang="en-US" sz="1300" b="1" dirty="0">
                <a:solidFill>
                  <a:srgbClr val="0F4C5C"/>
                </a:solidFill>
                <a:latin typeface="Arial" pitchFamily="34" charset="0"/>
                <a:ea typeface="Arial" pitchFamily="34" charset="-122"/>
                <a:cs typeface="Arial" pitchFamily="34" charset="-120"/>
              </a:rPr>
              <a:t>The dot is the best estimate. </a:t>
            </a:r>
            <a:pPr indent="0" marL="0">
              <a:buNone/>
            </a:pPr>
            <a:r>
              <a:rPr lang="en-US" sz="1300" dirty="0">
                <a:solidFill>
                  <a:srgbClr val="1F2933"/>
                </a:solidFill>
                <a:latin typeface="Arial" pitchFamily="34" charset="0"/>
                <a:ea typeface="Arial" pitchFamily="34" charset="-122"/>
                <a:cs typeface="Arial" pitchFamily="34" charset="-120"/>
              </a:rPr>
              <a:t>−0.03 = 3 fewer readmissions per 100 patients.</a:t>
            </a:r>
            <a:endParaRPr lang="en-US" sz="1300" dirty="0"/>
          </a:p>
        </p:txBody>
      </p:sp>
      <p:sp>
        <p:nvSpPr>
          <p:cNvPr id="14" name="Text 11"/>
          <p:cNvSpPr txBox="1"/>
          <p:nvPr/>
        </p:nvSpPr>
        <p:spPr>
          <a:xfrm>
            <a:off x="8558784" y="4166616"/>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2"/>
          <p:cNvSpPr txBox="1"/>
          <p:nvPr/>
        </p:nvSpPr>
        <p:spPr>
          <a:xfrm>
            <a:off x="8988552" y="4166616"/>
            <a:ext cx="2651760" cy="667512"/>
          </a:xfrm>
          <a:prstGeom prst="rect">
            <a:avLst/>
          </a:prstGeom>
          <a:noFill/>
          <a:ln/>
        </p:spPr>
        <p:txBody>
          <a:bodyPr wrap="square" lIns="0" tIns="0" rIns="0" bIns="0" rtlCol="0" anchor="t"/>
          <a:lstStyle/>
          <a:p>
            <a:pPr indent="0" marL="0">
              <a:buNone/>
            </a:pPr>
            <a:r>
              <a:rPr lang="en-US" sz="1300" b="1" dirty="0">
                <a:solidFill>
                  <a:srgbClr val="0F4C5C"/>
                </a:solidFill>
                <a:latin typeface="Arial" pitchFamily="34" charset="0"/>
                <a:ea typeface="Arial" pitchFamily="34" charset="-122"/>
                <a:cs typeface="Arial" pitchFamily="34" charset="-120"/>
              </a:rPr>
              <a:t>Whiskers = uncertainty. </a:t>
            </a:r>
            <a:pPr indent="0" marL="0">
              <a:buNone/>
            </a:pPr>
            <a:r>
              <a:rPr lang="en-US" sz="1300" dirty="0">
                <a:solidFill>
                  <a:srgbClr val="1F2933"/>
                </a:solidFill>
                <a:latin typeface="Arial" pitchFamily="34" charset="0"/>
                <a:ea typeface="Arial" pitchFamily="34" charset="-122"/>
                <a:cs typeface="Arial" pitchFamily="34" charset="-120"/>
              </a:rPr>
              <a:t>If they cross the 0 line, we cannot tell it apart from no effect.</a:t>
            </a:r>
            <a:endParaRPr lang="en-US" sz="1300" dirty="0"/>
          </a:p>
        </p:txBody>
      </p:sp>
      <p:sp>
        <p:nvSpPr>
          <p:cNvPr id="16" name="Text 13"/>
          <p:cNvSpPr txBox="1"/>
          <p:nvPr/>
        </p:nvSpPr>
        <p:spPr>
          <a:xfrm>
            <a:off x="548640" y="5760720"/>
            <a:ext cx="7772400" cy="658368"/>
          </a:xfrm>
          <a:prstGeom prst="rect">
            <a:avLst/>
          </a:prstGeom>
          <a:noFill/>
          <a:ln/>
        </p:spPr>
        <p:txBody>
          <a:bodyPr wrap="square" lIns="0" tIns="0" rIns="0" bIns="0" rtlCol="0" anchor="t"/>
          <a:lstStyle/>
          <a:p>
            <a:pPr indent="0" marL="0">
              <a:buNone/>
            </a:pPr>
            <a:r>
              <a:rPr lang="en-US" sz="1300" b="1" dirty="0">
                <a:solidFill>
                  <a:srgbClr val="0F4C5C"/>
                </a:solidFill>
                <a:latin typeface="Arial" pitchFamily="34" charset="0"/>
                <a:ea typeface="Arial" pitchFamily="34" charset="-122"/>
                <a:cs typeface="Arial" pitchFamily="34" charset="-120"/>
              </a:rPr>
              <a:t>"Similar" </a:t>
            </a:r>
            <a:pPr indent="0" marL="0">
              <a:buNone/>
            </a:pPr>
            <a:r>
              <a:rPr lang="en-US" sz="1300" dirty="0">
                <a:solidFill>
                  <a:srgbClr val="1F2933"/>
                </a:solidFill>
                <a:latin typeface="Arial" pitchFamily="34" charset="0"/>
                <a:ea typeface="Arial" pitchFamily="34" charset="-122"/>
                <a:cs typeface="Arial" pitchFamily="34" charset="-120"/>
              </a:rPr>
              <a:t>= same age, previous stays, diagnoses and so on. The dashboard also lists these numbers in a table (next slide, in plain words).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FINDING 4 · CAUSAL ANALYSIS</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Finding 4: a high HbA1c result goes with fewer returns</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2011680"/>
                <a:gridCol w="2743200"/>
                <a:gridCol w="1920240"/>
              </a:tblGrid>
              <a:tr h="566928">
                <a:tc>
                  <a:txBody>
                    <a:bodyPr/>
                    <a:lstStyle/>
                    <a:p>
                      <a:pPr indent="0" marL="0">
                        <a:buNone/>
                      </a:pPr>
                      <a:r>
                        <a:rPr lang="en-US" sz="1300" b="1" dirty="0">
                          <a:solidFill>
                            <a:srgbClr val="FFFFFF"/>
                          </a:solidFill>
                          <a:latin typeface="Arial" pitchFamily="34" charset="0"/>
                          <a:ea typeface="Arial" pitchFamily="34" charset="-122"/>
                          <a:cs typeface="Arial" pitchFamily="34" charset="-120"/>
                        </a:rPr>
                        <a:t>HbA1c result (against never tested)</a:t>
                      </a:r>
                      <a:endParaRPr lang="en-US" sz="1300" dirty="0">
                        <a:latin typeface="Arial" charset="0"/>
                        <a:ea typeface="Arial" charset="0"/>
                        <a:cs typeface="Arial" charset="0"/>
                      </a:endParaRPr>
                    </a:p>
                  </a:txBody>
                  <a:tcPr marL="91440" marR="91440" marT="54864" marB="54864" anchor="ctr">
                    <a:lnL w="12700" cap="flat" cmpd="sng" algn="ctr">
                      <a:solidFill>
                        <a:srgbClr val="C9D3DA"/>
                      </a:solidFill>
                      <a:prstDash val="solid"/>
                      <a:round/>
                      <a:headEnd type="none" w="med" len="med"/>
                      <a:tailEnd type="none" w="med" len="med"/>
                    </a:lnL>
                    <a:lnR w="12700" cap="flat" cmpd="sng" algn="ctr">
                      <a:solidFill>
                        <a:srgbClr val="C9D3DA"/>
                      </a:solidFill>
                      <a:prstDash val="solid"/>
                      <a:round/>
                      <a:headEnd type="none" w="med" len="med"/>
                      <a:tailEnd type="none" w="med" len="med"/>
                    </a:lnR>
                    <a:lnT w="12700" cap="flat" cmpd="sng" algn="ctr">
                      <a:solidFill>
                        <a:srgbClr val="C9D3DA"/>
                      </a:solidFill>
                      <a:prstDash val="solid"/>
                      <a:round/>
                      <a:headEnd type="none" w="med" len="med"/>
                      <a:tailEnd type="none" w="med" len="med"/>
                    </a:lnT>
                    <a:lnB w="12700" cap="flat" cmpd="sng" algn="ctr">
                      <a:solidFill>
                        <a:srgbClr val="C9D3DA"/>
                      </a:solidFill>
                      <a:prstDash val="solid"/>
                      <a:round/>
                      <a:headEnd type="none" w="med" len="med"/>
                      <a:tailEnd type="none" w="med" len="med"/>
                    </a:lnB>
                    <a:solidFill>
                      <a:srgbClr val="0F4C5C"/>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Change in readmissions per 100 patients</a:t>
                      </a:r>
                      <a:endParaRPr lang="en-US" sz="1300" dirty="0">
                        <a:latin typeface="Arial" charset="0"/>
                        <a:ea typeface="Arial" charset="0"/>
                        <a:cs typeface="Arial" charset="0"/>
                      </a:endParaRPr>
                    </a:p>
                  </a:txBody>
                  <a:tcPr marL="91440" marR="91440" marT="54864" marB="54864" anchor="ctr">
                    <a:lnL w="12700" cap="flat" cmpd="sng" algn="ctr">
                      <a:solidFill>
                        <a:srgbClr val="C9D3DA"/>
                      </a:solidFill>
                      <a:prstDash val="solid"/>
                      <a:round/>
                      <a:headEnd type="none" w="med" len="med"/>
                      <a:tailEnd type="none" w="med" len="med"/>
                    </a:lnL>
                    <a:lnR w="12700" cap="flat" cmpd="sng" algn="ctr">
                      <a:solidFill>
                        <a:srgbClr val="C9D3DA"/>
                      </a:solidFill>
                      <a:prstDash val="solid"/>
                      <a:round/>
                      <a:headEnd type="none" w="med" len="med"/>
                      <a:tailEnd type="none" w="med" len="med"/>
                    </a:lnR>
                    <a:lnT w="12700" cap="flat" cmpd="sng" algn="ctr">
                      <a:solidFill>
                        <a:srgbClr val="C9D3DA"/>
                      </a:solidFill>
                      <a:prstDash val="solid"/>
                      <a:round/>
                      <a:headEnd type="none" w="med" len="med"/>
                      <a:tailEnd type="none" w="med" len="med"/>
                    </a:lnT>
                    <a:lnB w="12700" cap="flat" cmpd="sng" algn="ctr">
                      <a:solidFill>
                        <a:srgbClr val="C9D3DA"/>
                      </a:solidFill>
                      <a:prstDash val="solid"/>
                      <a:round/>
                      <a:headEnd type="none" w="med" len="med"/>
                      <a:tailEnd type="none" w="med" len="med"/>
                    </a:lnB>
                    <a:solidFill>
                      <a:srgbClr val="0F4C5C"/>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Could it be luck?</a:t>
                      </a:r>
                      <a:endParaRPr lang="en-US" sz="1300" dirty="0">
                        <a:latin typeface="Arial" charset="0"/>
                        <a:ea typeface="Arial" charset="0"/>
                        <a:cs typeface="Arial" charset="0"/>
                      </a:endParaRPr>
                    </a:p>
                  </a:txBody>
                  <a:tcPr marL="91440" marR="91440" marT="54864" marB="54864" anchor="ctr">
                    <a:lnL w="12700" cap="flat" cmpd="sng" algn="ctr">
                      <a:solidFill>
                        <a:srgbClr val="C9D3DA"/>
                      </a:solidFill>
                      <a:prstDash val="solid"/>
                      <a:round/>
                      <a:headEnd type="none" w="med" len="med"/>
                      <a:tailEnd type="none" w="med" len="med"/>
                    </a:lnL>
                    <a:lnR w="12700" cap="flat" cmpd="sng" algn="ctr">
                      <a:solidFill>
                        <a:srgbClr val="C9D3DA"/>
                      </a:solidFill>
                      <a:prstDash val="solid"/>
                      <a:round/>
                      <a:headEnd type="none" w="med" len="med"/>
                      <a:tailEnd type="none" w="med" len="med"/>
                    </a:lnR>
                    <a:lnT w="12700" cap="flat" cmpd="sng" algn="ctr">
                      <a:solidFill>
                        <a:srgbClr val="C9D3DA"/>
                      </a:solidFill>
                      <a:prstDash val="solid"/>
                      <a:round/>
                      <a:headEnd type="none" w="med" len="med"/>
                      <a:tailEnd type="none" w="med" len="med"/>
                    </a:lnT>
                    <a:lnB w="12700" cap="flat" cmpd="sng" algn="ctr">
                      <a:solidFill>
                        <a:srgbClr val="C9D3DA"/>
                      </a:solidFill>
                      <a:prstDash val="solid"/>
                      <a:round/>
                      <a:headEnd type="none" w="med" len="med"/>
                      <a:tailEnd type="none" w="med" len="med"/>
                    </a:lnB>
                    <a:solidFill>
                      <a:srgbClr val="0F4C5C"/>
                    </a:solidFill>
                  </a:tcPr>
                </a:tc>
              </a:tr>
              <a:tr h="502920">
                <a:tc>
                  <a:txBody>
                    <a:bodyPr/>
                    <a:lstStyle/>
                    <a:p>
                      <a:pPr indent="0" marL="0">
                        <a:buNone/>
                      </a:pPr>
                      <a:r>
                        <a:rPr lang="en-US" sz="1400" b="1" dirty="0">
                          <a:solidFill>
                            <a:srgbClr val="1F2933"/>
                          </a:solidFill>
                          <a:latin typeface="Arial" pitchFamily="34" charset="0"/>
                          <a:ea typeface="Arial" pitchFamily="34" charset="-122"/>
                          <a:cs typeface="Arial" pitchFamily="34" charset="-120"/>
                        </a:rPr>
                        <a:t>Above 8</a:t>
                      </a:r>
                      <a:endParaRPr lang="en-US" sz="1400" dirty="0">
                        <a:latin typeface="Arial" charset="0"/>
                        <a:ea typeface="Arial" charset="0"/>
                        <a:cs typeface="Arial" charset="0"/>
                      </a:endParaRPr>
                    </a:p>
                  </a:txBody>
                  <a:tcPr marL="91440" marR="91440" marT="54864" marB="54864" anchor="ctr">
                    <a:lnL w="12700" cap="flat" cmpd="sng" algn="ctr">
                      <a:solidFill>
                        <a:srgbClr val="C9D3DA"/>
                      </a:solidFill>
                      <a:prstDash val="solid"/>
                      <a:round/>
                      <a:headEnd type="none" w="med" len="med"/>
                      <a:tailEnd type="none" w="med" len="med"/>
                    </a:lnL>
                    <a:lnR w="12700" cap="flat" cmpd="sng" algn="ctr">
                      <a:solidFill>
                        <a:srgbClr val="C9D3DA"/>
                      </a:solidFill>
                      <a:prstDash val="solid"/>
                      <a:round/>
                      <a:headEnd type="none" w="med" len="med"/>
                      <a:tailEnd type="none" w="med" len="med"/>
                    </a:lnR>
                    <a:lnT w="12700" cap="flat" cmpd="sng" algn="ctr">
                      <a:solidFill>
                        <a:srgbClr val="C9D3DA"/>
                      </a:solidFill>
                      <a:prstDash val="solid"/>
                      <a:round/>
                      <a:headEnd type="none" w="med" len="med"/>
                      <a:tailEnd type="none" w="med" len="med"/>
                    </a:lnT>
                    <a:lnB w="12700" cap="flat" cmpd="sng" algn="ctr">
                      <a:solidFill>
                        <a:srgbClr val="C9D3DA"/>
                      </a:solidFill>
                      <a:prstDash val="solid"/>
                      <a:round/>
                      <a:headEnd type="none" w="med" len="med"/>
                      <a:tailEnd type="none" w="med" len="med"/>
                    </a:lnB>
                    <a:solidFill>
                      <a:srgbClr val="FDEEE6"/>
                    </a:solidFill>
                  </a:tcPr>
                </a:tc>
                <a:tc>
                  <a:txBody>
                    <a:bodyPr/>
                    <a:lstStyle/>
                    <a:p>
                      <a:pPr indent="0" marL="0">
                        <a:buNone/>
                      </a:pPr>
                      <a:r>
                        <a:rPr lang="en-US" sz="1400" b="1" dirty="0">
                          <a:solidFill>
                            <a:srgbClr val="1F2933"/>
                          </a:solidFill>
                          <a:latin typeface="Arial" pitchFamily="34" charset="0"/>
                          <a:ea typeface="Arial" pitchFamily="34" charset="-122"/>
                          <a:cs typeface="Arial" pitchFamily="34" charset="-120"/>
                        </a:rPr>
                        <a:t>3 fewer (range: 1 to 5 fewer)</a:t>
                      </a:r>
                      <a:endParaRPr lang="en-US" sz="1400" dirty="0">
                        <a:latin typeface="Arial" charset="0"/>
                        <a:ea typeface="Arial" charset="0"/>
                        <a:cs typeface="Arial" charset="0"/>
                      </a:endParaRPr>
                    </a:p>
                  </a:txBody>
                  <a:tcPr marL="91440" marR="91440" marT="54864" marB="54864" anchor="ctr">
                    <a:lnL w="12700" cap="flat" cmpd="sng" algn="ctr">
                      <a:solidFill>
                        <a:srgbClr val="C9D3DA"/>
                      </a:solidFill>
                      <a:prstDash val="solid"/>
                      <a:round/>
                      <a:headEnd type="none" w="med" len="med"/>
                      <a:tailEnd type="none" w="med" len="med"/>
                    </a:lnL>
                    <a:lnR w="12700" cap="flat" cmpd="sng" algn="ctr">
                      <a:solidFill>
                        <a:srgbClr val="C9D3DA"/>
                      </a:solidFill>
                      <a:prstDash val="solid"/>
                      <a:round/>
                      <a:headEnd type="none" w="med" len="med"/>
                      <a:tailEnd type="none" w="med" len="med"/>
                    </a:lnR>
                    <a:lnT w="12700" cap="flat" cmpd="sng" algn="ctr">
                      <a:solidFill>
                        <a:srgbClr val="C9D3DA"/>
                      </a:solidFill>
                      <a:prstDash val="solid"/>
                      <a:round/>
                      <a:headEnd type="none" w="med" len="med"/>
                      <a:tailEnd type="none" w="med" len="med"/>
                    </a:lnT>
                    <a:lnB w="12700" cap="flat" cmpd="sng" algn="ctr">
                      <a:solidFill>
                        <a:srgbClr val="C9D3DA"/>
                      </a:solidFill>
                      <a:prstDash val="solid"/>
                      <a:round/>
                      <a:headEnd type="none" w="med" len="med"/>
                      <a:tailEnd type="none" w="med" len="med"/>
                    </a:lnB>
                    <a:solidFill>
                      <a:srgbClr val="FDEEE6"/>
                    </a:solidFill>
                  </a:tcPr>
                </a:tc>
                <a:tc>
                  <a:txBody>
                    <a:bodyPr/>
                    <a:lstStyle/>
                    <a:p>
                      <a:pPr indent="0" marL="0">
                        <a:buNone/>
                      </a:pPr>
                      <a:r>
                        <a:rPr lang="en-US" sz="1400" b="1" dirty="0">
                          <a:solidFill>
                            <a:srgbClr val="1F2933"/>
                          </a:solidFill>
                          <a:latin typeface="Arial" pitchFamily="34" charset="0"/>
                          <a:ea typeface="Arial" pitchFamily="34" charset="-122"/>
                          <a:cs typeface="Arial" pitchFamily="34" charset="-120"/>
                        </a:rPr>
                        <a:t>Unlikely (p = 0.004)</a:t>
                      </a:r>
                      <a:endParaRPr lang="en-US" sz="1400" dirty="0">
                        <a:latin typeface="Arial" charset="0"/>
                        <a:ea typeface="Arial" charset="0"/>
                        <a:cs typeface="Arial" charset="0"/>
                      </a:endParaRPr>
                    </a:p>
                  </a:txBody>
                  <a:tcPr marL="91440" marR="91440" marT="54864" marB="54864" anchor="ctr">
                    <a:lnL w="12700" cap="flat" cmpd="sng" algn="ctr">
                      <a:solidFill>
                        <a:srgbClr val="C9D3DA"/>
                      </a:solidFill>
                      <a:prstDash val="solid"/>
                      <a:round/>
                      <a:headEnd type="none" w="med" len="med"/>
                      <a:tailEnd type="none" w="med" len="med"/>
                    </a:lnL>
                    <a:lnR w="12700" cap="flat" cmpd="sng" algn="ctr">
                      <a:solidFill>
                        <a:srgbClr val="C9D3DA"/>
                      </a:solidFill>
                      <a:prstDash val="solid"/>
                      <a:round/>
                      <a:headEnd type="none" w="med" len="med"/>
                      <a:tailEnd type="none" w="med" len="med"/>
                    </a:lnR>
                    <a:lnT w="12700" cap="flat" cmpd="sng" algn="ctr">
                      <a:solidFill>
                        <a:srgbClr val="C9D3DA"/>
                      </a:solidFill>
                      <a:prstDash val="solid"/>
                      <a:round/>
                      <a:headEnd type="none" w="med" len="med"/>
                      <a:tailEnd type="none" w="med" len="med"/>
                    </a:lnT>
                    <a:lnB w="12700" cap="flat" cmpd="sng" algn="ctr">
                      <a:solidFill>
                        <a:srgbClr val="C9D3DA"/>
                      </a:solidFill>
                      <a:prstDash val="solid"/>
                      <a:round/>
                      <a:headEnd type="none" w="med" len="med"/>
                      <a:tailEnd type="none" w="med" len="med"/>
                    </a:lnB>
                    <a:solidFill>
                      <a:srgbClr val="FDEEE6"/>
                    </a:solidFill>
                  </a:tcPr>
                </a:tc>
              </a:tr>
              <a:tr h="502920">
                <a:tc>
                  <a:txBody>
                    <a:bodyPr/>
                    <a:lstStyle/>
                    <a:p>
                      <a:pPr indent="0" marL="0">
                        <a:buNone/>
                      </a:pPr>
                      <a:r>
                        <a:rPr lang="en-US" sz="1400" dirty="0">
                          <a:solidFill>
                            <a:srgbClr val="1F2933"/>
                          </a:solidFill>
                          <a:latin typeface="Arial" pitchFamily="34" charset="0"/>
                          <a:ea typeface="Arial" pitchFamily="34" charset="-122"/>
                          <a:cs typeface="Arial" pitchFamily="34" charset="-120"/>
                        </a:rPr>
                        <a:t>Normal</a:t>
                      </a:r>
                      <a:endParaRPr lang="en-US" sz="1400" dirty="0">
                        <a:latin typeface="Arial" charset="0"/>
                        <a:ea typeface="Arial" charset="0"/>
                        <a:cs typeface="Arial" charset="0"/>
                      </a:endParaRPr>
                    </a:p>
                  </a:txBody>
                  <a:tcPr marL="91440" marR="91440" marT="54864" marB="54864" anchor="ctr">
                    <a:lnL w="12700" cap="flat" cmpd="sng" algn="ctr">
                      <a:solidFill>
                        <a:srgbClr val="C9D3DA"/>
                      </a:solidFill>
                      <a:prstDash val="solid"/>
                      <a:round/>
                      <a:headEnd type="none" w="med" len="med"/>
                      <a:tailEnd type="none" w="med" len="med"/>
                    </a:lnL>
                    <a:lnR w="12700" cap="flat" cmpd="sng" algn="ctr">
                      <a:solidFill>
                        <a:srgbClr val="C9D3DA"/>
                      </a:solidFill>
                      <a:prstDash val="solid"/>
                      <a:round/>
                      <a:headEnd type="none" w="med" len="med"/>
                      <a:tailEnd type="none" w="med" len="med"/>
                    </a:lnR>
                    <a:lnT w="12700" cap="flat" cmpd="sng" algn="ctr">
                      <a:solidFill>
                        <a:srgbClr val="C9D3DA"/>
                      </a:solidFill>
                      <a:prstDash val="solid"/>
                      <a:round/>
                      <a:headEnd type="none" w="med" len="med"/>
                      <a:tailEnd type="none" w="med" len="med"/>
                    </a:lnT>
                    <a:lnB w="12700" cap="flat" cmpd="sng" algn="ctr">
                      <a:solidFill>
                        <a:srgbClr val="C9D3DA"/>
                      </a:solidFill>
                      <a:prstDash val="solid"/>
                      <a:round/>
                      <a:headEnd type="none" w="med" len="med"/>
                      <a:tailEnd type="none" w="med" len="med"/>
                    </a:lnB>
                  </a:tcPr>
                </a:tc>
                <a:tc>
                  <a:txBody>
                    <a:bodyPr/>
                    <a:lstStyle/>
                    <a:p>
                      <a:pPr indent="0" marL="0">
                        <a:buNone/>
                      </a:pPr>
                      <a:r>
                        <a:rPr lang="en-US" sz="1400" dirty="0">
                          <a:solidFill>
                            <a:srgbClr val="1F2933"/>
                          </a:solidFill>
                          <a:latin typeface="Arial" pitchFamily="34" charset="0"/>
                          <a:ea typeface="Arial" pitchFamily="34" charset="-122"/>
                          <a:cs typeface="Arial" pitchFamily="34" charset="-120"/>
                        </a:rPr>
                        <a:t>1 fewer (range: 4 fewer to 2 more)</a:t>
                      </a:r>
                      <a:endParaRPr lang="en-US" sz="1400" dirty="0">
                        <a:latin typeface="Arial" charset="0"/>
                        <a:ea typeface="Arial" charset="0"/>
                        <a:cs typeface="Arial" charset="0"/>
                      </a:endParaRPr>
                    </a:p>
                  </a:txBody>
                  <a:tcPr marL="91440" marR="91440" marT="54864" marB="54864" anchor="ctr">
                    <a:lnL w="12700" cap="flat" cmpd="sng" algn="ctr">
                      <a:solidFill>
                        <a:srgbClr val="C9D3DA"/>
                      </a:solidFill>
                      <a:prstDash val="solid"/>
                      <a:round/>
                      <a:headEnd type="none" w="med" len="med"/>
                      <a:tailEnd type="none" w="med" len="med"/>
                    </a:lnL>
                    <a:lnR w="12700" cap="flat" cmpd="sng" algn="ctr">
                      <a:solidFill>
                        <a:srgbClr val="C9D3DA"/>
                      </a:solidFill>
                      <a:prstDash val="solid"/>
                      <a:round/>
                      <a:headEnd type="none" w="med" len="med"/>
                      <a:tailEnd type="none" w="med" len="med"/>
                    </a:lnR>
                    <a:lnT w="12700" cap="flat" cmpd="sng" algn="ctr">
                      <a:solidFill>
                        <a:srgbClr val="C9D3DA"/>
                      </a:solidFill>
                      <a:prstDash val="solid"/>
                      <a:round/>
                      <a:headEnd type="none" w="med" len="med"/>
                      <a:tailEnd type="none" w="med" len="med"/>
                    </a:lnT>
                    <a:lnB w="12700" cap="flat" cmpd="sng" algn="ctr">
                      <a:solidFill>
                        <a:srgbClr val="C9D3DA"/>
                      </a:solidFill>
                      <a:prstDash val="solid"/>
                      <a:round/>
                      <a:headEnd type="none" w="med" len="med"/>
                      <a:tailEnd type="none" w="med" len="med"/>
                    </a:lnB>
                  </a:tcPr>
                </a:tc>
                <a:tc>
                  <a:txBody>
                    <a:bodyPr/>
                    <a:lstStyle/>
                    <a:p>
                      <a:pPr indent="0" marL="0">
                        <a:buNone/>
                      </a:pPr>
                      <a:r>
                        <a:rPr lang="en-US" sz="1400" dirty="0">
                          <a:solidFill>
                            <a:srgbClr val="1F2933"/>
                          </a:solidFill>
                          <a:latin typeface="Arial" pitchFamily="34" charset="0"/>
                          <a:ea typeface="Arial" pitchFamily="34" charset="-122"/>
                          <a:cs typeface="Arial" pitchFamily="34" charset="-120"/>
                        </a:rPr>
                        <a:t>Can't tell (p = 0.54)</a:t>
                      </a:r>
                      <a:endParaRPr lang="en-US" sz="1400" dirty="0">
                        <a:latin typeface="Arial" charset="0"/>
                        <a:ea typeface="Arial" charset="0"/>
                        <a:cs typeface="Arial" charset="0"/>
                      </a:endParaRPr>
                    </a:p>
                  </a:txBody>
                  <a:tcPr marL="91440" marR="91440" marT="54864" marB="54864" anchor="ctr">
                    <a:lnL w="12700" cap="flat" cmpd="sng" algn="ctr">
                      <a:solidFill>
                        <a:srgbClr val="C9D3DA"/>
                      </a:solidFill>
                      <a:prstDash val="solid"/>
                      <a:round/>
                      <a:headEnd type="none" w="med" len="med"/>
                      <a:tailEnd type="none" w="med" len="med"/>
                    </a:lnL>
                    <a:lnR w="12700" cap="flat" cmpd="sng" algn="ctr">
                      <a:solidFill>
                        <a:srgbClr val="C9D3DA"/>
                      </a:solidFill>
                      <a:prstDash val="solid"/>
                      <a:round/>
                      <a:headEnd type="none" w="med" len="med"/>
                      <a:tailEnd type="none" w="med" len="med"/>
                    </a:lnR>
                    <a:lnT w="12700" cap="flat" cmpd="sng" algn="ctr">
                      <a:solidFill>
                        <a:srgbClr val="C9D3DA"/>
                      </a:solidFill>
                      <a:prstDash val="solid"/>
                      <a:round/>
                      <a:headEnd type="none" w="med" len="med"/>
                      <a:tailEnd type="none" w="med" len="med"/>
                    </a:lnT>
                    <a:lnB w="12700" cap="flat" cmpd="sng" algn="ctr">
                      <a:solidFill>
                        <a:srgbClr val="C9D3DA"/>
                      </a:solidFill>
                      <a:prstDash val="solid"/>
                      <a:round/>
                      <a:headEnd type="none" w="med" len="med"/>
                      <a:tailEnd type="none" w="med" len="med"/>
                    </a:lnB>
                  </a:tcPr>
                </a:tc>
              </a:tr>
              <a:tr h="502920">
                <a:tc>
                  <a:txBody>
                    <a:bodyPr/>
                    <a:lstStyle/>
                    <a:p>
                      <a:pPr indent="0" marL="0">
                        <a:buNone/>
                      </a:pPr>
                      <a:r>
                        <a:rPr lang="en-US" sz="1400" dirty="0">
                          <a:solidFill>
                            <a:srgbClr val="1F2933"/>
                          </a:solidFill>
                          <a:latin typeface="Arial" pitchFamily="34" charset="0"/>
                          <a:ea typeface="Arial" pitchFamily="34" charset="-122"/>
                          <a:cs typeface="Arial" pitchFamily="34" charset="-120"/>
                        </a:rPr>
                        <a:t>7 to 8</a:t>
                      </a:r>
                      <a:endParaRPr lang="en-US" sz="1400" dirty="0">
                        <a:latin typeface="Arial" charset="0"/>
                        <a:ea typeface="Arial" charset="0"/>
                        <a:cs typeface="Arial" charset="0"/>
                      </a:endParaRPr>
                    </a:p>
                  </a:txBody>
                  <a:tcPr marL="91440" marR="91440" marT="54864" marB="54864" anchor="ctr">
                    <a:lnL w="12700" cap="flat" cmpd="sng" algn="ctr">
                      <a:solidFill>
                        <a:srgbClr val="C9D3DA"/>
                      </a:solidFill>
                      <a:prstDash val="solid"/>
                      <a:round/>
                      <a:headEnd type="none" w="med" len="med"/>
                      <a:tailEnd type="none" w="med" len="med"/>
                    </a:lnL>
                    <a:lnR w="12700" cap="flat" cmpd="sng" algn="ctr">
                      <a:solidFill>
                        <a:srgbClr val="C9D3DA"/>
                      </a:solidFill>
                      <a:prstDash val="solid"/>
                      <a:round/>
                      <a:headEnd type="none" w="med" len="med"/>
                      <a:tailEnd type="none" w="med" len="med"/>
                    </a:lnR>
                    <a:lnT w="12700" cap="flat" cmpd="sng" algn="ctr">
                      <a:solidFill>
                        <a:srgbClr val="C9D3DA"/>
                      </a:solidFill>
                      <a:prstDash val="solid"/>
                      <a:round/>
                      <a:headEnd type="none" w="med" len="med"/>
                      <a:tailEnd type="none" w="med" len="med"/>
                    </a:lnT>
                    <a:lnB w="12700" cap="flat" cmpd="sng" algn="ctr">
                      <a:solidFill>
                        <a:srgbClr val="C9D3DA"/>
                      </a:solidFill>
                      <a:prstDash val="solid"/>
                      <a:round/>
                      <a:headEnd type="none" w="med" len="med"/>
                      <a:tailEnd type="none" w="med" len="med"/>
                    </a:lnB>
                  </a:tcPr>
                </a:tc>
                <a:tc>
                  <a:txBody>
                    <a:bodyPr/>
                    <a:lstStyle/>
                    <a:p>
                      <a:pPr indent="0" marL="0">
                        <a:buNone/>
                      </a:pPr>
                      <a:r>
                        <a:rPr lang="en-US" sz="1400" dirty="0">
                          <a:solidFill>
                            <a:srgbClr val="1F2933"/>
                          </a:solidFill>
                          <a:latin typeface="Arial" pitchFamily="34" charset="0"/>
                          <a:ea typeface="Arial" pitchFamily="34" charset="-122"/>
                          <a:cs typeface="Arial" pitchFamily="34" charset="-120"/>
                        </a:rPr>
                        <a:t>About 0 (range: 4 fewer to 3 more)</a:t>
                      </a:r>
                      <a:endParaRPr lang="en-US" sz="1400" dirty="0">
                        <a:latin typeface="Arial" charset="0"/>
                        <a:ea typeface="Arial" charset="0"/>
                        <a:cs typeface="Arial" charset="0"/>
                      </a:endParaRPr>
                    </a:p>
                  </a:txBody>
                  <a:tcPr marL="91440" marR="91440" marT="54864" marB="54864" anchor="ctr">
                    <a:lnL w="12700" cap="flat" cmpd="sng" algn="ctr">
                      <a:solidFill>
                        <a:srgbClr val="C9D3DA"/>
                      </a:solidFill>
                      <a:prstDash val="solid"/>
                      <a:round/>
                      <a:headEnd type="none" w="med" len="med"/>
                      <a:tailEnd type="none" w="med" len="med"/>
                    </a:lnL>
                    <a:lnR w="12700" cap="flat" cmpd="sng" algn="ctr">
                      <a:solidFill>
                        <a:srgbClr val="C9D3DA"/>
                      </a:solidFill>
                      <a:prstDash val="solid"/>
                      <a:round/>
                      <a:headEnd type="none" w="med" len="med"/>
                      <a:tailEnd type="none" w="med" len="med"/>
                    </a:lnR>
                    <a:lnT w="12700" cap="flat" cmpd="sng" algn="ctr">
                      <a:solidFill>
                        <a:srgbClr val="C9D3DA"/>
                      </a:solidFill>
                      <a:prstDash val="solid"/>
                      <a:round/>
                      <a:headEnd type="none" w="med" len="med"/>
                      <a:tailEnd type="none" w="med" len="med"/>
                    </a:lnT>
                    <a:lnB w="12700" cap="flat" cmpd="sng" algn="ctr">
                      <a:solidFill>
                        <a:srgbClr val="C9D3DA"/>
                      </a:solidFill>
                      <a:prstDash val="solid"/>
                      <a:round/>
                      <a:headEnd type="none" w="med" len="med"/>
                      <a:tailEnd type="none" w="med" len="med"/>
                    </a:lnB>
                  </a:tcPr>
                </a:tc>
                <a:tc>
                  <a:txBody>
                    <a:bodyPr/>
                    <a:lstStyle/>
                    <a:p>
                      <a:pPr indent="0" marL="0">
                        <a:buNone/>
                      </a:pPr>
                      <a:r>
                        <a:rPr lang="en-US" sz="1400" dirty="0">
                          <a:solidFill>
                            <a:srgbClr val="1F2933"/>
                          </a:solidFill>
                          <a:latin typeface="Arial" pitchFamily="34" charset="0"/>
                          <a:ea typeface="Arial" pitchFamily="34" charset="-122"/>
                          <a:cs typeface="Arial" pitchFamily="34" charset="-120"/>
                        </a:rPr>
                        <a:t>Can't tell (p = 0.95)</a:t>
                      </a:r>
                      <a:endParaRPr lang="en-US" sz="1400" dirty="0">
                        <a:latin typeface="Arial" charset="0"/>
                        <a:ea typeface="Arial" charset="0"/>
                        <a:cs typeface="Arial" charset="0"/>
                      </a:endParaRPr>
                    </a:p>
                  </a:txBody>
                  <a:tcPr marL="91440" marR="91440" marT="54864" marB="54864" anchor="ctr">
                    <a:lnL w="12700" cap="flat" cmpd="sng" algn="ctr">
                      <a:solidFill>
                        <a:srgbClr val="C9D3DA"/>
                      </a:solidFill>
                      <a:prstDash val="solid"/>
                      <a:round/>
                      <a:headEnd type="none" w="med" len="med"/>
                      <a:tailEnd type="none" w="med" len="med"/>
                    </a:lnL>
                    <a:lnR w="12700" cap="flat" cmpd="sng" algn="ctr">
                      <a:solidFill>
                        <a:srgbClr val="C9D3DA"/>
                      </a:solidFill>
                      <a:prstDash val="solid"/>
                      <a:round/>
                      <a:headEnd type="none" w="med" len="med"/>
                      <a:tailEnd type="none" w="med" len="med"/>
                    </a:lnR>
                    <a:lnT w="12700" cap="flat" cmpd="sng" algn="ctr">
                      <a:solidFill>
                        <a:srgbClr val="C9D3DA"/>
                      </a:solidFill>
                      <a:prstDash val="solid"/>
                      <a:round/>
                      <a:headEnd type="none" w="med" len="med"/>
                      <a:tailEnd type="none" w="med" len="med"/>
                    </a:lnT>
                    <a:lnB w="12700" cap="flat" cmpd="sng" algn="ctr">
                      <a:solidFill>
                        <a:srgbClr val="C9D3DA"/>
                      </a:solidFill>
                      <a:prstDash val="solid"/>
                      <a:round/>
                      <a:headEnd type="none" w="med" len="med"/>
                      <a:tailEnd type="none" w="med" len="med"/>
                    </a:lnB>
                  </a:tcPr>
                </a:tc>
              </a:tr>
            </a:tbl>
          </a:graphicData>
        </a:graphic>
      </p:graphicFrame>
      <p:sp>
        <p:nvSpPr>
          <p:cNvPr id="5" name="Text 2"/>
          <p:cNvSpPr txBox="1"/>
          <p:nvPr/>
        </p:nvSpPr>
        <p:spPr>
          <a:xfrm>
            <a:off x="548640" y="3584448"/>
            <a:ext cx="6675120" cy="566928"/>
          </a:xfrm>
          <a:prstGeom prst="rect">
            <a:avLst/>
          </a:prstGeom>
          <a:noFill/>
          <a:ln/>
        </p:spPr>
        <p:txBody>
          <a:bodyPr wrap="square" lIns="0" tIns="0" rIns="0" bIns="0" rtlCol="0" anchor="t"/>
          <a:lstStyle/>
          <a:p>
            <a:pPr indent="0" marL="0">
              <a:buNone/>
            </a:pPr>
            <a:r>
              <a:rPr lang="en-US" sz="1300" b="1" dirty="0">
                <a:solidFill>
                  <a:srgbClr val="0F4C5C"/>
                </a:solidFill>
                <a:latin typeface="Arial" pitchFamily="34" charset="0"/>
                <a:ea typeface="Arial" pitchFamily="34" charset="-122"/>
                <a:cs typeface="Arial" pitchFamily="34" charset="-120"/>
              </a:rPr>
              <a:t>p-value: </a:t>
            </a:r>
            <a:pPr indent="0" marL="0">
              <a:buNone/>
            </a:pPr>
            <a:r>
              <a:rPr lang="en-US" sz="1300" dirty="0">
                <a:solidFill>
                  <a:srgbClr val="1F2933"/>
                </a:solidFill>
                <a:latin typeface="Arial" pitchFamily="34" charset="0"/>
                <a:ea typeface="Arial" pitchFamily="34" charset="-122"/>
                <a:cs typeface="Arial" pitchFamily="34" charset="-120"/>
              </a:rPr>
              <a:t>the chance of seeing a difference this big by luck alone. Under 0.05 is usually read as real.</a:t>
            </a:r>
            <a:endParaRPr lang="en-US" sz="1300" dirty="0"/>
          </a:p>
        </p:txBody>
      </p:sp>
      <p:sp>
        <p:nvSpPr>
          <p:cNvPr id="6" name="Shape 3"/>
          <p:cNvSpPr/>
          <p:nvPr/>
        </p:nvSpPr>
        <p:spPr>
          <a:xfrm>
            <a:off x="7452360" y="1371600"/>
            <a:ext cx="4187952" cy="2788920"/>
          </a:xfrm>
          <a:prstGeom prst="roundRect">
            <a:avLst>
              <a:gd name="adj" fmla="val 2623"/>
            </a:avLst>
          </a:prstGeom>
          <a:solidFill>
            <a:srgbClr val="F4F6F8"/>
          </a:solidFill>
          <a:ln w="12700">
            <a:solidFill>
              <a:srgbClr val="F4F6F8"/>
            </a:solidFill>
            <a:prstDash val="solid"/>
          </a:ln>
        </p:spPr>
      </p:sp>
      <p:sp>
        <p:nvSpPr>
          <p:cNvPr id="7" name="Text 4"/>
          <p:cNvSpPr txBox="1"/>
          <p:nvPr/>
        </p:nvSpPr>
        <p:spPr>
          <a:xfrm>
            <a:off x="7635240" y="1499616"/>
            <a:ext cx="3822192" cy="310896"/>
          </a:xfrm>
          <a:prstGeom prst="rect">
            <a:avLst/>
          </a:prstGeom>
          <a:noFill/>
          <a:ln/>
        </p:spPr>
        <p:txBody>
          <a:bodyPr wrap="square" lIns="0" tIns="0" rIns="0" bIns="0" rtlCol="0" anchor="t"/>
          <a:lstStyle/>
          <a:p>
            <a:pPr indent="0" marL="0">
              <a:buNone/>
            </a:pPr>
            <a:r>
              <a:rPr lang="en-US" sz="1400" b="1" dirty="0">
                <a:solidFill>
                  <a:srgbClr val="0F4C5C"/>
                </a:solidFill>
                <a:latin typeface="Arial" pitchFamily="34" charset="0"/>
                <a:ea typeface="Arial" pitchFamily="34" charset="-122"/>
                <a:cs typeface="Arial" pitchFamily="34" charset="-120"/>
              </a:rPr>
              <a:t>Two explanations the data cannot tell apart</a:t>
            </a:r>
            <a:endParaRPr lang="en-US" sz="1400" dirty="0"/>
          </a:p>
        </p:txBody>
      </p:sp>
      <p:sp>
        <p:nvSpPr>
          <p:cNvPr id="8" name="Text 5"/>
          <p:cNvSpPr txBox="1"/>
          <p:nvPr/>
        </p:nvSpPr>
        <p:spPr>
          <a:xfrm>
            <a:off x="7635240" y="1847088"/>
            <a:ext cx="3822192" cy="2203704"/>
          </a:xfrm>
          <a:prstGeom prst="rect">
            <a:avLst/>
          </a:prstGeom>
          <a:noFill/>
          <a:ln/>
        </p:spPr>
        <p:txBody>
          <a:bodyPr wrap="square" lIns="0" tIns="0" rIns="0" bIns="0" rtlCol="0" anchor="t"/>
          <a:lstStyle/>
          <a:p>
            <a:pPr indent="0" marL="0">
              <a:spcAft>
                <a:spcPts val="400"/>
              </a:spcAft>
              <a:buNone/>
            </a:pPr>
            <a:r>
              <a:rPr lang="en-US" sz="1350" b="1" dirty="0">
                <a:solidFill>
                  <a:srgbClr val="0F4C5C"/>
                </a:solidFill>
                <a:latin typeface="Arial" pitchFamily="34" charset="0"/>
                <a:ea typeface="Arial" pitchFamily="34" charset="-122"/>
                <a:cs typeface="Arial" pitchFamily="34" charset="-120"/>
              </a:rPr>
              <a:t>Cause: </a:t>
            </a:r>
            <a:pPr indent="0" marL="0">
              <a:spcAft>
                <a:spcPts val="400"/>
              </a:spcAft>
              <a:buNone/>
            </a:pPr>
            <a:r>
              <a:rPr lang="en-US" sz="1350" dirty="0">
                <a:solidFill>
                  <a:srgbClr val="1F2933"/>
                </a:solidFill>
                <a:latin typeface="Arial" pitchFamily="34" charset="0"/>
                <a:ea typeface="Arial" pitchFamily="34" charset="-122"/>
                <a:cs typeface="Arial" pitchFamily="34" charset="-120"/>
              </a:rPr>
              <a:t>a high result makes doctors adjust the diabetes treatment before the patient goes home.</a:t>
            </a:r>
            <a:endParaRPr lang="en-US" sz="1350" dirty="0"/>
          </a:p>
          <a:p>
            <a:pPr indent="0" marL="0">
              <a:spcAft>
                <a:spcPts val="400"/>
              </a:spcAft>
              <a:buNone/>
            </a:pPr>
            <a:r>
              <a:rPr lang="en-US" sz="600" dirty="0">
                <a:solidFill>
                  <a:srgbClr val="1F2933"/>
                </a:solidFill>
                <a:latin typeface="Arial" pitchFamily="34" charset="0"/>
                <a:ea typeface="Arial" pitchFamily="34" charset="-122"/>
                <a:cs typeface="Arial" pitchFamily="34" charset="-120"/>
              </a:rPr>
              <a:t> </a:t>
            </a:r>
            <a:endParaRPr lang="en-US" sz="1350" dirty="0"/>
          </a:p>
          <a:p>
            <a:pPr indent="0" marL="0">
              <a:spcAft>
                <a:spcPts val="400"/>
              </a:spcAft>
              <a:buNone/>
            </a:pPr>
            <a:r>
              <a:rPr lang="en-US" sz="1350" b="1" dirty="0">
                <a:solidFill>
                  <a:srgbClr val="D9480F"/>
                </a:solidFill>
                <a:latin typeface="Arial" pitchFamily="34" charset="0"/>
                <a:ea typeface="Arial" pitchFamily="34" charset="-122"/>
                <a:cs typeface="Arial" pitchFamily="34" charset="-120"/>
              </a:rPr>
              <a:t>Coincidence: </a:t>
            </a:r>
            <a:pPr indent="0" marL="0">
              <a:spcAft>
                <a:spcPts val="400"/>
              </a:spcAft>
              <a:buNone/>
            </a:pPr>
            <a:r>
              <a:rPr lang="en-US" sz="1350" dirty="0">
                <a:solidFill>
                  <a:srgbClr val="1F2933"/>
                </a:solidFill>
                <a:latin typeface="Arial" pitchFamily="34" charset="0"/>
                <a:ea typeface="Arial" pitchFamily="34" charset="-122"/>
                <a:cs typeface="Arial" pitchFamily="34" charset="-120"/>
              </a:rPr>
              <a:t>wards that order the test may simply plan discharges more carefully, and that is what helps.</a:t>
            </a:r>
            <a:endParaRPr lang="en-US" sz="1350" dirty="0"/>
          </a:p>
        </p:txBody>
      </p:sp>
      <p:sp>
        <p:nvSpPr>
          <p:cNvPr id="9" name="Text 6"/>
          <p:cNvSpPr txBox="1"/>
          <p:nvPr/>
        </p:nvSpPr>
        <p:spPr>
          <a:xfrm>
            <a:off x="548640" y="4315968"/>
            <a:ext cx="11094415" cy="640080"/>
          </a:xfrm>
          <a:prstGeom prst="rect">
            <a:avLst/>
          </a:prstGeom>
          <a:noFill/>
          <a:ln/>
        </p:spPr>
        <p:txBody>
          <a:bodyPr wrap="square" lIns="0" tIns="0" rIns="0" bIns="0" rtlCol="0" anchor="t"/>
          <a:lstStyle/>
          <a:p>
            <a:pPr indent="0" marL="0">
              <a:buNone/>
            </a:pPr>
            <a:r>
              <a:rPr lang="en-US" sz="1450" b="1" dirty="0">
                <a:solidFill>
                  <a:srgbClr val="0F4C5C"/>
                </a:solidFill>
                <a:latin typeface="Arial" pitchFamily="34" charset="0"/>
                <a:ea typeface="Arial" pitchFamily="34" charset="-122"/>
                <a:cs typeface="Arial" pitchFamily="34" charset="-120"/>
              </a:rPr>
              <a:t>Striking detail: </a:t>
            </a:r>
            <a:pPr indent="0" marL="0">
              <a:buNone/>
            </a:pPr>
            <a:r>
              <a:rPr lang="en-US" sz="1450" dirty="0">
                <a:solidFill>
                  <a:srgbClr val="1F2933"/>
                </a:solidFill>
                <a:latin typeface="Arial" pitchFamily="34" charset="0"/>
                <a:ea typeface="Arial" pitchFamily="34" charset="-122"/>
                <a:cs typeface="Arial" pitchFamily="34" charset="-120"/>
              </a:rPr>
              <a:t>83% of the stays in our dashboard sample had no HbA1c test at all. That is also why recording a high result lowered patient 248's score.</a:t>
            </a:r>
            <a:endParaRPr lang="en-US" sz="1450" dirty="0"/>
          </a:p>
        </p:txBody>
      </p:sp>
      <p:sp>
        <p:nvSpPr>
          <p:cNvPr id="10" name="Shape 7"/>
          <p:cNvSpPr/>
          <p:nvPr/>
        </p:nvSpPr>
        <p:spPr>
          <a:xfrm>
            <a:off x="548640" y="5120640"/>
            <a:ext cx="11094415" cy="1325880"/>
          </a:xfrm>
          <a:prstGeom prst="roundRect">
            <a:avLst>
              <a:gd name="adj" fmla="val 5517"/>
            </a:avLst>
          </a:prstGeom>
          <a:solidFill>
            <a:srgbClr val="FDEEE6"/>
          </a:solidFill>
          <a:ln w="12700">
            <a:solidFill>
              <a:srgbClr val="FDEEE6"/>
            </a:solidFill>
            <a:prstDash val="solid"/>
          </a:ln>
        </p:spPr>
      </p:sp>
      <p:sp>
        <p:nvSpPr>
          <p:cNvPr id="11" name="Text 8"/>
          <p:cNvSpPr txBox="1"/>
          <p:nvPr/>
        </p:nvSpPr>
        <p:spPr>
          <a:xfrm>
            <a:off x="822960" y="5120640"/>
            <a:ext cx="10545775" cy="1325880"/>
          </a:xfrm>
          <a:prstGeom prst="rect">
            <a:avLst/>
          </a:prstGeom>
          <a:noFill/>
          <a:ln/>
        </p:spPr>
        <p:txBody>
          <a:bodyPr wrap="square" lIns="0" tIns="0" rIns="0" bIns="0" rtlCol="0" anchor="ctr"/>
          <a:lstStyle/>
          <a:p>
            <a:pPr indent="0" marL="0">
              <a:buNone/>
            </a:pPr>
            <a:r>
              <a:rPr lang="en-US" sz="1550" b="1" dirty="0">
                <a:solidFill>
                  <a:srgbClr val="D9480F"/>
                </a:solidFill>
                <a:latin typeface="Arial" pitchFamily="34" charset="0"/>
                <a:ea typeface="Arial" pitchFamily="34" charset="-122"/>
                <a:cs typeface="Arial" pitchFamily="34" charset="-120"/>
              </a:rPr>
              <a:t>What we tell the hospital: </a:t>
            </a:r>
            <a:pPr indent="0" marL="0">
              <a:buNone/>
            </a:pPr>
            <a:r>
              <a:rPr lang="en-US" sz="1550" dirty="0">
                <a:solidFill>
                  <a:srgbClr val="1F2933"/>
                </a:solidFill>
                <a:latin typeface="Arial" pitchFamily="34" charset="0"/>
                <a:ea typeface="Arial" pitchFamily="34" charset="-122"/>
                <a:cs typeface="Arial" pitchFamily="34" charset="-120"/>
              </a:rPr>
              <a:t>measuring HbA1c in patients with diabetes is cheap and already good practice, so keep doing it and act on high results. </a:t>
            </a:r>
            <a:pPr indent="0" marL="0">
              <a:buNone/>
            </a:pPr>
            <a:r>
              <a:rPr lang="en-US" sz="1550" dirty="0">
                <a:solidFill>
                  <a:srgbClr val="1F2933"/>
                </a:solidFill>
                <a:latin typeface="Arial" pitchFamily="34" charset="0"/>
                <a:ea typeface="Arial" pitchFamily="34" charset="-122"/>
                <a:cs typeface="Arial" pitchFamily="34" charset="-120"/>
              </a:rPr>
              <a:t>But do not promise fewer readmissions from it until a proper study tests it.</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DASHBOARD · CAUSAL ANALYSIS · TREATMENT POLICY</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Warning: the tool's recommended treatment is backwards</a:t>
            </a:r>
            <a:endParaRPr lang="en-US" sz="2700" dirty="0"/>
          </a:p>
        </p:txBody>
      </p:sp>
      <p:sp>
        <p:nvSpPr>
          <p:cNvPr id="4" name="Shape 2"/>
          <p:cNvSpPr/>
          <p:nvPr/>
        </p:nvSpPr>
        <p:spPr>
          <a:xfrm>
            <a:off x="548640" y="1325880"/>
            <a:ext cx="4389120" cy="2159080"/>
          </a:xfrm>
          <a:prstGeom prst="rect">
            <a:avLst/>
          </a:prstGeom>
          <a:solidFill>
            <a:srgbClr val="FFFFFF"/>
          </a:solidFill>
          <a:ln w="12700">
            <a:solidFill>
              <a:srgbClr val="C9D3DA"/>
            </a:solidFill>
            <a:prstDash val="solid"/>
          </a:ln>
        </p:spPr>
      </p:sp>
      <p:pic>
        <p:nvPicPr>
          <p:cNvPr id="5" name="Image 0" descr="08 treatment policy rule">    </p:cNvPr>
          <p:cNvPicPr>
            <a:picLocks noChangeAspect="1"/>
          </p:cNvPicPr>
          <p:nvPr/>
        </p:nvPicPr>
        <p:blipFill>
          <a:blip r:embed="rId1"/>
          <a:stretch>
            <a:fillRect/>
          </a:stretch>
        </p:blipFill>
        <p:spPr>
          <a:xfrm>
            <a:off x="594360" y="1371600"/>
            <a:ext cx="4297680" cy="2067640"/>
          </a:xfrm>
          <a:prstGeom prst="rect">
            <a:avLst/>
          </a:prstGeom>
        </p:spPr>
      </p:pic>
      <p:sp>
        <p:nvSpPr>
          <p:cNvPr id="6" name="Shape 3"/>
          <p:cNvSpPr/>
          <p:nvPr/>
        </p:nvSpPr>
        <p:spPr>
          <a:xfrm>
            <a:off x="5760720" y="1325880"/>
            <a:ext cx="5577840" cy="3826412"/>
          </a:xfrm>
          <a:prstGeom prst="rect">
            <a:avLst/>
          </a:prstGeom>
          <a:solidFill>
            <a:srgbClr val="FFFFFF"/>
          </a:solidFill>
          <a:ln w="12700">
            <a:solidFill>
              <a:srgbClr val="C9D3DA"/>
            </a:solidFill>
            <a:prstDash val="solid"/>
          </a:ln>
        </p:spPr>
      </p:sp>
      <p:pic>
        <p:nvPicPr>
          <p:cNvPr id="7" name="Image 1" descr="09 treatment policy gains">    </p:cNvPr>
          <p:cNvPicPr>
            <a:picLocks noChangeAspect="1"/>
          </p:cNvPicPr>
          <p:nvPr/>
        </p:nvPicPr>
        <p:blipFill>
          <a:blip r:embed="rId2"/>
          <a:stretch>
            <a:fillRect/>
          </a:stretch>
        </p:blipFill>
        <p:spPr>
          <a:xfrm>
            <a:off x="5806440" y="1371600"/>
            <a:ext cx="5486400" cy="3734972"/>
          </a:xfrm>
          <a:prstGeom prst="rect">
            <a:avLst/>
          </a:prstGeom>
        </p:spPr>
      </p:pic>
      <p:sp>
        <p:nvSpPr>
          <p:cNvPr id="8" name="Text 4"/>
          <p:cNvSpPr txBox="1"/>
          <p:nvPr/>
        </p:nvSpPr>
        <p:spPr>
          <a:xfrm>
            <a:off x="4498126" y="2851931"/>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5"/>
          <p:cNvSpPr txBox="1"/>
          <p:nvPr/>
        </p:nvSpPr>
        <p:spPr>
          <a:xfrm>
            <a:off x="7726680" y="2582828"/>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6"/>
          <p:cNvSpPr txBox="1"/>
          <p:nvPr/>
        </p:nvSpPr>
        <p:spPr>
          <a:xfrm>
            <a:off x="10723098" y="4258290"/>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1" name="Text 7"/>
          <p:cNvSpPr txBox="1"/>
          <p:nvPr/>
        </p:nvSpPr>
        <p:spPr>
          <a:xfrm>
            <a:off x="7528326" y="5179724"/>
            <a:ext cx="2944368" cy="274320"/>
          </a:xfrm>
          <a:prstGeom prst="rect">
            <a:avLst/>
          </a:prstGeom>
          <a:noFill/>
          <a:ln/>
        </p:spPr>
        <p:txBody>
          <a:bodyPr wrap="square" lIns="0" tIns="0" rIns="0" bIns="0" rtlCol="0" anchor="t"/>
          <a:lstStyle/>
          <a:p>
            <a:pPr algn="r" indent="0" marL="0">
              <a:buNone/>
            </a:pPr>
            <a:r>
              <a:rPr lang="en-US" sz="1250" b="1" dirty="0">
                <a:solidFill>
                  <a:srgbClr val="0F4C5C"/>
                </a:solidFill>
                <a:latin typeface="Arial" pitchFamily="34" charset="0"/>
                <a:ea typeface="Arial" pitchFamily="34" charset="-122"/>
                <a:cs typeface="Arial" pitchFamily="34" charset="-120"/>
              </a:rPr>
              <a:t>← fewer readmissions = better</a:t>
            </a:r>
            <a:endParaRPr lang="en-US" sz="1250" dirty="0"/>
          </a:p>
        </p:txBody>
      </p:sp>
      <p:sp>
        <p:nvSpPr>
          <p:cNvPr id="12" name="Text 8"/>
          <p:cNvSpPr txBox="1"/>
          <p:nvPr/>
        </p:nvSpPr>
        <p:spPr>
          <a:xfrm>
            <a:off x="10618998" y="5179724"/>
            <a:ext cx="868680" cy="274320"/>
          </a:xfrm>
          <a:prstGeom prst="rect">
            <a:avLst/>
          </a:prstGeom>
          <a:noFill/>
          <a:ln/>
        </p:spPr>
        <p:txBody>
          <a:bodyPr wrap="square" lIns="0" tIns="0" rIns="0" bIns="0" rtlCol="0" anchor="t"/>
          <a:lstStyle/>
          <a:p>
            <a:pPr indent="0" marL="0">
              <a:buNone/>
            </a:pPr>
            <a:r>
              <a:rPr lang="en-US" sz="1250" b="1" dirty="0">
                <a:solidFill>
                  <a:srgbClr val="D9480F"/>
                </a:solidFill>
                <a:latin typeface="Arial" pitchFamily="34" charset="0"/>
                <a:ea typeface="Arial" pitchFamily="34" charset="-122"/>
                <a:cs typeface="Arial" pitchFamily="34" charset="-120"/>
              </a:rPr>
              <a:t>worse →</a:t>
            </a:r>
            <a:endParaRPr lang="en-US" sz="1250" dirty="0"/>
          </a:p>
        </p:txBody>
      </p:sp>
      <p:sp>
        <p:nvSpPr>
          <p:cNvPr id="13" name="Text 9"/>
          <p:cNvSpPr txBox="1"/>
          <p:nvPr/>
        </p:nvSpPr>
        <p:spPr>
          <a:xfrm>
            <a:off x="557784" y="3520440"/>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4" name="Text 10"/>
          <p:cNvSpPr txBox="1"/>
          <p:nvPr/>
        </p:nvSpPr>
        <p:spPr>
          <a:xfrm>
            <a:off x="987552" y="3520440"/>
            <a:ext cx="4590288" cy="644652"/>
          </a:xfrm>
          <a:prstGeom prst="rect">
            <a:avLst/>
          </a:prstGeom>
          <a:noFill/>
          <a:ln/>
        </p:spPr>
        <p:txBody>
          <a:bodyPr wrap="square" lIns="0" tIns="0" rIns="0" bIns="0" rtlCol="0" anchor="t"/>
          <a:lstStyle/>
          <a:p>
            <a:pPr indent="0" marL="0">
              <a:buNone/>
            </a:pPr>
            <a:r>
              <a:rPr lang="en-US" sz="1250" b="1" dirty="0">
                <a:solidFill>
                  <a:srgbClr val="0F4C5C"/>
                </a:solidFill>
                <a:latin typeface="Arial" pitchFamily="34" charset="0"/>
                <a:ea typeface="Arial" pitchFamily="34" charset="-122"/>
                <a:cs typeface="Arial" pitchFamily="34" charset="-120"/>
              </a:rPr>
              <a:t>The rule it proposes: </a:t>
            </a:r>
            <a:pPr indent="0" marL="0">
              <a:buNone/>
            </a:pPr>
            <a:r>
              <a:rPr lang="en-US" sz="1250" dirty="0">
                <a:solidFill>
                  <a:srgbClr val="1F2933"/>
                </a:solidFill>
                <a:latin typeface="Arial" pitchFamily="34" charset="0"/>
                <a:ea typeface="Arial" pitchFamily="34" charset="-122"/>
                <a:cs typeface="Arial" pitchFamily="34" charset="-120"/>
              </a:rPr>
              <a:t>"patients with a previous stay should get an HbA1c above 7". You cannot give a patient a test result.</a:t>
            </a:r>
            <a:endParaRPr lang="en-US" sz="1250" dirty="0"/>
          </a:p>
        </p:txBody>
      </p:sp>
      <p:sp>
        <p:nvSpPr>
          <p:cNvPr id="15" name="Text 11"/>
          <p:cNvSpPr txBox="1"/>
          <p:nvPr/>
        </p:nvSpPr>
        <p:spPr>
          <a:xfrm>
            <a:off x="557784" y="4293108"/>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6" name="Text 12"/>
          <p:cNvSpPr txBox="1"/>
          <p:nvPr/>
        </p:nvSpPr>
        <p:spPr>
          <a:xfrm>
            <a:off x="987552" y="4293108"/>
            <a:ext cx="4590288" cy="454152"/>
          </a:xfrm>
          <a:prstGeom prst="rect">
            <a:avLst/>
          </a:prstGeom>
          <a:noFill/>
          <a:ln/>
        </p:spPr>
        <p:txBody>
          <a:bodyPr wrap="square" lIns="0" tIns="0" rIns="0" bIns="0" rtlCol="0" anchor="t"/>
          <a:lstStyle/>
          <a:p>
            <a:pPr indent="0" marL="0">
              <a:buNone/>
            </a:pPr>
            <a:r>
              <a:rPr lang="en-US" sz="1250" b="1" dirty="0">
                <a:solidFill>
                  <a:srgbClr val="0F4C5C"/>
                </a:solidFill>
                <a:latin typeface="Arial" pitchFamily="34" charset="0"/>
                <a:ea typeface="Arial" pitchFamily="34" charset="-122"/>
                <a:cs typeface="Arial" pitchFamily="34" charset="-120"/>
              </a:rPr>
              <a:t>The bars: </a:t>
            </a:r>
            <a:pPr indent="0" marL="0">
              <a:buNone/>
            </a:pPr>
            <a:r>
              <a:rPr lang="en-US" sz="1250" dirty="0">
                <a:solidFill>
                  <a:srgbClr val="1F2933"/>
                </a:solidFill>
                <a:latin typeface="Arial" pitchFamily="34" charset="0"/>
                <a:ea typeface="Arial" pitchFamily="34" charset="-122"/>
                <a:cs typeface="Arial" pitchFamily="34" charset="-120"/>
              </a:rPr>
              <a:t>change in readmissions if everyone had that result. The long bar left (−0.031) is the best news.</a:t>
            </a:r>
            <a:endParaRPr lang="en-US" sz="1250" dirty="0"/>
          </a:p>
        </p:txBody>
      </p:sp>
      <p:sp>
        <p:nvSpPr>
          <p:cNvPr id="17" name="Text 13"/>
          <p:cNvSpPr txBox="1"/>
          <p:nvPr/>
        </p:nvSpPr>
        <p:spPr>
          <a:xfrm>
            <a:off x="557784" y="4875276"/>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8" name="Text 14"/>
          <p:cNvSpPr txBox="1"/>
          <p:nvPr/>
        </p:nvSpPr>
        <p:spPr>
          <a:xfrm>
            <a:off x="987552" y="4875276"/>
            <a:ext cx="4590288" cy="454152"/>
          </a:xfrm>
          <a:prstGeom prst="rect">
            <a:avLst/>
          </a:prstGeom>
          <a:noFill/>
          <a:ln/>
        </p:spPr>
        <p:txBody>
          <a:bodyPr wrap="square" lIns="0" tIns="0" rIns="0" bIns="0" rtlCol="0" anchor="t"/>
          <a:lstStyle/>
          <a:p>
            <a:pPr indent="0" marL="0">
              <a:buNone/>
            </a:pPr>
            <a:r>
              <a:rPr lang="en-US" sz="1250" b="1" dirty="0">
                <a:solidFill>
                  <a:srgbClr val="0F4C5C"/>
                </a:solidFill>
                <a:latin typeface="Arial" pitchFamily="34" charset="0"/>
                <a:ea typeface="Arial" pitchFamily="34" charset="-122"/>
                <a:cs typeface="Arial" pitchFamily="34" charset="-120"/>
              </a:rPr>
              <a:t>The "gain": </a:t>
            </a:r>
            <a:pPr indent="0" marL="0">
              <a:buNone/>
            </a:pPr>
            <a:r>
              <a:rPr lang="en-US" sz="1250" dirty="0">
                <a:solidFill>
                  <a:srgbClr val="1F2933"/>
                </a:solidFill>
                <a:latin typeface="Arial" pitchFamily="34" charset="0"/>
                <a:ea typeface="Arial" pitchFamily="34" charset="-122"/>
                <a:cs typeface="Arial" pitchFamily="34" charset="-120"/>
              </a:rPr>
              <a:t>the tool assumes bigger is better, so its recommended plan raises readmissions (+0.7 per 100).</a:t>
            </a:r>
            <a:endParaRPr lang="en-US" sz="1250" dirty="0"/>
          </a:p>
        </p:txBody>
      </p:sp>
      <p:sp>
        <p:nvSpPr>
          <p:cNvPr id="19" name="Shape 15"/>
          <p:cNvSpPr/>
          <p:nvPr/>
        </p:nvSpPr>
        <p:spPr>
          <a:xfrm>
            <a:off x="548640" y="5806440"/>
            <a:ext cx="11094415" cy="685800"/>
          </a:xfrm>
          <a:prstGeom prst="roundRect">
            <a:avLst>
              <a:gd name="adj" fmla="val 10667"/>
            </a:avLst>
          </a:prstGeom>
          <a:solidFill>
            <a:srgbClr val="0F4C5C"/>
          </a:solidFill>
          <a:ln w="12700">
            <a:solidFill>
              <a:srgbClr val="0F4C5C"/>
            </a:solidFill>
            <a:prstDash val="solid"/>
          </a:ln>
        </p:spPr>
      </p:sp>
      <p:sp>
        <p:nvSpPr>
          <p:cNvPr id="20" name="Text 16"/>
          <p:cNvSpPr txBox="1"/>
          <p:nvPr/>
        </p:nvSpPr>
        <p:spPr>
          <a:xfrm>
            <a:off x="822960" y="5806440"/>
            <a:ext cx="10545775" cy="685800"/>
          </a:xfrm>
          <a:prstGeom prst="rect">
            <a:avLst/>
          </a:prstGeom>
          <a:noFill/>
          <a:ln/>
        </p:spPr>
        <p:txBody>
          <a:bodyPr wrap="square" lIns="0" tIns="0" rIns="0" bIns="0" rtlCol="0" anchor="ctr"/>
          <a:lstStyle/>
          <a:p>
            <a:pPr indent="0" marL="0">
              <a:buNone/>
            </a:pPr>
            <a:r>
              <a:rPr lang="en-US" sz="1500" b="1" dirty="0">
                <a:solidFill>
                  <a:srgbClr val="BFE3DF"/>
                </a:solidFill>
                <a:latin typeface="Arial" pitchFamily="34" charset="0"/>
                <a:ea typeface="Arial" pitchFamily="34" charset="-122"/>
                <a:cs typeface="Arial" pitchFamily="34" charset="-120"/>
              </a:rPr>
              <a:t>Lesson: </a:t>
            </a:r>
            <a:pPr indent="0" marL="0">
              <a:buNone/>
            </a:pPr>
            <a:r>
              <a:rPr lang="en-US" sz="1500" dirty="0">
                <a:solidFill>
                  <a:srgbClr val="FFFFFF"/>
                </a:solidFill>
                <a:latin typeface="Arial" pitchFamily="34" charset="0"/>
                <a:ea typeface="Arial" pitchFamily="34" charset="-122"/>
                <a:cs typeface="Arial" pitchFamily="34" charset="-120"/>
              </a:rPr>
              <a:t>the tool does not know that readmission is bad. Check which direction is "good" before trusting any automatic recommendation.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FINDING 5 · MODEL OVERVIEW · PATIENT GROUPS</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Finding 5: the score only finds patients it already knows</a:t>
            </a:r>
            <a:endParaRPr lang="en-US" sz="2700" dirty="0"/>
          </a:p>
        </p:txBody>
      </p:sp>
      <p:sp>
        <p:nvSpPr>
          <p:cNvPr id="4" name="Shape 2"/>
          <p:cNvSpPr/>
          <p:nvPr/>
        </p:nvSpPr>
        <p:spPr>
          <a:xfrm>
            <a:off x="548640" y="1325880"/>
            <a:ext cx="11094415" cy="3068187"/>
          </a:xfrm>
          <a:prstGeom prst="rect">
            <a:avLst/>
          </a:prstGeom>
          <a:solidFill>
            <a:srgbClr val="FFFFFF"/>
          </a:solidFill>
          <a:ln w="12700">
            <a:solidFill>
              <a:srgbClr val="C9D3DA"/>
            </a:solidFill>
            <a:prstDash val="solid"/>
          </a:ln>
        </p:spPr>
      </p:sp>
      <p:pic>
        <p:nvPicPr>
          <p:cNvPr id="5" name="Image 0" descr="04 patient groups table">    </p:cNvPr>
          <p:cNvPicPr>
            <a:picLocks noChangeAspect="1"/>
          </p:cNvPicPr>
          <p:nvPr/>
        </p:nvPicPr>
        <p:blipFill>
          <a:blip r:embed="rId1"/>
          <a:stretch>
            <a:fillRect/>
          </a:stretch>
        </p:blipFill>
        <p:spPr>
          <a:xfrm>
            <a:off x="594360" y="1371600"/>
            <a:ext cx="11002975" cy="2976747"/>
          </a:xfrm>
          <a:prstGeom prst="rect">
            <a:avLst/>
          </a:prstGeom>
        </p:spPr>
      </p:pic>
      <p:sp>
        <p:nvSpPr>
          <p:cNvPr id="6" name="Shape 3"/>
          <p:cNvSpPr/>
          <p:nvPr/>
        </p:nvSpPr>
        <p:spPr>
          <a:xfrm>
            <a:off x="726396" y="2447829"/>
            <a:ext cx="10760910" cy="575500"/>
          </a:xfrm>
          <a:prstGeom prst="rect">
            <a:avLst/>
          </a:prstGeom>
          <a:ln w="38100">
            <a:solidFill>
              <a:srgbClr val="D9480F"/>
            </a:solidFill>
            <a:prstDash val="solid"/>
          </a:ln>
        </p:spPr>
      </p:sp>
      <p:sp>
        <p:nvSpPr>
          <p:cNvPr id="7" name="Shape 4"/>
          <p:cNvSpPr/>
          <p:nvPr/>
        </p:nvSpPr>
        <p:spPr>
          <a:xfrm>
            <a:off x="726396" y="3082668"/>
            <a:ext cx="10760910" cy="575500"/>
          </a:xfrm>
          <a:prstGeom prst="rect">
            <a:avLst/>
          </a:prstGeom>
          <a:ln w="31750">
            <a:solidFill>
              <a:srgbClr val="2B7A85"/>
            </a:solidFill>
            <a:prstDash val="solid"/>
          </a:ln>
        </p:spPr>
      </p:sp>
      <p:sp>
        <p:nvSpPr>
          <p:cNvPr id="8" name="Text 5"/>
          <p:cNvSpPr txBox="1"/>
          <p:nvPr/>
        </p:nvSpPr>
        <p:spPr>
          <a:xfrm>
            <a:off x="8641909" y="2570987"/>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6"/>
          <p:cNvSpPr txBox="1"/>
          <p:nvPr/>
        </p:nvSpPr>
        <p:spPr>
          <a:xfrm>
            <a:off x="9995737" y="2570987"/>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7"/>
          <p:cNvSpPr txBox="1"/>
          <p:nvPr/>
        </p:nvSpPr>
        <p:spPr>
          <a:xfrm>
            <a:off x="8641909" y="3205826"/>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1" name="Shape 8"/>
          <p:cNvSpPr/>
          <p:nvPr/>
        </p:nvSpPr>
        <p:spPr>
          <a:xfrm>
            <a:off x="548640" y="4480560"/>
            <a:ext cx="3566160" cy="2011680"/>
          </a:xfrm>
          <a:prstGeom prst="roundRect">
            <a:avLst>
              <a:gd name="adj" fmla="val 3636"/>
            </a:avLst>
          </a:prstGeom>
          <a:solidFill>
            <a:srgbClr val="F4F6F8"/>
          </a:solidFill>
          <a:ln w="12700">
            <a:solidFill>
              <a:srgbClr val="F4F6F8"/>
            </a:solidFill>
            <a:prstDash val="solid"/>
          </a:ln>
        </p:spPr>
      </p:sp>
      <p:sp>
        <p:nvSpPr>
          <p:cNvPr id="12" name="Text 9"/>
          <p:cNvSpPr txBox="1"/>
          <p:nvPr/>
        </p:nvSpPr>
        <p:spPr>
          <a:xfrm>
            <a:off x="731520" y="4608576"/>
            <a:ext cx="3200400" cy="310896"/>
          </a:xfrm>
          <a:prstGeom prst="rect">
            <a:avLst/>
          </a:prstGeom>
          <a:noFill/>
          <a:ln/>
        </p:spPr>
        <p:txBody>
          <a:bodyPr wrap="square" lIns="0" tIns="0" rIns="0" bIns="0" rtlCol="0" anchor="t"/>
          <a:lstStyle/>
          <a:p>
            <a:pPr indent="0" marL="0">
              <a:buNone/>
            </a:pPr>
            <a:r>
              <a:rPr lang="en-US" sz="1400" b="1" dirty="0">
                <a:solidFill>
                  <a:srgbClr val="0F4C5C"/>
                </a:solidFill>
                <a:latin typeface="Arial" pitchFamily="34" charset="0"/>
                <a:ea typeface="Arial" pitchFamily="34" charset="-122"/>
                <a:cs typeface="Arial" pitchFamily="34" charset="-120"/>
              </a:rPr>
              <a:t>What it shows</a:t>
            </a:r>
            <a:endParaRPr lang="en-US" sz="1400" dirty="0"/>
          </a:p>
        </p:txBody>
      </p:sp>
      <p:sp>
        <p:nvSpPr>
          <p:cNvPr id="13" name="Text 10"/>
          <p:cNvSpPr txBox="1"/>
          <p:nvPr/>
        </p:nvSpPr>
        <p:spPr>
          <a:xfrm>
            <a:off x="731520" y="4956048"/>
            <a:ext cx="3200400" cy="1426464"/>
          </a:xfrm>
          <a:prstGeom prst="rect">
            <a:avLst/>
          </a:prstGeom>
          <a:noFill/>
          <a:ln/>
        </p:spPr>
        <p:txBody>
          <a:bodyPr wrap="square" lIns="0" tIns="0" rIns="0" bIns="0" rtlCol="0" anchor="t"/>
          <a:lstStyle/>
          <a:p>
            <a:pPr indent="0" marL="0">
              <a:spcAft>
                <a:spcPts val="400"/>
              </a:spcAft>
              <a:buNone/>
            </a:pPr>
            <a:r>
              <a:rPr lang="en-US" sz="1300" b="1" dirty="0">
                <a:solidFill>
                  <a:srgbClr val="D9480F"/>
                </a:solidFill>
                <a:latin typeface="Arial" pitchFamily="34" charset="0"/>
                <a:ea typeface="Arial" pitchFamily="34" charset="-122"/>
                <a:cs typeface="Arial" pitchFamily="34" charset="-120"/>
              </a:rPr>
              <a:t>1  </a:t>
            </a:r>
            <a:pPr indent="0" marL="0">
              <a:spcAft>
                <a:spcPts val="400"/>
              </a:spcAft>
              <a:buNone/>
            </a:pPr>
            <a:r>
              <a:rPr lang="en-US" sz="1300" dirty="0">
                <a:solidFill>
                  <a:srgbClr val="1F2933"/>
                </a:solidFill>
                <a:latin typeface="Arial" pitchFamily="34" charset="0"/>
                <a:ea typeface="Arial" pitchFamily="34" charset="-122"/>
                <a:cs typeface="Arial" pitchFamily="34" charset="-120"/>
              </a:rPr>
              <a:t>First-timers who came back: we missed 97% (107 of 110).</a:t>
            </a:r>
            <a:endParaRPr lang="en-US" sz="1300" dirty="0"/>
          </a:p>
          <a:p>
            <a:pPr indent="0" marL="0">
              <a:spcAft>
                <a:spcPts val="400"/>
              </a:spcAft>
              <a:buNone/>
            </a:pPr>
            <a:r>
              <a:rPr lang="en-US" sz="1300" b="1" dirty="0">
                <a:solidFill>
                  <a:srgbClr val="D9480F"/>
                </a:solidFill>
                <a:latin typeface="Arial" pitchFamily="34" charset="0"/>
                <a:ea typeface="Arial" pitchFamily="34" charset="-122"/>
                <a:cs typeface="Arial" pitchFamily="34" charset="-120"/>
              </a:rPr>
              <a:t>2  </a:t>
            </a:r>
            <a:pPr indent="0" marL="0">
              <a:spcAft>
                <a:spcPts val="400"/>
              </a:spcAft>
              <a:buNone/>
            </a:pPr>
            <a:r>
              <a:rPr lang="en-US" sz="1300" dirty="0">
                <a:solidFill>
                  <a:srgbClr val="1F2933"/>
                </a:solidFill>
                <a:latin typeface="Arial" pitchFamily="34" charset="0"/>
                <a:ea typeface="Arial" pitchFamily="34" charset="-122"/>
                <a:cs typeface="Arial" pitchFamily="34" charset="-120"/>
              </a:rPr>
              <a:t>Only 2% of first-timers are put on the list.</a:t>
            </a:r>
            <a:endParaRPr lang="en-US" sz="1300" dirty="0"/>
          </a:p>
          <a:p>
            <a:pPr indent="0" marL="0">
              <a:spcAft>
                <a:spcPts val="400"/>
              </a:spcAft>
              <a:buNone/>
            </a:pPr>
            <a:r>
              <a:rPr lang="en-US" sz="1300" b="1" dirty="0">
                <a:solidFill>
                  <a:srgbClr val="D9480F"/>
                </a:solidFill>
                <a:latin typeface="Arial" pitchFamily="34" charset="0"/>
                <a:ea typeface="Arial" pitchFamily="34" charset="-122"/>
                <a:cs typeface="Arial" pitchFamily="34" charset="-120"/>
              </a:rPr>
              <a:t>3  </a:t>
            </a:r>
            <a:pPr indent="0" marL="0">
              <a:spcAft>
                <a:spcPts val="400"/>
              </a:spcAft>
              <a:buNone/>
            </a:pPr>
            <a:r>
              <a:rPr lang="en-US" sz="1300" dirty="0">
                <a:solidFill>
                  <a:srgbClr val="1F2933"/>
                </a:solidFill>
                <a:latin typeface="Arial" pitchFamily="34" charset="0"/>
                <a:ea typeface="Arial" pitchFamily="34" charset="-122"/>
                <a:cs typeface="Arial" pitchFamily="34" charset="-120"/>
              </a:rPr>
              <a:t>Patients with a previous stay who came back: we missed 28%.</a:t>
            </a:r>
            <a:endParaRPr lang="en-US" sz="1300" dirty="0"/>
          </a:p>
        </p:txBody>
      </p:sp>
      <p:sp>
        <p:nvSpPr>
          <p:cNvPr id="14" name="Shape 11"/>
          <p:cNvSpPr/>
          <p:nvPr/>
        </p:nvSpPr>
        <p:spPr>
          <a:xfrm>
            <a:off x="4297680" y="4480560"/>
            <a:ext cx="3566160" cy="2011680"/>
          </a:xfrm>
          <a:prstGeom prst="roundRect">
            <a:avLst>
              <a:gd name="adj" fmla="val 3636"/>
            </a:avLst>
          </a:prstGeom>
          <a:solidFill>
            <a:srgbClr val="E6F2F1"/>
          </a:solidFill>
          <a:ln w="12700">
            <a:solidFill>
              <a:srgbClr val="E6F2F1"/>
            </a:solidFill>
            <a:prstDash val="solid"/>
          </a:ln>
        </p:spPr>
      </p:sp>
      <p:sp>
        <p:nvSpPr>
          <p:cNvPr id="15" name="Text 12"/>
          <p:cNvSpPr txBox="1"/>
          <p:nvPr/>
        </p:nvSpPr>
        <p:spPr>
          <a:xfrm>
            <a:off x="4480560" y="4608576"/>
            <a:ext cx="3200400" cy="310896"/>
          </a:xfrm>
          <a:prstGeom prst="rect">
            <a:avLst/>
          </a:prstGeom>
          <a:noFill/>
          <a:ln/>
        </p:spPr>
        <p:txBody>
          <a:bodyPr wrap="square" lIns="0" tIns="0" rIns="0" bIns="0" rtlCol="0" anchor="t"/>
          <a:lstStyle/>
          <a:p>
            <a:pPr indent="0" marL="0">
              <a:buNone/>
            </a:pPr>
            <a:r>
              <a:rPr lang="en-US" sz="1400" b="1" dirty="0">
                <a:solidFill>
                  <a:srgbClr val="0F4C5C"/>
                </a:solidFill>
                <a:latin typeface="Arial" pitchFamily="34" charset="0"/>
                <a:ea typeface="Arial" pitchFamily="34" charset="-122"/>
                <a:cs typeface="Arial" pitchFamily="34" charset="-120"/>
              </a:rPr>
              <a:t>Why it matters</a:t>
            </a:r>
            <a:endParaRPr lang="en-US" sz="1400" dirty="0"/>
          </a:p>
        </p:txBody>
      </p:sp>
      <p:sp>
        <p:nvSpPr>
          <p:cNvPr id="16" name="Text 13"/>
          <p:cNvSpPr txBox="1"/>
          <p:nvPr/>
        </p:nvSpPr>
        <p:spPr>
          <a:xfrm>
            <a:off x="4480560" y="4956048"/>
            <a:ext cx="3200400" cy="1426464"/>
          </a:xfrm>
          <a:prstGeom prst="rect">
            <a:avLst/>
          </a:prstGeom>
          <a:noFill/>
          <a:ln/>
        </p:spPr>
        <p:txBody>
          <a:bodyPr wrap="square" lIns="0" tIns="0" rIns="0" bIns="0" rtlCol="0" anchor="t"/>
          <a:lstStyle/>
          <a:p>
            <a:pPr indent="0" marL="0">
              <a:spcAft>
                <a:spcPts val="400"/>
              </a:spcAft>
              <a:buNone/>
            </a:pPr>
            <a:r>
              <a:rPr lang="en-US" sz="1400" b="1" dirty="0">
                <a:solidFill>
                  <a:srgbClr val="1F2933"/>
                </a:solidFill>
                <a:latin typeface="Arial" pitchFamily="34" charset="0"/>
                <a:ea typeface="Arial" pitchFamily="34" charset="-122"/>
                <a:cs typeface="Arial" pitchFamily="34" charset="-120"/>
              </a:rPr>
              <a:t>Half of everyone who came back </a:t>
            </a:r>
            <a:pPr indent="0" marL="0">
              <a:spcAft>
                <a:spcPts val="400"/>
              </a:spcAft>
              <a:buNone/>
            </a:pPr>
            <a:r>
              <a:rPr lang="en-US" sz="1400" dirty="0">
                <a:solidFill>
                  <a:srgbClr val="1F2933"/>
                </a:solidFill>
                <a:latin typeface="Arial" pitchFamily="34" charset="0"/>
                <a:ea typeface="Arial" pitchFamily="34" charset="-122"/>
                <a:cs typeface="Arial" pitchFamily="34" charset="-120"/>
              </a:rPr>
              <a:t>(110 of 222) had never been in hospital before. For them the score is almost blind.</a:t>
            </a:r>
            <a:endParaRPr lang="en-US" sz="1400" dirty="0"/>
          </a:p>
        </p:txBody>
      </p:sp>
      <p:sp>
        <p:nvSpPr>
          <p:cNvPr id="17" name="Shape 14"/>
          <p:cNvSpPr/>
          <p:nvPr/>
        </p:nvSpPr>
        <p:spPr>
          <a:xfrm>
            <a:off x="8046720" y="4480560"/>
            <a:ext cx="3566160" cy="2011680"/>
          </a:xfrm>
          <a:prstGeom prst="roundRect">
            <a:avLst>
              <a:gd name="adj" fmla="val 3636"/>
            </a:avLst>
          </a:prstGeom>
          <a:solidFill>
            <a:srgbClr val="FDEEE6"/>
          </a:solidFill>
          <a:ln w="12700">
            <a:solidFill>
              <a:srgbClr val="FDEEE6"/>
            </a:solidFill>
            <a:prstDash val="solid"/>
          </a:ln>
        </p:spPr>
      </p:sp>
      <p:sp>
        <p:nvSpPr>
          <p:cNvPr id="18" name="Text 15"/>
          <p:cNvSpPr txBox="1"/>
          <p:nvPr/>
        </p:nvSpPr>
        <p:spPr>
          <a:xfrm>
            <a:off x="8229600" y="4608576"/>
            <a:ext cx="3200400" cy="310896"/>
          </a:xfrm>
          <a:prstGeom prst="rect">
            <a:avLst/>
          </a:prstGeom>
          <a:noFill/>
          <a:ln/>
        </p:spPr>
        <p:txBody>
          <a:bodyPr wrap="square" lIns="0" tIns="0" rIns="0" bIns="0" rtlCol="0" anchor="t"/>
          <a:lstStyle/>
          <a:p>
            <a:pPr indent="0" marL="0">
              <a:buNone/>
            </a:pPr>
            <a:r>
              <a:rPr lang="en-US" sz="1400" b="1" dirty="0">
                <a:solidFill>
                  <a:srgbClr val="D9480F"/>
                </a:solidFill>
                <a:latin typeface="Arial" pitchFamily="34" charset="0"/>
                <a:ea typeface="Arial" pitchFamily="34" charset="-122"/>
                <a:cs typeface="Arial" pitchFamily="34" charset="-120"/>
              </a:rPr>
              <a:t>What we tell the hospital</a:t>
            </a:r>
            <a:endParaRPr lang="en-US" sz="1400" dirty="0"/>
          </a:p>
        </p:txBody>
      </p:sp>
      <p:sp>
        <p:nvSpPr>
          <p:cNvPr id="19" name="Text 16"/>
          <p:cNvSpPr txBox="1"/>
          <p:nvPr/>
        </p:nvSpPr>
        <p:spPr>
          <a:xfrm>
            <a:off x="8229600" y="4956048"/>
            <a:ext cx="3200400" cy="1426464"/>
          </a:xfrm>
          <a:prstGeom prst="rect">
            <a:avLst/>
          </a:prstGeom>
          <a:noFill/>
          <a:ln/>
        </p:spPr>
        <p:txBody>
          <a:bodyPr wrap="square" lIns="0" tIns="0" rIns="0" bIns="0" rtlCol="0" anchor="t"/>
          <a:lstStyle/>
          <a:p>
            <a:pPr indent="0" marL="0">
              <a:spcAft>
                <a:spcPts val="400"/>
              </a:spcAft>
              <a:buNone/>
            </a:pPr>
            <a:r>
              <a:rPr lang="en-US" sz="1250" dirty="0">
                <a:solidFill>
                  <a:srgbClr val="1F2933"/>
                </a:solidFill>
                <a:latin typeface="Arial" pitchFamily="34" charset="0"/>
                <a:ea typeface="Arial" pitchFamily="34" charset="-122"/>
                <a:cs typeface="Arial" pitchFamily="34" charset="-120"/>
              </a:rPr>
              <a:t>Use the list for known frequent patients. It will not find first-timers, so normal discharge care (education, a follow-up appointment) stays for everyone. </a:t>
            </a:r>
            <a:pPr indent="0" marL="0">
              <a:spcAft>
                <a:spcPts val="400"/>
              </a:spcAft>
              <a:buNone/>
            </a:pPr>
            <a:r>
              <a:rPr lang="en-US" sz="1250" b="1" dirty="0">
                <a:solidFill>
                  <a:srgbClr val="D9480F"/>
                </a:solidFill>
                <a:latin typeface="Arial" pitchFamily="34" charset="0"/>
                <a:ea typeface="Arial" pitchFamily="34" charset="-122"/>
                <a:cs typeface="Arial" pitchFamily="34" charset="-120"/>
              </a:rPr>
              <a:t>Not on the list never means safe.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DASHBOARD · FEATURE IMPORTANCE · ONE PATIENT</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Why was she missed? Meet patient 21</a:t>
            </a:r>
            <a:endParaRPr lang="en-US" sz="2700" dirty="0"/>
          </a:p>
        </p:txBody>
      </p:sp>
      <p:sp>
        <p:nvSpPr>
          <p:cNvPr id="4" name="Shape 2"/>
          <p:cNvSpPr/>
          <p:nvPr/>
        </p:nvSpPr>
        <p:spPr>
          <a:xfrm>
            <a:off x="548640" y="1280160"/>
            <a:ext cx="11094415" cy="731520"/>
          </a:xfrm>
          <a:prstGeom prst="roundRect">
            <a:avLst>
              <a:gd name="adj" fmla="val 10000"/>
            </a:avLst>
          </a:prstGeom>
          <a:solidFill>
            <a:srgbClr val="E6F2F1"/>
          </a:solidFill>
          <a:ln w="12700">
            <a:solidFill>
              <a:srgbClr val="E6F2F1"/>
            </a:solidFill>
            <a:prstDash val="solid"/>
          </a:ln>
        </p:spPr>
      </p:sp>
      <p:sp>
        <p:nvSpPr>
          <p:cNvPr id="5" name="Text 3"/>
          <p:cNvSpPr txBox="1"/>
          <p:nvPr/>
        </p:nvSpPr>
        <p:spPr>
          <a:xfrm>
            <a:off x="777240" y="1280160"/>
            <a:ext cx="10637215" cy="731520"/>
          </a:xfrm>
          <a:prstGeom prst="rect">
            <a:avLst/>
          </a:prstGeom>
          <a:noFill/>
          <a:ln/>
        </p:spPr>
        <p:txBody>
          <a:bodyPr wrap="square" lIns="0" tIns="0" rIns="0" bIns="0" rtlCol="0" anchor="ctr"/>
          <a:lstStyle/>
          <a:p>
            <a:pPr indent="0" marL="0">
              <a:buNone/>
            </a:pPr>
            <a:r>
              <a:rPr lang="en-US" sz="1450" dirty="0">
                <a:solidFill>
                  <a:srgbClr val="1F2933"/>
                </a:solidFill>
                <a:latin typeface="Arial" pitchFamily="34" charset="0"/>
                <a:ea typeface="Arial" pitchFamily="34" charset="-122"/>
                <a:cs typeface="Arial" pitchFamily="34" charset="-120"/>
              </a:rPr>
              <a:t>Woman in her 60s  ·  9 diagnoses  ·  4 days in hospital  ·  no previous stays  ·  HbA1c not measured  ·  </a:t>
            </a:r>
            <a:pPr indent="0" marL="0">
              <a:buNone/>
            </a:pPr>
            <a:r>
              <a:rPr lang="en-US" sz="1450" b="1" dirty="0">
                <a:solidFill>
                  <a:srgbClr val="1F2933"/>
                </a:solidFill>
                <a:latin typeface="Arial" pitchFamily="34" charset="0"/>
                <a:ea typeface="Arial" pitchFamily="34" charset="-122"/>
                <a:cs typeface="Arial" pitchFamily="34" charset="-120"/>
              </a:rPr>
              <a:t>risk 7.5% (line: 11.6%), not called  ·  </a:t>
            </a:r>
            <a:pPr indent="0" marL="0">
              <a:buNone/>
            </a:pPr>
            <a:r>
              <a:rPr lang="en-US" sz="1450" b="1" dirty="0">
                <a:solidFill>
                  <a:srgbClr val="D9480F"/>
                </a:solidFill>
                <a:latin typeface="Arial" pitchFamily="34" charset="0"/>
                <a:ea typeface="Arial" pitchFamily="34" charset="-122"/>
                <a:cs typeface="Arial" pitchFamily="34" charset="-120"/>
              </a:rPr>
              <a:t>back in hospital within 30 days</a:t>
            </a:r>
            <a:endParaRPr lang="en-US" sz="1450" dirty="0"/>
          </a:p>
        </p:txBody>
      </p:sp>
      <p:sp>
        <p:nvSpPr>
          <p:cNvPr id="6" name="Shape 4"/>
          <p:cNvSpPr/>
          <p:nvPr/>
        </p:nvSpPr>
        <p:spPr>
          <a:xfrm>
            <a:off x="548640" y="2194560"/>
            <a:ext cx="8503920" cy="4113801"/>
          </a:xfrm>
          <a:prstGeom prst="rect">
            <a:avLst/>
          </a:prstGeom>
          <a:solidFill>
            <a:srgbClr val="FFFFFF"/>
          </a:solidFill>
          <a:ln w="12700">
            <a:solidFill>
              <a:srgbClr val="C9D3DA"/>
            </a:solidFill>
            <a:prstDash val="solid"/>
          </a:ln>
        </p:spPr>
      </p:sp>
      <p:pic>
        <p:nvPicPr>
          <p:cNvPr id="7" name="Image 0" descr="10 patient21 explanation">    </p:cNvPr>
          <p:cNvPicPr>
            <a:picLocks noChangeAspect="1"/>
          </p:cNvPicPr>
          <p:nvPr/>
        </p:nvPicPr>
        <p:blipFill>
          <a:blip r:embed="rId1"/>
          <a:stretch>
            <a:fillRect/>
          </a:stretch>
        </p:blipFill>
        <p:spPr>
          <a:xfrm>
            <a:off x="594360" y="2240280"/>
            <a:ext cx="8412480" cy="4022361"/>
          </a:xfrm>
          <a:prstGeom prst="rect">
            <a:avLst/>
          </a:prstGeom>
        </p:spPr>
      </p:pic>
      <p:sp>
        <p:nvSpPr>
          <p:cNvPr id="8" name="Text 5"/>
          <p:cNvSpPr txBox="1"/>
          <p:nvPr/>
        </p:nvSpPr>
        <p:spPr>
          <a:xfrm>
            <a:off x="2297752" y="2375641"/>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6"/>
          <p:cNvSpPr txBox="1"/>
          <p:nvPr/>
        </p:nvSpPr>
        <p:spPr>
          <a:xfrm>
            <a:off x="8525056" y="3932869"/>
            <a:ext cx="329184" cy="329184"/>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0" name="Text 7"/>
          <p:cNvSpPr txBox="1"/>
          <p:nvPr/>
        </p:nvSpPr>
        <p:spPr>
          <a:xfrm>
            <a:off x="9235440" y="2286000"/>
            <a:ext cx="2404872" cy="914400"/>
          </a:xfrm>
          <a:prstGeom prst="rect">
            <a:avLst/>
          </a:prstGeom>
          <a:noFill/>
          <a:ln/>
        </p:spPr>
        <p:txBody>
          <a:bodyPr wrap="square" lIns="0" tIns="0" rIns="0" bIns="0" rtlCol="0" anchor="t"/>
          <a:lstStyle/>
          <a:p>
            <a:pPr indent="0" marL="0">
              <a:buNone/>
            </a:pPr>
            <a:r>
              <a:rPr lang="en-US" sz="1350" b="1" dirty="0">
                <a:solidFill>
                  <a:srgbClr val="0F4C5C"/>
                </a:solidFill>
                <a:latin typeface="Arial" pitchFamily="34" charset="0"/>
                <a:ea typeface="Arial" pitchFamily="34" charset="-122"/>
                <a:cs typeface="Arial" pitchFamily="34" charset="-120"/>
              </a:rPr>
              <a:t>How to read: </a:t>
            </a:r>
            <a:pPr indent="0" marL="0">
              <a:buNone/>
            </a:pPr>
            <a:r>
              <a:rPr lang="en-US" sz="1350" dirty="0">
                <a:solidFill>
                  <a:srgbClr val="1F2933"/>
                </a:solidFill>
                <a:latin typeface="Arial" pitchFamily="34" charset="0"/>
                <a:ea typeface="Arial" pitchFamily="34" charset="-122"/>
                <a:cs typeface="Arial" pitchFamily="34" charset="-120"/>
              </a:rPr>
              <a:t>bars above 0 pushed her risk up, bars below 0 pushed it down.</a:t>
            </a:r>
            <a:endParaRPr lang="en-US" sz="1350" dirty="0"/>
          </a:p>
        </p:txBody>
      </p:sp>
      <p:sp>
        <p:nvSpPr>
          <p:cNvPr id="11" name="Text 8"/>
          <p:cNvSpPr txBox="1"/>
          <p:nvPr/>
        </p:nvSpPr>
        <p:spPr>
          <a:xfrm>
            <a:off x="9244584" y="3337560"/>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2" name="Text 9"/>
          <p:cNvSpPr txBox="1"/>
          <p:nvPr/>
        </p:nvSpPr>
        <p:spPr>
          <a:xfrm>
            <a:off x="9674352" y="3337560"/>
            <a:ext cx="1965960" cy="865632"/>
          </a:xfrm>
          <a:prstGeom prst="rect">
            <a:avLst/>
          </a:prstGeom>
          <a:noFill/>
          <a:ln/>
        </p:spPr>
        <p:txBody>
          <a:bodyPr wrap="square" lIns="0" tIns="0" rIns="0" bIns="0" rtlCol="0" anchor="t"/>
          <a:lstStyle/>
          <a:p>
            <a:pPr indent="0" marL="0">
              <a:buNone/>
            </a:pPr>
            <a:r>
              <a:rPr lang="en-US" sz="1300" b="1" dirty="0">
                <a:solidFill>
                  <a:srgbClr val="0F4C5C"/>
                </a:solidFill>
                <a:latin typeface="Arial" pitchFamily="34" charset="0"/>
                <a:ea typeface="Arial" pitchFamily="34" charset="-122"/>
                <a:cs typeface="Arial" pitchFamily="34" charset="-120"/>
              </a:rPr>
              <a:t>9 diagnoses </a:t>
            </a:r>
            <a:pPr indent="0" marL="0">
              <a:buNone/>
            </a:pPr>
            <a:r>
              <a:rPr lang="en-US" sz="1300" dirty="0">
                <a:solidFill>
                  <a:srgbClr val="1F2933"/>
                </a:solidFill>
                <a:latin typeface="Arial" pitchFamily="34" charset="0"/>
                <a:ea typeface="Arial" pitchFamily="34" charset="-122"/>
                <a:cs typeface="Arial" pitchFamily="34" charset="-120"/>
              </a:rPr>
              <a:t>(number_diagnoses) pushed her risk up the most.</a:t>
            </a:r>
            <a:endParaRPr lang="en-US" sz="1300" dirty="0"/>
          </a:p>
        </p:txBody>
      </p:sp>
      <p:sp>
        <p:nvSpPr>
          <p:cNvPr id="13" name="Text 10"/>
          <p:cNvSpPr txBox="1"/>
          <p:nvPr/>
        </p:nvSpPr>
        <p:spPr>
          <a:xfrm>
            <a:off x="9244584" y="4331208"/>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1"/>
          <p:cNvSpPr txBox="1"/>
          <p:nvPr/>
        </p:nvSpPr>
        <p:spPr>
          <a:xfrm>
            <a:off x="9674352" y="4331208"/>
            <a:ext cx="1965960" cy="1063752"/>
          </a:xfrm>
          <a:prstGeom prst="rect">
            <a:avLst/>
          </a:prstGeom>
          <a:noFill/>
          <a:ln/>
        </p:spPr>
        <p:txBody>
          <a:bodyPr wrap="square" lIns="0" tIns="0" rIns="0" bIns="0" rtlCol="0" anchor="t"/>
          <a:lstStyle/>
          <a:p>
            <a:pPr indent="0" marL="0">
              <a:buNone/>
            </a:pPr>
            <a:r>
              <a:rPr lang="en-US" sz="1300" b="1" dirty="0">
                <a:solidFill>
                  <a:srgbClr val="0F4C5C"/>
                </a:solidFill>
                <a:latin typeface="Arial" pitchFamily="34" charset="0"/>
                <a:ea typeface="Arial" pitchFamily="34" charset="-122"/>
                <a:cs typeface="Arial" pitchFamily="34" charset="-120"/>
              </a:rPr>
              <a:t>No previous stays </a:t>
            </a:r>
            <a:pPr indent="0" marL="0">
              <a:buNone/>
            </a:pPr>
            <a:r>
              <a:rPr lang="en-US" sz="1300" dirty="0">
                <a:solidFill>
                  <a:srgbClr val="1F2933"/>
                </a:solidFill>
                <a:latin typeface="Arial" pitchFamily="34" charset="0"/>
                <a:ea typeface="Arial" pitchFamily="34" charset="-122"/>
                <a:cs typeface="Arial" pitchFamily="34" charset="-120"/>
              </a:rPr>
              <a:t>(number_inpatient) pushed it down even more, so she stayed under the line.</a:t>
            </a:r>
            <a:endParaRPr lang="en-US" sz="1300" dirty="0"/>
          </a:p>
        </p:txBody>
      </p:sp>
      <p:sp>
        <p:nvSpPr>
          <p:cNvPr id="15" name="Text 12"/>
          <p:cNvSpPr txBox="1"/>
          <p:nvPr/>
        </p:nvSpPr>
        <p:spPr>
          <a:xfrm>
            <a:off x="9235440" y="5669280"/>
            <a:ext cx="2404872" cy="548640"/>
          </a:xfrm>
          <a:prstGeom prst="rect">
            <a:avLst/>
          </a:prstGeom>
          <a:noFill/>
          <a:ln/>
        </p:spPr>
        <p:txBody>
          <a:bodyPr wrap="square" lIns="0" tIns="0" rIns="0" bIns="0" rtlCol="0" anchor="t"/>
          <a:lstStyle/>
          <a:p>
            <a:pPr indent="0" marL="0">
              <a:buNone/>
            </a:pPr>
            <a:r>
              <a:rPr lang="en-US" sz="1200" dirty="0">
                <a:solidFill>
                  <a:srgbClr val="56636D"/>
                </a:solidFill>
                <a:latin typeface="Arial" pitchFamily="34" charset="0"/>
                <a:ea typeface="Arial" pitchFamily="34" charset="-122"/>
                <a:cs typeface="Arial" pitchFamily="34" charset="-120"/>
              </a:rPr>
              <a:t>Only these two bars matter here; the rest are small.</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74320"/>
            <a:ext cx="11094415" cy="274320"/>
          </a:xfrm>
          <a:prstGeom prst="rect">
            <a:avLst/>
          </a:prstGeom>
          <a:noFill/>
          <a:ln/>
        </p:spPr>
        <p:txBody>
          <a:bodyPr wrap="square" lIns="0" tIns="0" rIns="0" bIns="0" rtlCol="0" anchor="t"/>
          <a:lstStyle/>
          <a:p>
            <a:pPr indent="0" marL="0">
              <a:buNone/>
            </a:pPr>
            <a:r>
              <a:rPr lang="en-US" sz="1200" b="1" spc="100" kern="0" dirty="0">
                <a:solidFill>
                  <a:srgbClr val="D9480F"/>
                </a:solidFill>
                <a:latin typeface="Arial" pitchFamily="34" charset="0"/>
                <a:ea typeface="Arial" pitchFamily="34" charset="-122"/>
                <a:cs typeface="Arial" pitchFamily="34" charset="-120"/>
              </a:rPr>
              <a:t>SUMMARY</a:t>
            </a:r>
            <a:endParaRPr lang="en-US" sz="1200" dirty="0"/>
          </a:p>
        </p:txBody>
      </p:sp>
      <p:sp>
        <p:nvSpPr>
          <p:cNvPr id="3" name="Text 1"/>
          <p:cNvSpPr txBox="1"/>
          <p:nvPr/>
        </p:nvSpPr>
        <p:spPr>
          <a:xfrm>
            <a:off x="548640" y="548640"/>
            <a:ext cx="11094415" cy="566928"/>
          </a:xfrm>
          <a:prstGeom prst="rect">
            <a:avLst/>
          </a:prstGeom>
          <a:noFill/>
          <a:ln/>
        </p:spPr>
        <p:txBody>
          <a:bodyPr wrap="square" lIns="0" tIns="0" rIns="0" bIns="0" rtlCol="0" anchor="ctr"/>
          <a:lstStyle/>
          <a:p>
            <a:pPr indent="0" marL="0">
              <a:buNone/>
            </a:pPr>
            <a:r>
              <a:rPr lang="en-US" sz="2700" b="1" dirty="0">
                <a:solidFill>
                  <a:srgbClr val="0F4C5C"/>
                </a:solidFill>
                <a:latin typeface="Arial" pitchFamily="34" charset="0"/>
                <a:ea typeface="Arial" pitchFamily="34" charset="-122"/>
                <a:cs typeface="Arial" pitchFamily="34" charset="-120"/>
              </a:rPr>
              <a:t>What we tell the hospital</a:t>
            </a:r>
            <a:endParaRPr lang="en-US" sz="2700" dirty="0"/>
          </a:p>
        </p:txBody>
      </p:sp>
      <p:sp>
        <p:nvSpPr>
          <p:cNvPr id="4" name="Shape 2"/>
          <p:cNvSpPr/>
          <p:nvPr/>
        </p:nvSpPr>
        <p:spPr>
          <a:xfrm>
            <a:off x="548640" y="1325880"/>
            <a:ext cx="3566160" cy="5120640"/>
          </a:xfrm>
          <a:prstGeom prst="roundRect">
            <a:avLst>
              <a:gd name="adj" fmla="val 2051"/>
            </a:avLst>
          </a:prstGeom>
          <a:solidFill>
            <a:srgbClr val="E6F2F1"/>
          </a:solidFill>
          <a:ln w="12700">
            <a:solidFill>
              <a:srgbClr val="E6F2F1"/>
            </a:solidFill>
            <a:prstDash val="solid"/>
          </a:ln>
        </p:spPr>
      </p:sp>
      <p:sp>
        <p:nvSpPr>
          <p:cNvPr id="5" name="Text 3"/>
          <p:cNvSpPr txBox="1"/>
          <p:nvPr/>
        </p:nvSpPr>
        <p:spPr>
          <a:xfrm>
            <a:off x="777240" y="1463040"/>
            <a:ext cx="3108960" cy="502920"/>
          </a:xfrm>
          <a:prstGeom prst="rect">
            <a:avLst/>
          </a:prstGeom>
          <a:noFill/>
          <a:ln/>
        </p:spPr>
        <p:txBody>
          <a:bodyPr wrap="square" lIns="0" tIns="0" rIns="0" bIns="0" rtlCol="0" anchor="t"/>
          <a:lstStyle/>
          <a:p>
            <a:pPr indent="0" marL="0">
              <a:buNone/>
            </a:pPr>
            <a:r>
              <a:rPr lang="en-US" sz="2400" b="1" dirty="0">
                <a:solidFill>
                  <a:srgbClr val="0F4C5C"/>
                </a:solidFill>
                <a:latin typeface="Arial" pitchFamily="34" charset="0"/>
                <a:ea typeface="Arial" pitchFamily="34" charset="-122"/>
                <a:cs typeface="Arial" pitchFamily="34" charset="-120"/>
              </a:rPr>
              <a:t>DO</a:t>
            </a:r>
            <a:endParaRPr lang="en-US" sz="2400" dirty="0"/>
          </a:p>
        </p:txBody>
      </p:sp>
      <p:sp>
        <p:nvSpPr>
          <p:cNvPr id="6" name="Text 4"/>
          <p:cNvSpPr txBox="1"/>
          <p:nvPr/>
        </p:nvSpPr>
        <p:spPr>
          <a:xfrm>
            <a:off x="777240" y="2176272"/>
            <a:ext cx="310896" cy="310896"/>
          </a:xfrm>
          <a:prstGeom prst="ellipse">
            <a:avLst/>
          </a:prstGeom>
          <a:solidFill>
            <a:srgbClr val="0F4C5C"/>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txBox="1"/>
          <p:nvPr/>
        </p:nvSpPr>
        <p:spPr>
          <a:xfrm>
            <a:off x="1234440" y="2157984"/>
            <a:ext cx="2697480" cy="987552"/>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Use the list to decide who to call first, within ~200 calls per 1,000.</a:t>
            </a:r>
            <a:endParaRPr lang="en-US" sz="1400" dirty="0"/>
          </a:p>
        </p:txBody>
      </p:sp>
      <p:sp>
        <p:nvSpPr>
          <p:cNvPr id="8" name="Text 6"/>
          <p:cNvSpPr txBox="1"/>
          <p:nvPr/>
        </p:nvSpPr>
        <p:spPr>
          <a:xfrm>
            <a:off x="777240" y="3227832"/>
            <a:ext cx="310896" cy="310896"/>
          </a:xfrm>
          <a:prstGeom prst="ellipse">
            <a:avLst/>
          </a:prstGeom>
          <a:solidFill>
            <a:srgbClr val="0F4C5C"/>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9" name="Text 7"/>
          <p:cNvSpPr txBox="1"/>
          <p:nvPr/>
        </p:nvSpPr>
        <p:spPr>
          <a:xfrm>
            <a:off x="1234440" y="3209544"/>
            <a:ext cx="2697480" cy="987552"/>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Have a nurse review patients with 2+ previous stays and over-80s before calls go out.</a:t>
            </a:r>
            <a:endParaRPr lang="en-US" sz="1400" dirty="0"/>
          </a:p>
        </p:txBody>
      </p:sp>
      <p:sp>
        <p:nvSpPr>
          <p:cNvPr id="10" name="Text 8"/>
          <p:cNvSpPr txBox="1"/>
          <p:nvPr/>
        </p:nvSpPr>
        <p:spPr>
          <a:xfrm>
            <a:off x="777240" y="4279392"/>
            <a:ext cx="310896" cy="310896"/>
          </a:xfrm>
          <a:prstGeom prst="ellipse">
            <a:avLst/>
          </a:prstGeom>
          <a:solidFill>
            <a:srgbClr val="0F4C5C"/>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1" name="Text 9"/>
          <p:cNvSpPr txBox="1"/>
          <p:nvPr/>
        </p:nvSpPr>
        <p:spPr>
          <a:xfrm>
            <a:off x="1234440" y="4261104"/>
            <a:ext cx="2697480" cy="987552"/>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Keep normal discharge care for everyone: first-timers are the score's blind spot.</a:t>
            </a:r>
            <a:endParaRPr lang="en-US" sz="1400" dirty="0"/>
          </a:p>
        </p:txBody>
      </p:sp>
      <p:sp>
        <p:nvSpPr>
          <p:cNvPr id="12" name="Text 10"/>
          <p:cNvSpPr txBox="1"/>
          <p:nvPr/>
        </p:nvSpPr>
        <p:spPr>
          <a:xfrm>
            <a:off x="777240" y="5330952"/>
            <a:ext cx="310896" cy="310896"/>
          </a:xfrm>
          <a:prstGeom prst="ellipse">
            <a:avLst/>
          </a:prstGeom>
          <a:solidFill>
            <a:srgbClr val="0F4C5C"/>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3" name="Text 11"/>
          <p:cNvSpPr txBox="1"/>
          <p:nvPr/>
        </p:nvSpPr>
        <p:spPr>
          <a:xfrm>
            <a:off x="1234440" y="5312664"/>
            <a:ext cx="2697480" cy="987552"/>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Check every month: ~200 per 1,000 on the list, and at least 15% of those called come back (1 in 5 today).</a:t>
            </a:r>
            <a:endParaRPr lang="en-US" sz="1400" dirty="0"/>
          </a:p>
        </p:txBody>
      </p:sp>
      <p:sp>
        <p:nvSpPr>
          <p:cNvPr id="14" name="Shape 12"/>
          <p:cNvSpPr/>
          <p:nvPr/>
        </p:nvSpPr>
        <p:spPr>
          <a:xfrm>
            <a:off x="4297680" y="1325880"/>
            <a:ext cx="3566160" cy="5120640"/>
          </a:xfrm>
          <a:prstGeom prst="roundRect">
            <a:avLst>
              <a:gd name="adj" fmla="val 2051"/>
            </a:avLst>
          </a:prstGeom>
          <a:solidFill>
            <a:srgbClr val="FDEEE6"/>
          </a:solidFill>
          <a:ln w="12700">
            <a:solidFill>
              <a:srgbClr val="FDEEE6"/>
            </a:solidFill>
            <a:prstDash val="solid"/>
          </a:ln>
        </p:spPr>
      </p:sp>
      <p:sp>
        <p:nvSpPr>
          <p:cNvPr id="15" name="Text 13"/>
          <p:cNvSpPr txBox="1"/>
          <p:nvPr/>
        </p:nvSpPr>
        <p:spPr>
          <a:xfrm>
            <a:off x="4526280" y="1463040"/>
            <a:ext cx="3108960" cy="502920"/>
          </a:xfrm>
          <a:prstGeom prst="rect">
            <a:avLst/>
          </a:prstGeom>
          <a:noFill/>
          <a:ln/>
        </p:spPr>
        <p:txBody>
          <a:bodyPr wrap="square" lIns="0" tIns="0" rIns="0" bIns="0" rtlCol="0" anchor="t"/>
          <a:lstStyle/>
          <a:p>
            <a:pPr indent="0" marL="0">
              <a:buNone/>
            </a:pPr>
            <a:r>
              <a:rPr lang="en-US" sz="2400" b="1" dirty="0">
                <a:solidFill>
                  <a:srgbClr val="D9480F"/>
                </a:solidFill>
                <a:latin typeface="Arial" pitchFamily="34" charset="0"/>
                <a:ea typeface="Arial" pitchFamily="34" charset="-122"/>
                <a:cs typeface="Arial" pitchFamily="34" charset="-120"/>
              </a:rPr>
              <a:t>DON'T</a:t>
            </a:r>
            <a:endParaRPr lang="en-US" sz="2400" dirty="0"/>
          </a:p>
        </p:txBody>
      </p:sp>
      <p:sp>
        <p:nvSpPr>
          <p:cNvPr id="16" name="Text 14"/>
          <p:cNvSpPr txBox="1"/>
          <p:nvPr/>
        </p:nvSpPr>
        <p:spPr>
          <a:xfrm>
            <a:off x="4526280" y="2176272"/>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7" name="Text 15"/>
          <p:cNvSpPr txBox="1"/>
          <p:nvPr/>
        </p:nvSpPr>
        <p:spPr>
          <a:xfrm>
            <a:off x="4983480" y="2157984"/>
            <a:ext cx="2697480" cy="987552"/>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Change tests or medicines to move a score.</a:t>
            </a:r>
            <a:endParaRPr lang="en-US" sz="1400" dirty="0"/>
          </a:p>
        </p:txBody>
      </p:sp>
      <p:sp>
        <p:nvSpPr>
          <p:cNvPr id="18" name="Text 16"/>
          <p:cNvSpPr txBox="1"/>
          <p:nvPr/>
        </p:nvSpPr>
        <p:spPr>
          <a:xfrm>
            <a:off x="4526280" y="3227832"/>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9" name="Text 17"/>
          <p:cNvSpPr txBox="1"/>
          <p:nvPr/>
        </p:nvSpPr>
        <p:spPr>
          <a:xfrm>
            <a:off x="4983480" y="3209544"/>
            <a:ext cx="2697480" cy="987552"/>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Read "not on the list" as "safe".</a:t>
            </a:r>
            <a:endParaRPr lang="en-US" sz="1400" dirty="0"/>
          </a:p>
        </p:txBody>
      </p:sp>
      <p:sp>
        <p:nvSpPr>
          <p:cNvPr id="20" name="Text 18"/>
          <p:cNvSpPr txBox="1"/>
          <p:nvPr/>
        </p:nvSpPr>
        <p:spPr>
          <a:xfrm>
            <a:off x="4526280" y="4279392"/>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1" name="Text 19"/>
          <p:cNvSpPr txBox="1"/>
          <p:nvPr/>
        </p:nvSpPr>
        <p:spPr>
          <a:xfrm>
            <a:off x="4983480" y="4261104"/>
            <a:ext cx="2697480" cy="987552"/>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Make special cut-offs per age group without an ethics review.</a:t>
            </a:r>
            <a:endParaRPr lang="en-US" sz="1400" dirty="0"/>
          </a:p>
        </p:txBody>
      </p:sp>
      <p:sp>
        <p:nvSpPr>
          <p:cNvPr id="22" name="Text 20"/>
          <p:cNvSpPr txBox="1"/>
          <p:nvPr/>
        </p:nvSpPr>
        <p:spPr>
          <a:xfrm>
            <a:off x="4526280" y="5330952"/>
            <a:ext cx="310896" cy="310896"/>
          </a:xfrm>
          <a:prstGeom prst="ellipse">
            <a:avLst/>
          </a:prstGeom>
          <a:solidFill>
            <a:srgbClr val="D9480F"/>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3" name="Text 21"/>
          <p:cNvSpPr txBox="1"/>
          <p:nvPr/>
        </p:nvSpPr>
        <p:spPr>
          <a:xfrm>
            <a:off x="4983480" y="5312664"/>
            <a:ext cx="2697480" cy="987552"/>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Follow the dashboard's "recommended treatment" at face value.</a:t>
            </a:r>
            <a:endParaRPr lang="en-US" sz="1400" dirty="0"/>
          </a:p>
        </p:txBody>
      </p:sp>
      <p:sp>
        <p:nvSpPr>
          <p:cNvPr id="24" name="Shape 22"/>
          <p:cNvSpPr/>
          <p:nvPr/>
        </p:nvSpPr>
        <p:spPr>
          <a:xfrm>
            <a:off x="8046720" y="1325880"/>
            <a:ext cx="3566160" cy="5120640"/>
          </a:xfrm>
          <a:prstGeom prst="roundRect">
            <a:avLst>
              <a:gd name="adj" fmla="val 2051"/>
            </a:avLst>
          </a:prstGeom>
          <a:solidFill>
            <a:srgbClr val="F4F6F8"/>
          </a:solidFill>
          <a:ln w="12700">
            <a:solidFill>
              <a:srgbClr val="F4F6F8"/>
            </a:solidFill>
            <a:prstDash val="solid"/>
          </a:ln>
        </p:spPr>
      </p:sp>
      <p:sp>
        <p:nvSpPr>
          <p:cNvPr id="25" name="Text 23"/>
          <p:cNvSpPr txBox="1"/>
          <p:nvPr/>
        </p:nvSpPr>
        <p:spPr>
          <a:xfrm>
            <a:off x="8275320" y="1463040"/>
            <a:ext cx="3108960" cy="502920"/>
          </a:xfrm>
          <a:prstGeom prst="rect">
            <a:avLst/>
          </a:prstGeom>
          <a:noFill/>
          <a:ln/>
        </p:spPr>
        <p:txBody>
          <a:bodyPr wrap="square" lIns="0" tIns="0" rIns="0" bIns="0" rtlCol="0" anchor="t"/>
          <a:lstStyle/>
          <a:p>
            <a:pPr indent="0" marL="0">
              <a:buNone/>
            </a:pPr>
            <a:r>
              <a:rPr lang="en-US" sz="2400" b="1" dirty="0">
                <a:solidFill>
                  <a:srgbClr val="1F2933"/>
                </a:solidFill>
                <a:latin typeface="Arial" pitchFamily="34" charset="0"/>
                <a:ea typeface="Arial" pitchFamily="34" charset="-122"/>
                <a:cs typeface="Arial" pitchFamily="34" charset="-120"/>
              </a:rPr>
              <a:t>NEXT</a:t>
            </a:r>
            <a:endParaRPr lang="en-US" sz="2400" dirty="0"/>
          </a:p>
        </p:txBody>
      </p:sp>
      <p:sp>
        <p:nvSpPr>
          <p:cNvPr id="26" name="Text 24"/>
          <p:cNvSpPr txBox="1"/>
          <p:nvPr/>
        </p:nvSpPr>
        <p:spPr>
          <a:xfrm>
            <a:off x="8275320" y="2176272"/>
            <a:ext cx="310896" cy="310896"/>
          </a:xfrm>
          <a:prstGeom prst="ellipse">
            <a:avLst/>
          </a:prstGeom>
          <a:solidFill>
            <a:srgbClr val="1F2933"/>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27" name="Text 25"/>
          <p:cNvSpPr txBox="1"/>
          <p:nvPr/>
        </p:nvSpPr>
        <p:spPr>
          <a:xfrm>
            <a:off x="8732520" y="2157984"/>
            <a:ext cx="2697480" cy="987552"/>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Add the reason for admission to the score.</a:t>
            </a:r>
            <a:endParaRPr lang="en-US" sz="1400" dirty="0"/>
          </a:p>
        </p:txBody>
      </p:sp>
      <p:sp>
        <p:nvSpPr>
          <p:cNvPr id="28" name="Text 26"/>
          <p:cNvSpPr txBox="1"/>
          <p:nvPr/>
        </p:nvSpPr>
        <p:spPr>
          <a:xfrm>
            <a:off x="8275320" y="3227832"/>
            <a:ext cx="310896" cy="310896"/>
          </a:xfrm>
          <a:prstGeom prst="ellipse">
            <a:avLst/>
          </a:prstGeom>
          <a:solidFill>
            <a:srgbClr val="1F2933"/>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9" name="Text 27"/>
          <p:cNvSpPr txBox="1"/>
          <p:nvPr/>
        </p:nvSpPr>
        <p:spPr>
          <a:xfrm>
            <a:off x="8732520" y="3209544"/>
            <a:ext cx="2697480" cy="987552"/>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Test the score on this year's patients.</a:t>
            </a:r>
            <a:endParaRPr lang="en-US" sz="1400" dirty="0"/>
          </a:p>
        </p:txBody>
      </p:sp>
      <p:sp>
        <p:nvSpPr>
          <p:cNvPr id="30" name="Text 28"/>
          <p:cNvSpPr txBox="1"/>
          <p:nvPr/>
        </p:nvSpPr>
        <p:spPr>
          <a:xfrm>
            <a:off x="8275320" y="4279392"/>
            <a:ext cx="310896" cy="310896"/>
          </a:xfrm>
          <a:prstGeom prst="ellipse">
            <a:avLst/>
          </a:prstGeom>
          <a:solidFill>
            <a:srgbClr val="1F2933"/>
          </a:solidFill>
          <a:ln w="19050">
            <a:solidFill>
              <a:srgbClr val="FFFFFF"/>
            </a:solid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1" name="Text 29"/>
          <p:cNvSpPr txBox="1"/>
          <p:nvPr/>
        </p:nvSpPr>
        <p:spPr>
          <a:xfrm>
            <a:off x="8732520" y="4261104"/>
            <a:ext cx="2697480" cy="987552"/>
          </a:xfrm>
          <a:prstGeom prst="rect">
            <a:avLst/>
          </a:prstGeom>
          <a:noFill/>
          <a:ln/>
        </p:spPr>
        <p:txBody>
          <a:bodyPr wrap="square" lIns="0" tIns="0" rIns="0" bIns="0" rtlCol="0" anchor="t"/>
          <a:lstStyle/>
          <a:p>
            <a:pPr indent="0" marL="0">
              <a:buNone/>
            </a:pPr>
            <a:r>
              <a:rPr lang="en-US" sz="1400" dirty="0">
                <a:solidFill>
                  <a:srgbClr val="1F2933"/>
                </a:solidFill>
                <a:latin typeface="Arial" pitchFamily="34" charset="0"/>
                <a:ea typeface="Arial" pitchFamily="34" charset="-122"/>
                <a:cs typeface="Arial" pitchFamily="34" charset="-120"/>
              </a:rPr>
              <a:t>Run a proper trial: do the calls actually prevent readmissions? Nothing we did shows that yet.</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5C"/>
        </a:solidFill>
      </p:bgPr>
    </p:bg>
    <p:spTree>
      <p:nvGrpSpPr>
        <p:cNvPr id="1" name=""/>
        <p:cNvGrpSpPr/>
        <p:nvPr/>
      </p:nvGrpSpPr>
      <p:grpSpPr>
        <a:xfrm>
          <a:off x="0" y="0"/>
          <a:ext cx="0" cy="0"/>
          <a:chOff x="0" y="0"/>
          <a:chExt cx="0" cy="0"/>
        </a:xfrm>
      </p:grpSpPr>
      <p:sp>
        <p:nvSpPr>
          <p:cNvPr id="2" name="Text 0"/>
          <p:cNvSpPr txBox="1"/>
          <p:nvPr/>
        </p:nvSpPr>
        <p:spPr>
          <a:xfrm>
            <a:off x="822960" y="1554480"/>
            <a:ext cx="10515600" cy="11887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The score is a good memory of who has been here before.</a:t>
            </a:r>
            <a:endParaRPr lang="en-US" sz="3600" dirty="0"/>
          </a:p>
        </p:txBody>
      </p:sp>
      <p:sp>
        <p:nvSpPr>
          <p:cNvPr id="3" name="Text 1"/>
          <p:cNvSpPr txBox="1"/>
          <p:nvPr/>
        </p:nvSpPr>
        <p:spPr>
          <a:xfrm>
            <a:off x="822960" y="2743200"/>
            <a:ext cx="10515600" cy="822960"/>
          </a:xfrm>
          <a:prstGeom prst="rect">
            <a:avLst/>
          </a:prstGeom>
          <a:noFill/>
          <a:ln/>
        </p:spPr>
        <p:txBody>
          <a:bodyPr wrap="square" lIns="0" tIns="0" rIns="0" bIns="0" rtlCol="0" anchor="ctr"/>
          <a:lstStyle/>
          <a:p>
            <a:pPr indent="0" marL="0">
              <a:buNone/>
            </a:pPr>
            <a:r>
              <a:rPr lang="en-US" sz="3600" b="1" dirty="0">
                <a:solidFill>
                  <a:srgbClr val="BFE3DF"/>
                </a:solidFill>
                <a:latin typeface="Arial" pitchFamily="34" charset="0"/>
                <a:ea typeface="Arial" pitchFamily="34" charset="-122"/>
                <a:cs typeface="Arial" pitchFamily="34" charset="-120"/>
              </a:rPr>
              <a:t>It is not a crystal ball.</a:t>
            </a:r>
            <a:endParaRPr lang="en-US" sz="3600" dirty="0"/>
          </a:p>
        </p:txBody>
      </p:sp>
      <p:sp>
        <p:nvSpPr>
          <p:cNvPr id="4" name="Text 2"/>
          <p:cNvSpPr txBox="1"/>
          <p:nvPr/>
        </p:nvSpPr>
        <p:spPr>
          <a:xfrm>
            <a:off x="822960" y="3931920"/>
            <a:ext cx="10515600" cy="640080"/>
          </a:xfrm>
          <a:prstGeom prst="rect">
            <a:avLst/>
          </a:prstGeom>
          <a:noFill/>
          <a:ln/>
        </p:spPr>
        <p:txBody>
          <a:bodyPr wrap="square" lIns="0" tIns="0" rIns="0" bIns="0" rtlCol="0" anchor="t"/>
          <a:lstStyle/>
          <a:p>
            <a:pPr indent="0" marL="0">
              <a:buNone/>
            </a:pPr>
            <a:r>
              <a:rPr lang="en-US" sz="2100" dirty="0">
                <a:solidFill>
                  <a:srgbClr val="E6F2F1"/>
                </a:solidFill>
                <a:latin typeface="Arial" pitchFamily="34" charset="0"/>
                <a:ea typeface="Arial" pitchFamily="34" charset="-122"/>
                <a:cs typeface="Arial" pitchFamily="34" charset="-120"/>
              </a:rPr>
              <a:t>Use it to put the calls in order. Keep people in charge of the decisions.</a:t>
            </a:r>
            <a:endParaRPr lang="en-US" sz="2100" dirty="0"/>
          </a:p>
        </p:txBody>
      </p:sp>
      <p:sp>
        <p:nvSpPr>
          <p:cNvPr id="5" name="Text 3"/>
          <p:cNvSpPr txBox="1"/>
          <p:nvPr/>
        </p:nvSpPr>
        <p:spPr>
          <a:xfrm>
            <a:off x="822960" y="5577840"/>
            <a:ext cx="10515600" cy="54864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Thank you. Questions?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 should the nurse call after discharge?</dc:title>
  <dc:subject>PptxGenJS Presentation</dc:subject>
  <dc:creator>PptxGenJS</dc:creator>
  <cp:lastModifiedBy>PptxGenJS</cp:lastModifiedBy>
  <cp:revision>1</cp:revision>
  <dcterms:created xsi:type="dcterms:W3CDTF">2026-09-24T15:28:24Z</dcterms:created>
  <dcterms:modified xsi:type="dcterms:W3CDTF">2026-09-24T15:28:24Z</dcterms:modified>
</cp:coreProperties>
</file>